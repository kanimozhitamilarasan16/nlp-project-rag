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257" r:id="rId3"/>
    <p:sldId id="261" r:id="rId4"/>
    <p:sldId id="262" r:id="rId5"/>
    <p:sldId id="263" r:id="rId6"/>
    <p:sldId id="259" r:id="rId7"/>
    <p:sldId id="264" r:id="rId8"/>
    <p:sldId id="265" r:id="rId9"/>
    <p:sldId id="260"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3" r:id="rId26"/>
    <p:sldId id="281" r:id="rId27"/>
    <p:sldId id="282" r:id="rId28"/>
    <p:sldId id="284" r:id="rId29"/>
    <p:sldId id="285" r:id="rId30"/>
    <p:sldId id="286" r:id="rId31"/>
    <p:sldId id="287" r:id="rId32"/>
    <p:sldId id="288" r:id="rId33"/>
    <p:sldId id="289" r:id="rId34"/>
    <p:sldId id="290" r:id="rId35"/>
    <p:sldId id="291" r:id="rId36"/>
    <p:sldId id="292" r:id="rId37"/>
    <p:sldId id="294" r:id="rId38"/>
    <p:sldId id="293" r:id="rId39"/>
    <p:sldId id="295" r:id="rId40"/>
    <p:sldId id="296" r:id="rId41"/>
    <p:sldId id="297" r:id="rId42"/>
    <p:sldId id="298" r:id="rId43"/>
    <p:sldId id="299" r:id="rId44"/>
    <p:sldId id="300" r:id="rId45"/>
    <p:sldId id="302" r:id="rId46"/>
    <p:sldId id="303" r:id="rId47"/>
    <p:sldId id="305" r:id="rId48"/>
    <p:sldId id="304" r:id="rId49"/>
    <p:sldId id="307" r:id="rId50"/>
    <p:sldId id="301" r:id="rId51"/>
    <p:sldId id="308" r:id="rId52"/>
    <p:sldId id="309" r:id="rId53"/>
    <p:sldId id="310" r:id="rId54"/>
    <p:sldId id="311" r:id="rId55"/>
    <p:sldId id="312" r:id="rId56"/>
    <p:sldId id="330" r:id="rId57"/>
    <p:sldId id="331" r:id="rId58"/>
    <p:sldId id="313" r:id="rId59"/>
    <p:sldId id="316" r:id="rId60"/>
    <p:sldId id="315" r:id="rId61"/>
    <p:sldId id="314" r:id="rId62"/>
    <p:sldId id="329"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073665-C998-415D-8660-429936749F3A}" v="40" dt="2024-12-18T11:57:30.4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C752AA-9596-4E3B-984B-E752C3A11A68}" type="datetimeFigureOut">
              <a:rPr lang="en-US" smtClean="0"/>
              <a:t>2/24/2025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D57305-56B7-42CB-B3D2-171382D89164}" type="slidenum">
              <a:rPr lang="en-US" smtClean="0"/>
              <a:t>‹#›</a:t>
            </a:fld>
            <a:endParaRPr lang="en-US"/>
          </a:p>
        </p:txBody>
      </p:sp>
    </p:spTree>
    <p:extLst>
      <p:ext uri="{BB962C8B-B14F-4D97-AF65-F5344CB8AC3E}">
        <p14:creationId xmlns:p14="http://schemas.microsoft.com/office/powerpoint/2010/main" val="3225893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D57305-56B7-42CB-B3D2-171382D89164}" type="slidenum">
              <a:rPr lang="en-US" smtClean="0"/>
              <a:t>26</a:t>
            </a:fld>
            <a:endParaRPr lang="en-US"/>
          </a:p>
        </p:txBody>
      </p:sp>
    </p:spTree>
    <p:extLst>
      <p:ext uri="{BB962C8B-B14F-4D97-AF65-F5344CB8AC3E}">
        <p14:creationId xmlns:p14="http://schemas.microsoft.com/office/powerpoint/2010/main" val="1885357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D57305-56B7-42CB-B3D2-171382D89164}" type="slidenum">
              <a:rPr lang="en-US" smtClean="0"/>
              <a:t>31</a:t>
            </a:fld>
            <a:endParaRPr lang="en-US"/>
          </a:p>
        </p:txBody>
      </p:sp>
    </p:spTree>
    <p:extLst>
      <p:ext uri="{BB962C8B-B14F-4D97-AF65-F5344CB8AC3E}">
        <p14:creationId xmlns:p14="http://schemas.microsoft.com/office/powerpoint/2010/main" val="643547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F6FA8-A7FE-50F0-DCE4-844C94B891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38DA0D-9E16-7A17-6B72-061B6F79D9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028425-C247-BBCA-8E97-F242B2D4136E}"/>
              </a:ext>
            </a:extLst>
          </p:cNvPr>
          <p:cNvSpPr>
            <a:spLocks noGrp="1"/>
          </p:cNvSpPr>
          <p:nvPr>
            <p:ph type="dt" sz="half" idx="10"/>
          </p:nvPr>
        </p:nvSpPr>
        <p:spPr/>
        <p:txBody>
          <a:bodyPr/>
          <a:lstStyle/>
          <a:p>
            <a:fld id="{E8C448F8-BA6C-42B3-A220-447C1A05554C}" type="datetimeFigureOut">
              <a:rPr lang="en-US" smtClean="0"/>
              <a:t>2/24/2025</a:t>
            </a:fld>
            <a:endParaRPr lang="en-US"/>
          </a:p>
        </p:txBody>
      </p:sp>
      <p:sp>
        <p:nvSpPr>
          <p:cNvPr id="5" name="Footer Placeholder 4">
            <a:extLst>
              <a:ext uri="{FF2B5EF4-FFF2-40B4-BE49-F238E27FC236}">
                <a16:creationId xmlns:a16="http://schemas.microsoft.com/office/drawing/2014/main" id="{28B92C61-B2E5-C646-B371-2432CD1C86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E4DAB-E860-0834-54A0-49E0679A4E24}"/>
              </a:ext>
            </a:extLst>
          </p:cNvPr>
          <p:cNvSpPr>
            <a:spLocks noGrp="1"/>
          </p:cNvSpPr>
          <p:nvPr>
            <p:ph type="sldNum" sz="quarter" idx="12"/>
          </p:nvPr>
        </p:nvSpPr>
        <p:spPr/>
        <p:txBody>
          <a:bodyPr/>
          <a:lstStyle/>
          <a:p>
            <a:fld id="{44253474-D29F-4167-8C45-75F74F2E9003}" type="slidenum">
              <a:rPr lang="en-US" smtClean="0"/>
              <a:t>‹#›</a:t>
            </a:fld>
            <a:endParaRPr lang="en-US"/>
          </a:p>
        </p:txBody>
      </p:sp>
    </p:spTree>
    <p:extLst>
      <p:ext uri="{BB962C8B-B14F-4D97-AF65-F5344CB8AC3E}">
        <p14:creationId xmlns:p14="http://schemas.microsoft.com/office/powerpoint/2010/main" val="1852079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5164-B921-8AC5-0E89-0C1E45B0CE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2761F0-1E95-351E-DACA-BC0AEE3F97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BDDB9D-F4EE-3E14-D151-812435331614}"/>
              </a:ext>
            </a:extLst>
          </p:cNvPr>
          <p:cNvSpPr>
            <a:spLocks noGrp="1"/>
          </p:cNvSpPr>
          <p:nvPr>
            <p:ph type="dt" sz="half" idx="10"/>
          </p:nvPr>
        </p:nvSpPr>
        <p:spPr/>
        <p:txBody>
          <a:bodyPr/>
          <a:lstStyle/>
          <a:p>
            <a:fld id="{E8C448F8-BA6C-42B3-A220-447C1A05554C}" type="datetimeFigureOut">
              <a:rPr lang="en-US" smtClean="0"/>
              <a:t>2/24/2025</a:t>
            </a:fld>
            <a:endParaRPr lang="en-US"/>
          </a:p>
        </p:txBody>
      </p:sp>
      <p:sp>
        <p:nvSpPr>
          <p:cNvPr id="5" name="Footer Placeholder 4">
            <a:extLst>
              <a:ext uri="{FF2B5EF4-FFF2-40B4-BE49-F238E27FC236}">
                <a16:creationId xmlns:a16="http://schemas.microsoft.com/office/drawing/2014/main" id="{4261092F-7413-197B-ACA3-D28D007AB7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2CA50E-D343-73E9-8B07-7FA12A32E7A9}"/>
              </a:ext>
            </a:extLst>
          </p:cNvPr>
          <p:cNvSpPr>
            <a:spLocks noGrp="1"/>
          </p:cNvSpPr>
          <p:nvPr>
            <p:ph type="sldNum" sz="quarter" idx="12"/>
          </p:nvPr>
        </p:nvSpPr>
        <p:spPr/>
        <p:txBody>
          <a:bodyPr/>
          <a:lstStyle/>
          <a:p>
            <a:fld id="{44253474-D29F-4167-8C45-75F74F2E9003}" type="slidenum">
              <a:rPr lang="en-US" smtClean="0"/>
              <a:t>‹#›</a:t>
            </a:fld>
            <a:endParaRPr lang="en-US"/>
          </a:p>
        </p:txBody>
      </p:sp>
    </p:spTree>
    <p:extLst>
      <p:ext uri="{BB962C8B-B14F-4D97-AF65-F5344CB8AC3E}">
        <p14:creationId xmlns:p14="http://schemas.microsoft.com/office/powerpoint/2010/main" val="1764686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40A78-E01D-9A40-E173-C8525F0AE4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3A4C60-D298-E162-13C0-222663E076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51728B-5434-4929-30C9-029C7268B7A7}"/>
              </a:ext>
            </a:extLst>
          </p:cNvPr>
          <p:cNvSpPr>
            <a:spLocks noGrp="1"/>
          </p:cNvSpPr>
          <p:nvPr>
            <p:ph type="dt" sz="half" idx="10"/>
          </p:nvPr>
        </p:nvSpPr>
        <p:spPr/>
        <p:txBody>
          <a:bodyPr/>
          <a:lstStyle/>
          <a:p>
            <a:fld id="{E8C448F8-BA6C-42B3-A220-447C1A05554C}" type="datetimeFigureOut">
              <a:rPr lang="en-US" smtClean="0"/>
              <a:t>2/24/2025</a:t>
            </a:fld>
            <a:endParaRPr lang="en-US"/>
          </a:p>
        </p:txBody>
      </p:sp>
      <p:sp>
        <p:nvSpPr>
          <p:cNvPr id="5" name="Footer Placeholder 4">
            <a:extLst>
              <a:ext uri="{FF2B5EF4-FFF2-40B4-BE49-F238E27FC236}">
                <a16:creationId xmlns:a16="http://schemas.microsoft.com/office/drawing/2014/main" id="{A21B6AB5-6409-EB31-C3EB-B892F32DB8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BF6967-A9A2-22F3-8A3C-7AC41016E4B4}"/>
              </a:ext>
            </a:extLst>
          </p:cNvPr>
          <p:cNvSpPr>
            <a:spLocks noGrp="1"/>
          </p:cNvSpPr>
          <p:nvPr>
            <p:ph type="sldNum" sz="quarter" idx="12"/>
          </p:nvPr>
        </p:nvSpPr>
        <p:spPr/>
        <p:txBody>
          <a:bodyPr/>
          <a:lstStyle/>
          <a:p>
            <a:fld id="{44253474-D29F-4167-8C45-75F74F2E9003}" type="slidenum">
              <a:rPr lang="en-US" smtClean="0"/>
              <a:t>‹#›</a:t>
            </a:fld>
            <a:endParaRPr lang="en-US"/>
          </a:p>
        </p:txBody>
      </p:sp>
    </p:spTree>
    <p:extLst>
      <p:ext uri="{BB962C8B-B14F-4D97-AF65-F5344CB8AC3E}">
        <p14:creationId xmlns:p14="http://schemas.microsoft.com/office/powerpoint/2010/main" val="798856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DA72E-3BA4-9AE3-7D5E-1DFDD20242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C97A5-347F-C062-7132-F499E0359D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6DD201-8390-A5CA-3528-E6D79772D3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24FFA1-F06E-6B5D-DF73-4A4168B3F8AC}"/>
              </a:ext>
            </a:extLst>
          </p:cNvPr>
          <p:cNvSpPr>
            <a:spLocks noGrp="1"/>
          </p:cNvSpPr>
          <p:nvPr>
            <p:ph type="dt" sz="half" idx="10"/>
          </p:nvPr>
        </p:nvSpPr>
        <p:spPr/>
        <p:txBody>
          <a:bodyPr/>
          <a:lstStyle/>
          <a:p>
            <a:fld id="{E8C448F8-BA6C-42B3-A220-447C1A05554C}" type="datetimeFigureOut">
              <a:rPr lang="en-US" smtClean="0"/>
              <a:t>2/24/2025</a:t>
            </a:fld>
            <a:endParaRPr lang="en-US"/>
          </a:p>
        </p:txBody>
      </p:sp>
      <p:sp>
        <p:nvSpPr>
          <p:cNvPr id="6" name="Footer Placeholder 5">
            <a:extLst>
              <a:ext uri="{FF2B5EF4-FFF2-40B4-BE49-F238E27FC236}">
                <a16:creationId xmlns:a16="http://schemas.microsoft.com/office/drawing/2014/main" id="{2D517235-8697-EB5F-069A-22FD0E1545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BAB4D4-237C-2F7B-4624-2C0BD40E527F}"/>
              </a:ext>
            </a:extLst>
          </p:cNvPr>
          <p:cNvSpPr>
            <a:spLocks noGrp="1"/>
          </p:cNvSpPr>
          <p:nvPr>
            <p:ph type="sldNum" sz="quarter" idx="12"/>
          </p:nvPr>
        </p:nvSpPr>
        <p:spPr/>
        <p:txBody>
          <a:bodyPr/>
          <a:lstStyle/>
          <a:p>
            <a:fld id="{44253474-D29F-4167-8C45-75F74F2E9003}" type="slidenum">
              <a:rPr lang="en-US" smtClean="0"/>
              <a:t>‹#›</a:t>
            </a:fld>
            <a:endParaRPr lang="en-US"/>
          </a:p>
        </p:txBody>
      </p:sp>
    </p:spTree>
    <p:extLst>
      <p:ext uri="{BB962C8B-B14F-4D97-AF65-F5344CB8AC3E}">
        <p14:creationId xmlns:p14="http://schemas.microsoft.com/office/powerpoint/2010/main" val="3815786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7C029-2BEE-FEA0-E62A-4A223686EC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63B260-8097-BB61-48BF-03E2862864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60583D-5B8A-DB02-6501-BF8F206A50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C5BFB4-4D49-6847-36AE-41FE2E0609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FE09A4-A6E2-F563-B757-21B2CDA5CB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DC927B-9DFC-379F-96ED-81478F2A834D}"/>
              </a:ext>
            </a:extLst>
          </p:cNvPr>
          <p:cNvSpPr>
            <a:spLocks noGrp="1"/>
          </p:cNvSpPr>
          <p:nvPr>
            <p:ph type="dt" sz="half" idx="10"/>
          </p:nvPr>
        </p:nvSpPr>
        <p:spPr/>
        <p:txBody>
          <a:bodyPr/>
          <a:lstStyle/>
          <a:p>
            <a:fld id="{E8C448F8-BA6C-42B3-A220-447C1A05554C}" type="datetimeFigureOut">
              <a:rPr lang="en-US" smtClean="0"/>
              <a:t>2/24/2025</a:t>
            </a:fld>
            <a:endParaRPr lang="en-US"/>
          </a:p>
        </p:txBody>
      </p:sp>
      <p:sp>
        <p:nvSpPr>
          <p:cNvPr id="8" name="Footer Placeholder 7">
            <a:extLst>
              <a:ext uri="{FF2B5EF4-FFF2-40B4-BE49-F238E27FC236}">
                <a16:creationId xmlns:a16="http://schemas.microsoft.com/office/drawing/2014/main" id="{82960743-FA1A-C507-5B43-3E553B6955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ACA3C-2EC5-5634-A282-E856E392E970}"/>
              </a:ext>
            </a:extLst>
          </p:cNvPr>
          <p:cNvSpPr>
            <a:spLocks noGrp="1"/>
          </p:cNvSpPr>
          <p:nvPr>
            <p:ph type="sldNum" sz="quarter" idx="12"/>
          </p:nvPr>
        </p:nvSpPr>
        <p:spPr/>
        <p:txBody>
          <a:bodyPr/>
          <a:lstStyle/>
          <a:p>
            <a:fld id="{44253474-D29F-4167-8C45-75F74F2E9003}" type="slidenum">
              <a:rPr lang="en-US" smtClean="0"/>
              <a:t>‹#›</a:t>
            </a:fld>
            <a:endParaRPr lang="en-US"/>
          </a:p>
        </p:txBody>
      </p:sp>
    </p:spTree>
    <p:extLst>
      <p:ext uri="{BB962C8B-B14F-4D97-AF65-F5344CB8AC3E}">
        <p14:creationId xmlns:p14="http://schemas.microsoft.com/office/powerpoint/2010/main" val="2699626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FFCD9-F45D-6F58-A663-85E1C0F26A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E51000-9AA5-0C89-7A9E-66FA84951568}"/>
              </a:ext>
            </a:extLst>
          </p:cNvPr>
          <p:cNvSpPr>
            <a:spLocks noGrp="1"/>
          </p:cNvSpPr>
          <p:nvPr>
            <p:ph type="dt" sz="half" idx="10"/>
          </p:nvPr>
        </p:nvSpPr>
        <p:spPr/>
        <p:txBody>
          <a:bodyPr/>
          <a:lstStyle/>
          <a:p>
            <a:fld id="{E8C448F8-BA6C-42B3-A220-447C1A05554C}" type="datetimeFigureOut">
              <a:rPr lang="en-US" smtClean="0"/>
              <a:t>2/24/2025</a:t>
            </a:fld>
            <a:endParaRPr lang="en-US"/>
          </a:p>
        </p:txBody>
      </p:sp>
      <p:sp>
        <p:nvSpPr>
          <p:cNvPr id="4" name="Footer Placeholder 3">
            <a:extLst>
              <a:ext uri="{FF2B5EF4-FFF2-40B4-BE49-F238E27FC236}">
                <a16:creationId xmlns:a16="http://schemas.microsoft.com/office/drawing/2014/main" id="{F6C6659F-529A-66C7-E5EB-131FAE085F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A3BB0E-AA97-D234-01CD-1863FF869879}"/>
              </a:ext>
            </a:extLst>
          </p:cNvPr>
          <p:cNvSpPr>
            <a:spLocks noGrp="1"/>
          </p:cNvSpPr>
          <p:nvPr>
            <p:ph type="sldNum" sz="quarter" idx="12"/>
          </p:nvPr>
        </p:nvSpPr>
        <p:spPr/>
        <p:txBody>
          <a:bodyPr/>
          <a:lstStyle/>
          <a:p>
            <a:fld id="{44253474-D29F-4167-8C45-75F74F2E9003}" type="slidenum">
              <a:rPr lang="en-US" smtClean="0"/>
              <a:t>‹#›</a:t>
            </a:fld>
            <a:endParaRPr lang="en-US"/>
          </a:p>
        </p:txBody>
      </p:sp>
    </p:spTree>
    <p:extLst>
      <p:ext uri="{BB962C8B-B14F-4D97-AF65-F5344CB8AC3E}">
        <p14:creationId xmlns:p14="http://schemas.microsoft.com/office/powerpoint/2010/main" val="184999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B8702C-118B-05D3-39BF-0BA993360C80}"/>
              </a:ext>
            </a:extLst>
          </p:cNvPr>
          <p:cNvSpPr>
            <a:spLocks noGrp="1"/>
          </p:cNvSpPr>
          <p:nvPr>
            <p:ph type="dt" sz="half" idx="10"/>
          </p:nvPr>
        </p:nvSpPr>
        <p:spPr/>
        <p:txBody>
          <a:bodyPr/>
          <a:lstStyle/>
          <a:p>
            <a:fld id="{E8C448F8-BA6C-42B3-A220-447C1A05554C}" type="datetimeFigureOut">
              <a:rPr lang="en-US" smtClean="0"/>
              <a:t>2/24/2025</a:t>
            </a:fld>
            <a:endParaRPr lang="en-US"/>
          </a:p>
        </p:txBody>
      </p:sp>
      <p:sp>
        <p:nvSpPr>
          <p:cNvPr id="3" name="Footer Placeholder 2">
            <a:extLst>
              <a:ext uri="{FF2B5EF4-FFF2-40B4-BE49-F238E27FC236}">
                <a16:creationId xmlns:a16="http://schemas.microsoft.com/office/drawing/2014/main" id="{91A749F9-7CDA-6EB1-6D8A-874392F5CE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887172-8F05-94A7-C56C-A5A10205165F}"/>
              </a:ext>
            </a:extLst>
          </p:cNvPr>
          <p:cNvSpPr>
            <a:spLocks noGrp="1"/>
          </p:cNvSpPr>
          <p:nvPr>
            <p:ph type="sldNum" sz="quarter" idx="12"/>
          </p:nvPr>
        </p:nvSpPr>
        <p:spPr/>
        <p:txBody>
          <a:bodyPr/>
          <a:lstStyle/>
          <a:p>
            <a:fld id="{44253474-D29F-4167-8C45-75F74F2E9003}" type="slidenum">
              <a:rPr lang="en-US" smtClean="0"/>
              <a:t>‹#›</a:t>
            </a:fld>
            <a:endParaRPr lang="en-US"/>
          </a:p>
        </p:txBody>
      </p:sp>
    </p:spTree>
    <p:extLst>
      <p:ext uri="{BB962C8B-B14F-4D97-AF65-F5344CB8AC3E}">
        <p14:creationId xmlns:p14="http://schemas.microsoft.com/office/powerpoint/2010/main" val="4134261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C48D-8398-1CB9-0616-E1DF8B1E4A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1B71C8-969D-1425-5267-9DAEADB159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E2991D-370A-E29D-9CAE-44C31DA1C6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718046-64F8-5034-EF1C-F057D1AA1E97}"/>
              </a:ext>
            </a:extLst>
          </p:cNvPr>
          <p:cNvSpPr>
            <a:spLocks noGrp="1"/>
          </p:cNvSpPr>
          <p:nvPr>
            <p:ph type="dt" sz="half" idx="10"/>
          </p:nvPr>
        </p:nvSpPr>
        <p:spPr/>
        <p:txBody>
          <a:bodyPr/>
          <a:lstStyle/>
          <a:p>
            <a:fld id="{E8C448F8-BA6C-42B3-A220-447C1A05554C}" type="datetimeFigureOut">
              <a:rPr lang="en-US" smtClean="0"/>
              <a:t>2/24/2025</a:t>
            </a:fld>
            <a:endParaRPr lang="en-US"/>
          </a:p>
        </p:txBody>
      </p:sp>
      <p:sp>
        <p:nvSpPr>
          <p:cNvPr id="6" name="Footer Placeholder 5">
            <a:extLst>
              <a:ext uri="{FF2B5EF4-FFF2-40B4-BE49-F238E27FC236}">
                <a16:creationId xmlns:a16="http://schemas.microsoft.com/office/drawing/2014/main" id="{CB295482-8F16-2296-4478-32050292E6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6DDCB8-1D0F-9DB2-4514-C187EA884F4E}"/>
              </a:ext>
            </a:extLst>
          </p:cNvPr>
          <p:cNvSpPr>
            <a:spLocks noGrp="1"/>
          </p:cNvSpPr>
          <p:nvPr>
            <p:ph type="sldNum" sz="quarter" idx="12"/>
          </p:nvPr>
        </p:nvSpPr>
        <p:spPr/>
        <p:txBody>
          <a:bodyPr/>
          <a:lstStyle/>
          <a:p>
            <a:fld id="{44253474-D29F-4167-8C45-75F74F2E9003}" type="slidenum">
              <a:rPr lang="en-US" smtClean="0"/>
              <a:t>‹#›</a:t>
            </a:fld>
            <a:endParaRPr lang="en-US"/>
          </a:p>
        </p:txBody>
      </p:sp>
    </p:spTree>
    <p:extLst>
      <p:ext uri="{BB962C8B-B14F-4D97-AF65-F5344CB8AC3E}">
        <p14:creationId xmlns:p14="http://schemas.microsoft.com/office/powerpoint/2010/main" val="3993889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6BEC8-2A61-0EB1-1CE5-14D0F13557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580C6E-8E3E-D7BF-5BBC-75B81CD8D9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FAF125-764A-6888-844E-869698DFAC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CE13C-34B4-0064-EEFF-D78EE0A3D9E3}"/>
              </a:ext>
            </a:extLst>
          </p:cNvPr>
          <p:cNvSpPr>
            <a:spLocks noGrp="1"/>
          </p:cNvSpPr>
          <p:nvPr>
            <p:ph type="dt" sz="half" idx="10"/>
          </p:nvPr>
        </p:nvSpPr>
        <p:spPr/>
        <p:txBody>
          <a:bodyPr/>
          <a:lstStyle/>
          <a:p>
            <a:fld id="{E8C448F8-BA6C-42B3-A220-447C1A05554C}" type="datetimeFigureOut">
              <a:rPr lang="en-US" smtClean="0"/>
              <a:t>2/24/2025</a:t>
            </a:fld>
            <a:endParaRPr lang="en-US"/>
          </a:p>
        </p:txBody>
      </p:sp>
      <p:sp>
        <p:nvSpPr>
          <p:cNvPr id="6" name="Footer Placeholder 5">
            <a:extLst>
              <a:ext uri="{FF2B5EF4-FFF2-40B4-BE49-F238E27FC236}">
                <a16:creationId xmlns:a16="http://schemas.microsoft.com/office/drawing/2014/main" id="{A77C41CB-B7A9-BDFD-D576-0CCC000A97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7AF79B-0353-4C50-CEAF-45CC01C900F1}"/>
              </a:ext>
            </a:extLst>
          </p:cNvPr>
          <p:cNvSpPr>
            <a:spLocks noGrp="1"/>
          </p:cNvSpPr>
          <p:nvPr>
            <p:ph type="sldNum" sz="quarter" idx="12"/>
          </p:nvPr>
        </p:nvSpPr>
        <p:spPr/>
        <p:txBody>
          <a:bodyPr/>
          <a:lstStyle/>
          <a:p>
            <a:fld id="{44253474-D29F-4167-8C45-75F74F2E9003}" type="slidenum">
              <a:rPr lang="en-US" smtClean="0"/>
              <a:t>‹#›</a:t>
            </a:fld>
            <a:endParaRPr lang="en-US"/>
          </a:p>
        </p:txBody>
      </p:sp>
    </p:spTree>
    <p:extLst>
      <p:ext uri="{BB962C8B-B14F-4D97-AF65-F5344CB8AC3E}">
        <p14:creationId xmlns:p14="http://schemas.microsoft.com/office/powerpoint/2010/main" val="409180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96CC0-049E-F204-3B1F-D675B3D7DE7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7B25AB-240D-0C75-46E4-C9B4D7E091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9BDA4C-89E5-C1FB-5596-E3D58D1B06E4}"/>
              </a:ext>
            </a:extLst>
          </p:cNvPr>
          <p:cNvSpPr>
            <a:spLocks noGrp="1"/>
          </p:cNvSpPr>
          <p:nvPr>
            <p:ph type="dt" sz="half" idx="10"/>
          </p:nvPr>
        </p:nvSpPr>
        <p:spPr/>
        <p:txBody>
          <a:bodyPr/>
          <a:lstStyle/>
          <a:p>
            <a:fld id="{E8C448F8-BA6C-42B3-A220-447C1A05554C}" type="datetimeFigureOut">
              <a:rPr lang="en-US" smtClean="0"/>
              <a:t>2/24/2025</a:t>
            </a:fld>
            <a:endParaRPr lang="en-US"/>
          </a:p>
        </p:txBody>
      </p:sp>
      <p:sp>
        <p:nvSpPr>
          <p:cNvPr id="5" name="Footer Placeholder 4">
            <a:extLst>
              <a:ext uri="{FF2B5EF4-FFF2-40B4-BE49-F238E27FC236}">
                <a16:creationId xmlns:a16="http://schemas.microsoft.com/office/drawing/2014/main" id="{DF476377-E22E-362A-32B4-9EBA3A14E7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5B6960-3764-DB04-4422-DCAEFA3DC655}"/>
              </a:ext>
            </a:extLst>
          </p:cNvPr>
          <p:cNvSpPr>
            <a:spLocks noGrp="1"/>
          </p:cNvSpPr>
          <p:nvPr>
            <p:ph type="sldNum" sz="quarter" idx="12"/>
          </p:nvPr>
        </p:nvSpPr>
        <p:spPr/>
        <p:txBody>
          <a:bodyPr/>
          <a:lstStyle/>
          <a:p>
            <a:fld id="{44253474-D29F-4167-8C45-75F74F2E9003}" type="slidenum">
              <a:rPr lang="en-US" smtClean="0"/>
              <a:t>‹#›</a:t>
            </a:fld>
            <a:endParaRPr lang="en-US"/>
          </a:p>
        </p:txBody>
      </p:sp>
    </p:spTree>
    <p:extLst>
      <p:ext uri="{BB962C8B-B14F-4D97-AF65-F5344CB8AC3E}">
        <p14:creationId xmlns:p14="http://schemas.microsoft.com/office/powerpoint/2010/main" val="3574580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0DA931-52B1-BEF5-CC99-AF777E7EA8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C523E1-9441-3E2A-A934-F8E068D7CD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8720E2-387D-1E7D-AECE-46F264872DAE}"/>
              </a:ext>
            </a:extLst>
          </p:cNvPr>
          <p:cNvSpPr>
            <a:spLocks noGrp="1"/>
          </p:cNvSpPr>
          <p:nvPr>
            <p:ph type="dt" sz="half" idx="10"/>
          </p:nvPr>
        </p:nvSpPr>
        <p:spPr/>
        <p:txBody>
          <a:bodyPr/>
          <a:lstStyle/>
          <a:p>
            <a:fld id="{E8C448F8-BA6C-42B3-A220-447C1A05554C}" type="datetimeFigureOut">
              <a:rPr lang="en-US" smtClean="0"/>
              <a:t>2/24/2025</a:t>
            </a:fld>
            <a:endParaRPr lang="en-US"/>
          </a:p>
        </p:txBody>
      </p:sp>
      <p:sp>
        <p:nvSpPr>
          <p:cNvPr id="5" name="Footer Placeholder 4">
            <a:extLst>
              <a:ext uri="{FF2B5EF4-FFF2-40B4-BE49-F238E27FC236}">
                <a16:creationId xmlns:a16="http://schemas.microsoft.com/office/drawing/2014/main" id="{F7AECF0C-AF6B-40A2-E1F3-8E84B5DDB0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2F6403-F650-2C44-E6A0-F41D30DE8C53}"/>
              </a:ext>
            </a:extLst>
          </p:cNvPr>
          <p:cNvSpPr>
            <a:spLocks noGrp="1"/>
          </p:cNvSpPr>
          <p:nvPr>
            <p:ph type="sldNum" sz="quarter" idx="12"/>
          </p:nvPr>
        </p:nvSpPr>
        <p:spPr/>
        <p:txBody>
          <a:bodyPr/>
          <a:lstStyle/>
          <a:p>
            <a:fld id="{44253474-D29F-4167-8C45-75F74F2E9003}" type="slidenum">
              <a:rPr lang="en-US" smtClean="0"/>
              <a:t>‹#›</a:t>
            </a:fld>
            <a:endParaRPr lang="en-US"/>
          </a:p>
        </p:txBody>
      </p:sp>
    </p:spTree>
    <p:extLst>
      <p:ext uri="{BB962C8B-B14F-4D97-AF65-F5344CB8AC3E}">
        <p14:creationId xmlns:p14="http://schemas.microsoft.com/office/powerpoint/2010/main" val="4050488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B4EC2D-DF5E-FC97-DE13-390588496F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5A2F6E-048C-9533-E3DA-DA2D461E8C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3C4B0E-F70A-3108-50AC-4D932CE8E8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C448F8-BA6C-42B3-A220-447C1A05554C}" type="datetimeFigureOut">
              <a:rPr lang="en-US" smtClean="0"/>
              <a:t>2/24/2025</a:t>
            </a:fld>
            <a:endParaRPr lang="en-US"/>
          </a:p>
        </p:txBody>
      </p:sp>
      <p:sp>
        <p:nvSpPr>
          <p:cNvPr id="5" name="Footer Placeholder 4">
            <a:extLst>
              <a:ext uri="{FF2B5EF4-FFF2-40B4-BE49-F238E27FC236}">
                <a16:creationId xmlns:a16="http://schemas.microsoft.com/office/drawing/2014/main" id="{5CAC0714-20AC-4DCF-0563-F223AD1C77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B96964-F2BD-E9FE-8B83-09A36E6A51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253474-D29F-4167-8C45-75F74F2E9003}" type="slidenum">
              <a:rPr lang="en-US" smtClean="0"/>
              <a:t>‹#›</a:t>
            </a:fld>
            <a:endParaRPr lang="en-US"/>
          </a:p>
        </p:txBody>
      </p:sp>
    </p:spTree>
    <p:extLst>
      <p:ext uri="{BB962C8B-B14F-4D97-AF65-F5344CB8AC3E}">
        <p14:creationId xmlns:p14="http://schemas.microsoft.com/office/powerpoint/2010/main" val="2322349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bing.com/ck/a?!&amp;&amp;p=0805236e2c649c6cde89f296c29c803fc8bd028168e1786f69b583c1f533caf1JmltdHM9MTczOTIzMjAwMA&amp;ptn=3&amp;ver=2&amp;hsh=4&amp;fclid=101021bf-8b2d-64a1-3599-34838ada6514&amp;u=a1aHR0cHM6Ly93d3cuZ2Vla3Nmb3JnZWVrcy5vcmcvZGF0YS1taW5pbmcv&amp;ntb=1"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geeksforgeeks.org/what-is-database/"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3.wdp"/></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2AECA-BA6F-BF76-1C56-0DF12C0E0955}"/>
              </a:ext>
            </a:extLst>
          </p:cNvPr>
          <p:cNvSpPr>
            <a:spLocks noGrp="1"/>
          </p:cNvSpPr>
          <p:nvPr>
            <p:ph type="ctrTitle"/>
          </p:nvPr>
        </p:nvSpPr>
        <p:spPr>
          <a:xfrm>
            <a:off x="1524000" y="1564639"/>
            <a:ext cx="9144000" cy="461963"/>
          </a:xfrm>
        </p:spPr>
        <p:txBody>
          <a:bodyPr>
            <a:noAutofit/>
          </a:bodyPr>
          <a:lstStyle/>
          <a:p>
            <a:r>
              <a:rPr lang="en-GB" sz="2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UNIT III</a:t>
            </a:r>
            <a:br>
              <a:rPr lang="en-GB" sz="2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GB" sz="2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GB" sz="2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INTRODUCTION TO DATA SCIENCE</a:t>
            </a:r>
            <a:br>
              <a:rPr lang="en-GB" sz="2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29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183CD15-E39A-3724-4C03-3D5F49F90914}"/>
              </a:ext>
            </a:extLst>
          </p:cNvPr>
          <p:cNvSpPr>
            <a:spLocks noGrp="1"/>
          </p:cNvSpPr>
          <p:nvPr>
            <p:ph type="subTitle" idx="1"/>
          </p:nvPr>
        </p:nvSpPr>
        <p:spPr>
          <a:xfrm>
            <a:off x="447040" y="4932998"/>
            <a:ext cx="9144000" cy="1010602"/>
          </a:xfrm>
        </p:spPr>
        <p:txBody>
          <a:bodyPr>
            <a:noAutofit/>
          </a:bodyPr>
          <a:lstStyle/>
          <a:p>
            <a:pPr algn="l"/>
            <a:r>
              <a:rPr lang="en-IN" sz="2900" dirty="0">
                <a:latin typeface="Times New Roman" panose="02020603050405020304" pitchFamily="18" charset="0"/>
                <a:cs typeface="Times New Roman" panose="02020603050405020304" pitchFamily="18" charset="0"/>
              </a:rPr>
              <a:t>Najeem Dheen A</a:t>
            </a:r>
          </a:p>
          <a:p>
            <a:pPr algn="l"/>
            <a:r>
              <a:rPr lang="en-IN" sz="2900" dirty="0">
                <a:latin typeface="Times New Roman" panose="02020603050405020304" pitchFamily="18" charset="0"/>
                <a:cs typeface="Times New Roman" panose="02020603050405020304" pitchFamily="18" charset="0"/>
              </a:rPr>
              <a:t>AP/IT</a:t>
            </a:r>
            <a:endParaRPr lang="en-US" sz="29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2913A35-350B-6B02-D0D5-14B075DD7456}"/>
              </a:ext>
            </a:extLst>
          </p:cNvPr>
          <p:cNvSpPr txBox="1"/>
          <p:nvPr/>
        </p:nvSpPr>
        <p:spPr>
          <a:xfrm>
            <a:off x="213360" y="2265680"/>
            <a:ext cx="11765280" cy="1569660"/>
          </a:xfrm>
          <a:prstGeom prst="rect">
            <a:avLst/>
          </a:prstGeom>
          <a:noFill/>
        </p:spPr>
        <p:txBody>
          <a:bodyPr wrap="square">
            <a:spAutoFit/>
          </a:bodyPr>
          <a:lstStyle/>
          <a:p>
            <a:pPr algn="just"/>
            <a:r>
              <a:rPr lang="en-GB"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 Science: Benefits and uses – facets of data - Data Science Process: Overview – Defining research goals – Retrieving data – Data preparation - Exploratory Data analysis – build the model– presenting findings and building applications - Data Mining - Data Warehousing – Basic Statistical descriptions of Data.</a:t>
            </a:r>
            <a:endParaRPr lang="en-US" sz="2400" dirty="0"/>
          </a:p>
        </p:txBody>
      </p:sp>
    </p:spTree>
    <p:extLst>
      <p:ext uri="{BB962C8B-B14F-4D97-AF65-F5344CB8AC3E}">
        <p14:creationId xmlns:p14="http://schemas.microsoft.com/office/powerpoint/2010/main" val="1213076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CD043F-32C5-3463-A1CB-FD33A26865FF}"/>
              </a:ext>
            </a:extLst>
          </p:cNvPr>
          <p:cNvSpPr>
            <a:spLocks noGrp="1"/>
          </p:cNvSpPr>
          <p:nvPr>
            <p:ph idx="1"/>
          </p:nvPr>
        </p:nvSpPr>
        <p:spPr>
          <a:xfrm>
            <a:off x="142240" y="213360"/>
            <a:ext cx="11907520" cy="6461760"/>
          </a:xfrm>
        </p:spPr>
        <p:txBody>
          <a:bodyPr/>
          <a:lstStyle/>
          <a:p>
            <a:pPr marL="0" indent="0">
              <a:buNone/>
            </a:pPr>
            <a:r>
              <a:rPr lang="en-IN" b="1" dirty="0">
                <a:latin typeface="Times New Roman" panose="02020603050405020304" pitchFamily="18" charset="0"/>
                <a:cs typeface="Times New Roman" panose="02020603050405020304" pitchFamily="18" charset="0"/>
              </a:rPr>
              <a:t>What is Data Science:</a:t>
            </a:r>
          </a:p>
          <a:p>
            <a:pPr algn="just"/>
            <a:r>
              <a:rPr lang="en-GB" b="1" dirty="0">
                <a:latin typeface="Times New Roman" panose="02020603050405020304" pitchFamily="18" charset="0"/>
                <a:cs typeface="Times New Roman" panose="02020603050405020304" pitchFamily="18" charset="0"/>
              </a:rPr>
              <a:t>Data Science</a:t>
            </a:r>
            <a:r>
              <a:rPr lang="en-GB" dirty="0">
                <a:latin typeface="Times New Roman" panose="02020603050405020304" pitchFamily="18" charset="0"/>
                <a:cs typeface="Times New Roman" panose="02020603050405020304" pitchFamily="18" charset="0"/>
              </a:rPr>
              <a:t> is an interdisciplinary field that uses scientific methods, algorithms, and systems to extract insights and knowledge from structured and unstructured data. </a:t>
            </a:r>
          </a:p>
          <a:p>
            <a:pPr algn="just"/>
            <a:r>
              <a:rPr lang="en-GB" dirty="0">
                <a:latin typeface="Times New Roman" panose="02020603050405020304" pitchFamily="18" charset="0"/>
                <a:cs typeface="Times New Roman" panose="02020603050405020304" pitchFamily="18" charset="0"/>
              </a:rPr>
              <a:t>It combines elements of statistics, computer science, mathematics, and domain expertise to </a:t>
            </a:r>
            <a:r>
              <a:rPr lang="en-GB" dirty="0" err="1">
                <a:latin typeface="Times New Roman" panose="02020603050405020304" pitchFamily="18" charset="0"/>
                <a:cs typeface="Times New Roman" panose="02020603050405020304" pitchFamily="18" charset="0"/>
              </a:rPr>
              <a:t>analyze</a:t>
            </a:r>
            <a:r>
              <a:rPr lang="en-GB" dirty="0">
                <a:latin typeface="Times New Roman" panose="02020603050405020304" pitchFamily="18" charset="0"/>
                <a:cs typeface="Times New Roman" panose="02020603050405020304" pitchFamily="18" charset="0"/>
              </a:rPr>
              <a:t> and interpret complex data. </a:t>
            </a:r>
          </a:p>
          <a:p>
            <a:pPr algn="just"/>
            <a:r>
              <a:rPr lang="en-GB" dirty="0">
                <a:latin typeface="Times New Roman" panose="02020603050405020304" pitchFamily="18" charset="0"/>
                <a:cs typeface="Times New Roman" panose="02020603050405020304" pitchFamily="18" charset="0"/>
              </a:rPr>
              <a:t>In simpler terms, data science is about obtaining, processing, and </a:t>
            </a:r>
            <a:r>
              <a:rPr lang="en-GB" dirty="0" err="1">
                <a:latin typeface="Times New Roman" panose="02020603050405020304" pitchFamily="18" charset="0"/>
                <a:cs typeface="Times New Roman" panose="02020603050405020304" pitchFamily="18" charset="0"/>
              </a:rPr>
              <a:t>analyzing</a:t>
            </a:r>
            <a:r>
              <a:rPr lang="en-GB" dirty="0">
                <a:latin typeface="Times New Roman" panose="02020603050405020304" pitchFamily="18" charset="0"/>
                <a:cs typeface="Times New Roman" panose="02020603050405020304" pitchFamily="18" charset="0"/>
              </a:rPr>
              <a:t> data to gain insights for many purposes.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0739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77CDA-50A0-1BF8-F49F-63DA8381942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341B04-90B7-EE25-71E9-720B701EDA5A}"/>
              </a:ext>
            </a:extLst>
          </p:cNvPr>
          <p:cNvSpPr>
            <a:spLocks noGrp="1"/>
          </p:cNvSpPr>
          <p:nvPr>
            <p:ph idx="1"/>
          </p:nvPr>
        </p:nvSpPr>
        <p:spPr>
          <a:xfrm>
            <a:off x="132080" y="152400"/>
            <a:ext cx="11927840" cy="6532880"/>
          </a:xfrm>
        </p:spPr>
        <p:txBody>
          <a:bodyPr>
            <a:normAutofit/>
          </a:bodyPr>
          <a:lstStyle/>
          <a:p>
            <a:pPr marL="0" indent="0" algn="just" rtl="0">
              <a:spcBef>
                <a:spcPts val="1200"/>
              </a:spcBef>
              <a:spcAft>
                <a:spcPts val="1200"/>
              </a:spcAft>
              <a:buNone/>
            </a:pPr>
            <a:r>
              <a:rPr lang="en-GB" sz="2400" b="1" i="0" dirty="0">
                <a:solidFill>
                  <a:srgbClr val="05192D"/>
                </a:solidFill>
                <a:effectLst/>
                <a:latin typeface="Times New Roman" panose="02020603050405020304" pitchFamily="18" charset="0"/>
                <a:cs typeface="Times New Roman" panose="02020603050405020304" pitchFamily="18" charset="0"/>
              </a:rPr>
              <a:t>The data science lifecycle</a:t>
            </a:r>
          </a:p>
          <a:p>
            <a:pPr algn="just">
              <a:spcBef>
                <a:spcPts val="1200"/>
              </a:spcBef>
              <a:spcAft>
                <a:spcPts val="1200"/>
              </a:spcAft>
            </a:pPr>
            <a:r>
              <a:rPr lang="en-GB" sz="2400" b="0" i="0" dirty="0">
                <a:solidFill>
                  <a:srgbClr val="05192D"/>
                </a:solidFill>
                <a:effectLst/>
                <a:latin typeface="Times New Roman" panose="02020603050405020304" pitchFamily="18" charset="0"/>
                <a:cs typeface="Times New Roman" panose="02020603050405020304" pitchFamily="18" charset="0"/>
              </a:rPr>
              <a:t>The data science lifecycle refers to the various stages a data science project generally undergoes, from initial conception and data collection to communicating results and insights.</a:t>
            </a:r>
          </a:p>
          <a:p>
            <a:pPr marL="0" indent="0" algn="just">
              <a:buNone/>
            </a:pPr>
            <a:endParaRPr lang="en-US" sz="2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1EEAF78-6D1B-EF6F-B7DB-F9B2A4F598EA}"/>
              </a:ext>
            </a:extLst>
          </p:cNvPr>
          <p:cNvPicPr>
            <a:picLocks noChangeAspect="1"/>
          </p:cNvPicPr>
          <p:nvPr/>
        </p:nvPicPr>
        <p:blipFill>
          <a:blip r:embed="rId2"/>
          <a:srcRect t="18963" r="2167" b="26667"/>
          <a:stretch/>
        </p:blipFill>
        <p:spPr>
          <a:xfrm>
            <a:off x="0" y="1645920"/>
            <a:ext cx="11927840" cy="3728720"/>
          </a:xfrm>
          <a:prstGeom prst="rect">
            <a:avLst/>
          </a:prstGeom>
        </p:spPr>
      </p:pic>
    </p:spTree>
    <p:extLst>
      <p:ext uri="{BB962C8B-B14F-4D97-AF65-F5344CB8AC3E}">
        <p14:creationId xmlns:p14="http://schemas.microsoft.com/office/powerpoint/2010/main" val="505410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526B9-8136-6461-0B68-2D2D2802AE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711227-C9EF-1F51-88F7-CB7F82F23A28}"/>
              </a:ext>
            </a:extLst>
          </p:cNvPr>
          <p:cNvSpPr>
            <a:spLocks noGrp="1"/>
          </p:cNvSpPr>
          <p:nvPr>
            <p:ph idx="1"/>
          </p:nvPr>
        </p:nvSpPr>
        <p:spPr>
          <a:xfrm>
            <a:off x="132080" y="152400"/>
            <a:ext cx="11927840" cy="6532880"/>
          </a:xfrm>
        </p:spPr>
        <p:txBody>
          <a:bodyPr>
            <a:noAutofit/>
          </a:bodyPr>
          <a:lstStyle/>
          <a:p>
            <a:pPr marL="0" indent="0" algn="just" rtl="0">
              <a:lnSpc>
                <a:spcPct val="100000"/>
              </a:lnSpc>
              <a:spcBef>
                <a:spcPts val="600"/>
              </a:spcBef>
              <a:spcAft>
                <a:spcPts val="1200"/>
              </a:spcAft>
              <a:buNone/>
            </a:pPr>
            <a:r>
              <a:rPr lang="en-GB" sz="1800" b="1" i="0" dirty="0">
                <a:solidFill>
                  <a:srgbClr val="05192D"/>
                </a:solidFill>
                <a:effectLst/>
                <a:latin typeface="Times New Roman" panose="02020603050405020304" pitchFamily="18" charset="0"/>
                <a:cs typeface="Times New Roman" panose="02020603050405020304" pitchFamily="18" charset="0"/>
              </a:rPr>
              <a:t>Data collection and storage</a:t>
            </a:r>
          </a:p>
          <a:p>
            <a:pPr algn="just" rtl="0">
              <a:lnSpc>
                <a:spcPct val="100000"/>
              </a:lnSpc>
              <a:spcAft>
                <a:spcPts val="1050"/>
              </a:spcAft>
            </a:pPr>
            <a:r>
              <a:rPr lang="en-GB" sz="1800" b="0" i="0" dirty="0">
                <a:solidFill>
                  <a:srgbClr val="05192D"/>
                </a:solidFill>
                <a:effectLst/>
                <a:latin typeface="Times New Roman" panose="02020603050405020304" pitchFamily="18" charset="0"/>
                <a:cs typeface="Times New Roman" panose="02020603050405020304" pitchFamily="18" charset="0"/>
              </a:rPr>
              <a:t>This initial phase involves collecting data from various sources, such as databases, Excel files, text files, APIs, web scraping, or even real-time data streams. The type and volume of data collected largely depend on the problem you’re addressing.</a:t>
            </a:r>
          </a:p>
          <a:p>
            <a:pPr algn="just" rtl="0">
              <a:lnSpc>
                <a:spcPct val="100000"/>
              </a:lnSpc>
              <a:spcAft>
                <a:spcPts val="1050"/>
              </a:spcAft>
            </a:pPr>
            <a:r>
              <a:rPr lang="en-GB" sz="1800" b="0" i="0" dirty="0">
                <a:solidFill>
                  <a:srgbClr val="05192D"/>
                </a:solidFill>
                <a:effectLst/>
                <a:latin typeface="Times New Roman" panose="02020603050405020304" pitchFamily="18" charset="0"/>
                <a:cs typeface="Times New Roman" panose="02020603050405020304" pitchFamily="18" charset="0"/>
              </a:rPr>
              <a:t>Once collected, this data is stored in an appropriate format ready for further processing. Storing the data securely and efficiently is important to allow quick retrieval and processing.</a:t>
            </a:r>
          </a:p>
          <a:p>
            <a:pPr marL="0" indent="0" algn="just" rtl="0">
              <a:lnSpc>
                <a:spcPct val="100000"/>
              </a:lnSpc>
              <a:spcBef>
                <a:spcPts val="600"/>
              </a:spcBef>
              <a:spcAft>
                <a:spcPts val="1200"/>
              </a:spcAft>
              <a:buNone/>
            </a:pPr>
            <a:r>
              <a:rPr lang="en-GB" sz="1800" b="1" i="0" dirty="0">
                <a:solidFill>
                  <a:srgbClr val="05192D"/>
                </a:solidFill>
                <a:effectLst/>
                <a:latin typeface="Times New Roman" panose="02020603050405020304" pitchFamily="18" charset="0"/>
                <a:cs typeface="Times New Roman" panose="02020603050405020304" pitchFamily="18" charset="0"/>
              </a:rPr>
              <a:t>Data preparation</a:t>
            </a:r>
          </a:p>
          <a:p>
            <a:pPr algn="just" rtl="0">
              <a:lnSpc>
                <a:spcPct val="100000"/>
              </a:lnSpc>
              <a:spcAft>
                <a:spcPts val="1050"/>
              </a:spcAft>
            </a:pPr>
            <a:r>
              <a:rPr lang="en-GB" sz="1800" b="0" i="0" dirty="0">
                <a:solidFill>
                  <a:srgbClr val="05192D"/>
                </a:solidFill>
                <a:effectLst/>
                <a:latin typeface="Times New Roman" panose="02020603050405020304" pitchFamily="18" charset="0"/>
                <a:cs typeface="Times New Roman" panose="02020603050405020304" pitchFamily="18" charset="0"/>
              </a:rPr>
              <a:t>Often considered the most time-consuming phase, data preparation involves cleaning and transforming raw data into a suitable format for analysis. This phase includes handling missing or inconsistent data, removing duplicates, normalization, and data type conversions. The objective is to create a clean, high-quality dataset that can yield accurate and reliable analytical results.</a:t>
            </a:r>
          </a:p>
          <a:p>
            <a:pPr marL="0" indent="0" algn="just" rtl="0">
              <a:lnSpc>
                <a:spcPct val="100000"/>
              </a:lnSpc>
              <a:spcBef>
                <a:spcPts val="600"/>
              </a:spcBef>
              <a:spcAft>
                <a:spcPts val="1200"/>
              </a:spcAft>
              <a:buNone/>
            </a:pPr>
            <a:r>
              <a:rPr lang="en-GB" sz="1800" b="1" i="0" dirty="0">
                <a:solidFill>
                  <a:srgbClr val="05192D"/>
                </a:solidFill>
                <a:effectLst/>
                <a:latin typeface="Times New Roman" panose="02020603050405020304" pitchFamily="18" charset="0"/>
                <a:cs typeface="Times New Roman" panose="02020603050405020304" pitchFamily="18" charset="0"/>
              </a:rPr>
              <a:t>Exploration and visualization</a:t>
            </a:r>
          </a:p>
          <a:p>
            <a:pPr algn="just" rtl="0">
              <a:lnSpc>
                <a:spcPct val="100000"/>
              </a:lnSpc>
              <a:spcAft>
                <a:spcPts val="1050"/>
              </a:spcAft>
            </a:pPr>
            <a:r>
              <a:rPr lang="en-GB" sz="1800" b="0" i="0" dirty="0">
                <a:solidFill>
                  <a:srgbClr val="05192D"/>
                </a:solidFill>
                <a:effectLst/>
                <a:latin typeface="Times New Roman" panose="02020603050405020304" pitchFamily="18" charset="0"/>
                <a:cs typeface="Times New Roman" panose="02020603050405020304" pitchFamily="18" charset="0"/>
              </a:rPr>
              <a:t>During this phase, data scientists explore the prepared data to understand its patterns, characteristics, and potential anomalies. Techniques like statistical analysis and data visualization summarize the data's main characteristics, often with visual methods.</a:t>
            </a:r>
          </a:p>
          <a:p>
            <a:pPr algn="just" rtl="0">
              <a:lnSpc>
                <a:spcPct val="100000"/>
              </a:lnSpc>
              <a:spcAft>
                <a:spcPts val="1050"/>
              </a:spcAft>
            </a:pPr>
            <a:r>
              <a:rPr lang="en-GB" sz="1800" b="0" i="0" dirty="0">
                <a:solidFill>
                  <a:srgbClr val="05192D"/>
                </a:solidFill>
                <a:effectLst/>
                <a:latin typeface="Times New Roman" panose="02020603050405020304" pitchFamily="18" charset="0"/>
                <a:cs typeface="Times New Roman" panose="02020603050405020304" pitchFamily="18" charset="0"/>
              </a:rPr>
              <a:t>Visualization tools, such as charts and graphs, make the data more understandable, enabling stakeholders to comprehend the data trends and patterns better.</a:t>
            </a:r>
          </a:p>
          <a:p>
            <a:pPr marL="0" indent="0" algn="just">
              <a:lnSpc>
                <a:spcPct val="100000"/>
              </a:lnSpc>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2243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18B2A-5D59-C9AF-9751-AFC9C84645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F970F7-EB4C-9F6C-48EB-9564261EA603}"/>
              </a:ext>
            </a:extLst>
          </p:cNvPr>
          <p:cNvSpPr>
            <a:spLocks noGrp="1"/>
          </p:cNvSpPr>
          <p:nvPr>
            <p:ph idx="1"/>
          </p:nvPr>
        </p:nvSpPr>
        <p:spPr>
          <a:xfrm>
            <a:off x="132080" y="152400"/>
            <a:ext cx="11927840" cy="6532880"/>
          </a:xfrm>
        </p:spPr>
        <p:txBody>
          <a:bodyPr>
            <a:normAutofit/>
          </a:bodyPr>
          <a:lstStyle/>
          <a:p>
            <a:pPr marL="0" indent="0" algn="just" rtl="0">
              <a:lnSpc>
                <a:spcPct val="100000"/>
              </a:lnSpc>
              <a:spcBef>
                <a:spcPts val="600"/>
              </a:spcBef>
              <a:spcAft>
                <a:spcPts val="1200"/>
              </a:spcAft>
              <a:buNone/>
            </a:pPr>
            <a:r>
              <a:rPr lang="en-GB" sz="1800" b="1" i="0" dirty="0">
                <a:solidFill>
                  <a:srgbClr val="05192D"/>
                </a:solidFill>
                <a:effectLst/>
                <a:latin typeface="Times New Roman" panose="02020603050405020304" pitchFamily="18" charset="0"/>
                <a:cs typeface="Times New Roman" panose="02020603050405020304" pitchFamily="18" charset="0"/>
              </a:rPr>
              <a:t>Experimentation and prediction</a:t>
            </a:r>
          </a:p>
          <a:p>
            <a:pPr algn="just" rtl="0">
              <a:lnSpc>
                <a:spcPct val="100000"/>
              </a:lnSpc>
              <a:spcAft>
                <a:spcPts val="1050"/>
              </a:spcAft>
            </a:pPr>
            <a:r>
              <a:rPr lang="en-GB" sz="1800" b="0" i="0" dirty="0">
                <a:solidFill>
                  <a:srgbClr val="05192D"/>
                </a:solidFill>
                <a:effectLst/>
                <a:latin typeface="Times New Roman" panose="02020603050405020304" pitchFamily="18" charset="0"/>
                <a:cs typeface="Times New Roman" panose="02020603050405020304" pitchFamily="18" charset="0"/>
              </a:rPr>
              <a:t>Data scientists use</a:t>
            </a:r>
            <a:r>
              <a:rPr lang="en-GB" sz="1800" dirty="0">
                <a:solidFill>
                  <a:srgbClr val="05192D"/>
                </a:solidFill>
                <a:latin typeface="Times New Roman" panose="02020603050405020304" pitchFamily="18" charset="0"/>
                <a:cs typeface="Times New Roman" panose="02020603050405020304" pitchFamily="18" charset="0"/>
              </a:rPr>
              <a:t> machine learning algorithms and statistical models to identify patterns, make predictions, or discover insights in this phase. </a:t>
            </a:r>
          </a:p>
          <a:p>
            <a:pPr algn="just" rtl="0">
              <a:lnSpc>
                <a:spcPct val="100000"/>
              </a:lnSpc>
              <a:spcAft>
                <a:spcPts val="1050"/>
              </a:spcAft>
            </a:pPr>
            <a:r>
              <a:rPr lang="en-GB" sz="1800" b="0" i="0" dirty="0">
                <a:solidFill>
                  <a:srgbClr val="05192D"/>
                </a:solidFill>
                <a:effectLst/>
                <a:latin typeface="Times New Roman" panose="02020603050405020304" pitchFamily="18" charset="0"/>
                <a:cs typeface="Times New Roman" panose="02020603050405020304" pitchFamily="18" charset="0"/>
              </a:rPr>
              <a:t>The goal here is to derive something significant from the data that aligns with the project's objectives, whether predicting future outcomes, classifying data, or uncovering hidden patterns.</a:t>
            </a:r>
          </a:p>
          <a:p>
            <a:pPr marL="0" indent="0" algn="just" rtl="0">
              <a:lnSpc>
                <a:spcPct val="100000"/>
              </a:lnSpc>
              <a:spcBef>
                <a:spcPts val="600"/>
              </a:spcBef>
              <a:spcAft>
                <a:spcPts val="1200"/>
              </a:spcAft>
              <a:buNone/>
            </a:pPr>
            <a:r>
              <a:rPr lang="en-GB" sz="1800" b="1" i="0" dirty="0">
                <a:solidFill>
                  <a:srgbClr val="05192D"/>
                </a:solidFill>
                <a:effectLst/>
                <a:latin typeface="Times New Roman" panose="02020603050405020304" pitchFamily="18" charset="0"/>
                <a:cs typeface="Times New Roman" panose="02020603050405020304" pitchFamily="18" charset="0"/>
              </a:rPr>
              <a:t>Data Storytelling and communication</a:t>
            </a:r>
          </a:p>
          <a:p>
            <a:pPr algn="just" rtl="0">
              <a:lnSpc>
                <a:spcPct val="100000"/>
              </a:lnSpc>
              <a:spcAft>
                <a:spcPts val="1050"/>
              </a:spcAft>
            </a:pPr>
            <a:r>
              <a:rPr lang="en-GB" sz="1800" b="0" i="0" dirty="0">
                <a:solidFill>
                  <a:srgbClr val="05192D"/>
                </a:solidFill>
                <a:effectLst/>
                <a:latin typeface="Times New Roman" panose="02020603050405020304" pitchFamily="18" charset="0"/>
                <a:cs typeface="Times New Roman" panose="02020603050405020304" pitchFamily="18" charset="0"/>
              </a:rPr>
              <a:t>The final phase involves interpreting and communicating the results derived from the data analysis. It's not enough to have insights; you must communicate them effectively, using clear, concise language and compelling visuals. </a:t>
            </a:r>
          </a:p>
          <a:p>
            <a:pPr algn="just" rtl="0">
              <a:lnSpc>
                <a:spcPct val="100000"/>
              </a:lnSpc>
              <a:spcAft>
                <a:spcPts val="1050"/>
              </a:spcAft>
            </a:pPr>
            <a:r>
              <a:rPr lang="en-GB" sz="1800" b="0" i="0" dirty="0">
                <a:solidFill>
                  <a:srgbClr val="05192D"/>
                </a:solidFill>
                <a:effectLst/>
                <a:latin typeface="Times New Roman" panose="02020603050405020304" pitchFamily="18" charset="0"/>
                <a:cs typeface="Times New Roman" panose="02020603050405020304" pitchFamily="18" charset="0"/>
              </a:rPr>
              <a:t>The goal is to convey these findings to non-technical stakeholders in a way that influences decision-making or drives strategic initiatives.</a:t>
            </a:r>
          </a:p>
          <a:p>
            <a:pPr marL="0" indent="0">
              <a:buNone/>
            </a:pPr>
            <a:endParaRPr lang="en-US" sz="1800" dirty="0"/>
          </a:p>
        </p:txBody>
      </p:sp>
    </p:spTree>
    <p:extLst>
      <p:ext uri="{BB962C8B-B14F-4D97-AF65-F5344CB8AC3E}">
        <p14:creationId xmlns:p14="http://schemas.microsoft.com/office/powerpoint/2010/main" val="629087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0D57A-4F2C-A235-2655-0974ACACE7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B2DE05-951B-4397-E7C4-0C2FE3E42ADD}"/>
              </a:ext>
            </a:extLst>
          </p:cNvPr>
          <p:cNvSpPr>
            <a:spLocks noGrp="1"/>
          </p:cNvSpPr>
          <p:nvPr>
            <p:ph idx="1"/>
          </p:nvPr>
        </p:nvSpPr>
        <p:spPr>
          <a:xfrm>
            <a:off x="132080" y="152400"/>
            <a:ext cx="11927840" cy="6532880"/>
          </a:xfrm>
        </p:spPr>
        <p:txBody>
          <a:bodyPr>
            <a:normAutofit/>
          </a:bodyPr>
          <a:lstStyle/>
          <a:p>
            <a:pPr marL="0" indent="0" algn="just">
              <a:buNone/>
            </a:pPr>
            <a:r>
              <a:rPr lang="en-GB" sz="2400" b="1" dirty="0">
                <a:latin typeface="Times New Roman" panose="02020603050405020304" pitchFamily="18" charset="0"/>
                <a:cs typeface="Times New Roman" panose="02020603050405020304" pitchFamily="18" charset="0"/>
              </a:rPr>
              <a:t>Techniques:</a:t>
            </a:r>
          </a:p>
          <a:p>
            <a:pPr algn="just">
              <a:buFont typeface="+mj-lt"/>
              <a:buAutoNum type="arabicPeriod"/>
            </a:pPr>
            <a:r>
              <a:rPr lang="en-GB" sz="2000" b="1" dirty="0">
                <a:latin typeface="Times New Roman" panose="02020603050405020304" pitchFamily="18" charset="0"/>
                <a:cs typeface="Times New Roman" panose="02020603050405020304" pitchFamily="18" charset="0"/>
              </a:rPr>
              <a:t>Regression Analysis</a:t>
            </a:r>
            <a:r>
              <a:rPr lang="en-GB" sz="2000" dirty="0">
                <a:latin typeface="Times New Roman" panose="02020603050405020304" pitchFamily="18" charset="0"/>
                <a:cs typeface="Times New Roman" panose="02020603050405020304" pitchFamily="18" charset="0"/>
              </a:rPr>
              <a:t>: A technique for </a:t>
            </a:r>
            <a:r>
              <a:rPr lang="en-GB" sz="2000" dirty="0" err="1">
                <a:latin typeface="Times New Roman" panose="02020603050405020304" pitchFamily="18" charset="0"/>
                <a:cs typeface="Times New Roman" panose="02020603050405020304" pitchFamily="18" charset="0"/>
              </a:rPr>
              <a:t>modeling</a:t>
            </a:r>
            <a:r>
              <a:rPr lang="en-GB" sz="2000" dirty="0">
                <a:latin typeface="Times New Roman" panose="02020603050405020304" pitchFamily="18" charset="0"/>
                <a:cs typeface="Times New Roman" panose="02020603050405020304" pitchFamily="18" charset="0"/>
              </a:rPr>
              <a:t> relationships between dependent and independent variables, often used for predicting continuous outcomes (e.g., linear regression, logistic regression).</a:t>
            </a:r>
          </a:p>
          <a:p>
            <a:pPr algn="just">
              <a:buFont typeface="+mj-lt"/>
              <a:buAutoNum type="arabicPeriod"/>
            </a:pPr>
            <a:r>
              <a:rPr lang="en-GB" sz="2000" b="1" dirty="0">
                <a:latin typeface="Times New Roman" panose="02020603050405020304" pitchFamily="18" charset="0"/>
                <a:cs typeface="Times New Roman" panose="02020603050405020304" pitchFamily="18" charset="0"/>
              </a:rPr>
              <a:t>Classification</a:t>
            </a:r>
            <a:r>
              <a:rPr lang="en-GB" sz="2000" dirty="0">
                <a:latin typeface="Times New Roman" panose="02020603050405020304" pitchFamily="18" charset="0"/>
                <a:cs typeface="Times New Roman" panose="02020603050405020304" pitchFamily="18" charset="0"/>
              </a:rPr>
              <a:t>: The process of predicting discrete labels for new data based on a trained model (e.g., decision trees, random forests, support vector machines).</a:t>
            </a:r>
          </a:p>
          <a:p>
            <a:pPr algn="just">
              <a:buFont typeface="+mj-lt"/>
              <a:buAutoNum type="arabicPeriod"/>
            </a:pPr>
            <a:r>
              <a:rPr lang="en-GB" sz="2000" b="1" dirty="0">
                <a:latin typeface="Times New Roman" panose="02020603050405020304" pitchFamily="18" charset="0"/>
                <a:cs typeface="Times New Roman" panose="02020603050405020304" pitchFamily="18" charset="0"/>
              </a:rPr>
              <a:t>Clustering</a:t>
            </a:r>
            <a:r>
              <a:rPr lang="en-GB" sz="2000" dirty="0">
                <a:latin typeface="Times New Roman" panose="02020603050405020304" pitchFamily="18" charset="0"/>
                <a:cs typeface="Times New Roman" panose="02020603050405020304" pitchFamily="18" charset="0"/>
              </a:rPr>
              <a:t>: A technique used to group similar data points together without predefined labels (e.g., k-means, hierarchical clustering).</a:t>
            </a:r>
          </a:p>
          <a:p>
            <a:pPr algn="just">
              <a:buFont typeface="+mj-lt"/>
              <a:buAutoNum type="arabicPeriod"/>
            </a:pPr>
            <a:r>
              <a:rPr lang="en-GB" sz="2000" b="1" dirty="0">
                <a:latin typeface="Times New Roman" panose="02020603050405020304" pitchFamily="18" charset="0"/>
                <a:cs typeface="Times New Roman" panose="02020603050405020304" pitchFamily="18" charset="0"/>
              </a:rPr>
              <a:t>Natural Language Processing (NLP)</a:t>
            </a:r>
            <a:r>
              <a:rPr lang="en-GB" sz="2000" dirty="0">
                <a:latin typeface="Times New Roman" panose="02020603050405020304" pitchFamily="18" charset="0"/>
                <a:cs typeface="Times New Roman" panose="02020603050405020304" pitchFamily="18" charset="0"/>
              </a:rPr>
              <a:t>: Techniques for </a:t>
            </a:r>
            <a:r>
              <a:rPr lang="en-GB" sz="2000" dirty="0" err="1">
                <a:latin typeface="Times New Roman" panose="02020603050405020304" pitchFamily="18" charset="0"/>
                <a:cs typeface="Times New Roman" panose="02020603050405020304" pitchFamily="18" charset="0"/>
              </a:rPr>
              <a:t>analyzing</a:t>
            </a:r>
            <a:r>
              <a:rPr lang="en-GB" sz="2000" dirty="0">
                <a:latin typeface="Times New Roman" panose="02020603050405020304" pitchFamily="18" charset="0"/>
                <a:cs typeface="Times New Roman" panose="02020603050405020304" pitchFamily="18" charset="0"/>
              </a:rPr>
              <a:t> and understanding human language, enabling tasks such as text classification, sentiment analysis, and machine translation.</a:t>
            </a:r>
          </a:p>
          <a:p>
            <a:pPr algn="just">
              <a:buFont typeface="+mj-lt"/>
              <a:buAutoNum type="arabicPeriod"/>
            </a:pPr>
            <a:r>
              <a:rPr lang="en-GB" sz="2000" b="1" dirty="0">
                <a:latin typeface="Times New Roman" panose="02020603050405020304" pitchFamily="18" charset="0"/>
                <a:cs typeface="Times New Roman" panose="02020603050405020304" pitchFamily="18" charset="0"/>
              </a:rPr>
              <a:t>Neural Networks</a:t>
            </a:r>
            <a:r>
              <a:rPr lang="en-GB" sz="2000" dirty="0">
                <a:latin typeface="Times New Roman" panose="02020603050405020304" pitchFamily="18" charset="0"/>
                <a:cs typeface="Times New Roman" panose="02020603050405020304" pitchFamily="18" charset="0"/>
              </a:rPr>
              <a:t>: A model inspired by the human brain, used for complex tasks like image recognition, language </a:t>
            </a:r>
            <a:r>
              <a:rPr lang="en-GB" sz="2000" dirty="0" err="1">
                <a:latin typeface="Times New Roman" panose="02020603050405020304" pitchFamily="18" charset="0"/>
                <a:cs typeface="Times New Roman" panose="02020603050405020304" pitchFamily="18" charset="0"/>
              </a:rPr>
              <a:t>modeling</a:t>
            </a:r>
            <a:r>
              <a:rPr lang="en-GB" sz="2000" dirty="0">
                <a:latin typeface="Times New Roman" panose="02020603050405020304" pitchFamily="18" charset="0"/>
                <a:cs typeface="Times New Roman" panose="02020603050405020304" pitchFamily="18" charset="0"/>
              </a:rPr>
              <a:t>, and game playing (e.g., deep learning).</a:t>
            </a:r>
          </a:p>
          <a:p>
            <a:pPr marL="0" indent="0">
              <a:buNone/>
            </a:pPr>
            <a:endParaRPr lang="en-US" sz="2400" dirty="0"/>
          </a:p>
        </p:txBody>
      </p:sp>
    </p:spTree>
    <p:extLst>
      <p:ext uri="{BB962C8B-B14F-4D97-AF65-F5344CB8AC3E}">
        <p14:creationId xmlns:p14="http://schemas.microsoft.com/office/powerpoint/2010/main" val="3762698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6ACAF-0589-44C1-5CBE-D76D3D6120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6C53DB-8361-646E-938A-64783F34CA83}"/>
              </a:ext>
            </a:extLst>
          </p:cNvPr>
          <p:cNvSpPr>
            <a:spLocks noGrp="1"/>
          </p:cNvSpPr>
          <p:nvPr>
            <p:ph idx="1"/>
          </p:nvPr>
        </p:nvSpPr>
        <p:spPr>
          <a:xfrm>
            <a:off x="132080" y="152400"/>
            <a:ext cx="11927840" cy="6532880"/>
          </a:xfrm>
        </p:spPr>
        <p:txBody>
          <a:bodyPr>
            <a:noAutofit/>
          </a:bodyPr>
          <a:lstStyle/>
          <a:p>
            <a:pPr marL="0" indent="0" algn="just" fontAlgn="base">
              <a:buNone/>
            </a:pPr>
            <a:r>
              <a:rPr lang="en-GB" sz="1800" b="1" i="0" dirty="0">
                <a:solidFill>
                  <a:srgbClr val="273239"/>
                </a:solidFill>
                <a:effectLst/>
                <a:latin typeface="Times New Roman" panose="02020603050405020304" pitchFamily="18" charset="0"/>
                <a:cs typeface="Times New Roman" panose="02020603050405020304" pitchFamily="18" charset="0"/>
              </a:rPr>
              <a:t>Jobs and Career in Data Science</a:t>
            </a:r>
          </a:p>
          <a:p>
            <a:pPr marL="0" indent="0" algn="just" rtl="0" fontAlgn="base">
              <a:spcAft>
                <a:spcPts val="750"/>
              </a:spcAft>
              <a:buNone/>
            </a:pPr>
            <a:r>
              <a:rPr lang="en-GB" sz="1800" b="0" i="0" dirty="0">
                <a:solidFill>
                  <a:srgbClr val="273239"/>
                </a:solidFill>
                <a:effectLst/>
                <a:latin typeface="Times New Roman" panose="02020603050405020304" pitchFamily="18" charset="0"/>
                <a:cs typeface="Times New Roman" panose="02020603050405020304" pitchFamily="18" charset="0"/>
              </a:rPr>
              <a:t>A data science job involves using various techniques, algorithms, and tools to extract insights and knowledge from structured and unstructured data. Here are some of the key data science job roles:</a:t>
            </a:r>
          </a:p>
          <a:p>
            <a:pPr marL="0" indent="0" algn="just" fontAlgn="base">
              <a:lnSpc>
                <a:spcPct val="100000"/>
              </a:lnSpc>
              <a:spcBef>
                <a:spcPts val="0"/>
              </a:spcBef>
              <a:buNone/>
            </a:pPr>
            <a:r>
              <a:rPr lang="en-GB" sz="1800" b="1" i="0" dirty="0">
                <a:solidFill>
                  <a:srgbClr val="273239"/>
                </a:solidFill>
                <a:effectLst/>
                <a:latin typeface="Times New Roman" panose="02020603050405020304" pitchFamily="18" charset="0"/>
                <a:cs typeface="Times New Roman" panose="02020603050405020304" pitchFamily="18" charset="0"/>
              </a:rPr>
              <a:t>Data Scientist</a:t>
            </a:r>
            <a:r>
              <a:rPr lang="en-GB" sz="1800" b="0" i="0" dirty="0">
                <a:solidFill>
                  <a:srgbClr val="273239"/>
                </a:solidFill>
                <a:effectLst/>
                <a:latin typeface="Times New Roman" panose="02020603050405020304" pitchFamily="18" charset="0"/>
                <a:cs typeface="Times New Roman" panose="02020603050405020304" pitchFamily="18" charset="0"/>
              </a:rPr>
              <a:t>:</a:t>
            </a:r>
          </a:p>
          <a:p>
            <a:pPr lvl="1" algn="just" fontAlgn="base">
              <a:lnSpc>
                <a:spcPct val="100000"/>
              </a:lnSpc>
              <a:spcBef>
                <a:spcPts val="0"/>
              </a:spcBef>
            </a:pPr>
            <a:r>
              <a:rPr lang="en-GB" sz="1800" b="1" i="0" dirty="0">
                <a:solidFill>
                  <a:srgbClr val="273239"/>
                </a:solidFill>
                <a:effectLst/>
                <a:latin typeface="Times New Roman" panose="02020603050405020304" pitchFamily="18" charset="0"/>
                <a:cs typeface="Times New Roman" panose="02020603050405020304" pitchFamily="18" charset="0"/>
              </a:rPr>
              <a:t>Responsibilities</a:t>
            </a:r>
            <a:r>
              <a:rPr lang="en-GB" sz="1800" b="0" i="0" dirty="0">
                <a:solidFill>
                  <a:srgbClr val="273239"/>
                </a:solidFill>
                <a:effectLst/>
                <a:latin typeface="Times New Roman" panose="02020603050405020304" pitchFamily="18" charset="0"/>
                <a:cs typeface="Times New Roman" panose="02020603050405020304" pitchFamily="18" charset="0"/>
              </a:rPr>
              <a:t>: </a:t>
            </a:r>
            <a:r>
              <a:rPr lang="en-GB" sz="1800" b="0" i="0" dirty="0" err="1">
                <a:solidFill>
                  <a:srgbClr val="273239"/>
                </a:solidFill>
                <a:effectLst/>
                <a:latin typeface="Times New Roman" panose="02020603050405020304" pitchFamily="18" charset="0"/>
                <a:cs typeface="Times New Roman" panose="02020603050405020304" pitchFamily="18" charset="0"/>
              </a:rPr>
              <a:t>Analyzing</a:t>
            </a:r>
            <a:r>
              <a:rPr lang="en-GB" sz="1800" b="0" i="0" dirty="0">
                <a:solidFill>
                  <a:srgbClr val="273239"/>
                </a:solidFill>
                <a:effectLst/>
                <a:latin typeface="Times New Roman" panose="02020603050405020304" pitchFamily="18" charset="0"/>
                <a:cs typeface="Times New Roman" panose="02020603050405020304" pitchFamily="18" charset="0"/>
              </a:rPr>
              <a:t> large datasets, developing machine learning models, interpreting results, and providing insights to inform business decisions.</a:t>
            </a:r>
          </a:p>
          <a:p>
            <a:pPr lvl="1" algn="just" fontAlgn="base">
              <a:lnSpc>
                <a:spcPct val="100000"/>
              </a:lnSpc>
              <a:spcBef>
                <a:spcPts val="0"/>
              </a:spcBef>
            </a:pPr>
            <a:endParaRPr lang="en-GB" sz="1800" b="0" i="0" dirty="0">
              <a:solidFill>
                <a:srgbClr val="273239"/>
              </a:solidFill>
              <a:effectLst/>
              <a:latin typeface="Times New Roman" panose="02020603050405020304" pitchFamily="18" charset="0"/>
              <a:cs typeface="Times New Roman" panose="02020603050405020304" pitchFamily="18" charset="0"/>
            </a:endParaRPr>
          </a:p>
          <a:p>
            <a:pPr lvl="1" algn="just" fontAlgn="base">
              <a:lnSpc>
                <a:spcPct val="100000"/>
              </a:lnSpc>
              <a:spcBef>
                <a:spcPts val="0"/>
              </a:spcBef>
            </a:pPr>
            <a:r>
              <a:rPr lang="en-GB" sz="1800" b="1" i="0" dirty="0">
                <a:solidFill>
                  <a:srgbClr val="273239"/>
                </a:solidFill>
                <a:effectLst/>
                <a:latin typeface="Times New Roman" panose="02020603050405020304" pitchFamily="18" charset="0"/>
                <a:cs typeface="Times New Roman" panose="02020603050405020304" pitchFamily="18" charset="0"/>
              </a:rPr>
              <a:t>Skills</a:t>
            </a:r>
            <a:r>
              <a:rPr lang="en-GB" sz="1800" b="0" i="0" dirty="0">
                <a:solidFill>
                  <a:srgbClr val="273239"/>
                </a:solidFill>
                <a:effectLst/>
                <a:latin typeface="Times New Roman" panose="02020603050405020304" pitchFamily="18" charset="0"/>
                <a:cs typeface="Times New Roman" panose="02020603050405020304" pitchFamily="18" charset="0"/>
              </a:rPr>
              <a:t>: Proficiency in programming languages like Python or R, expertise in statistics and machine learning algorithms, data visualization skills, and domain knowledge in the relevant industry.</a:t>
            </a:r>
          </a:p>
          <a:p>
            <a:pPr marL="0" indent="0" algn="just" fontAlgn="base">
              <a:lnSpc>
                <a:spcPct val="100000"/>
              </a:lnSpc>
              <a:spcBef>
                <a:spcPts val="0"/>
              </a:spcBef>
              <a:buNone/>
            </a:pPr>
            <a:r>
              <a:rPr lang="en-GB" sz="1800" b="1" i="0" dirty="0">
                <a:solidFill>
                  <a:srgbClr val="273239"/>
                </a:solidFill>
                <a:effectLst/>
                <a:latin typeface="Times New Roman" panose="02020603050405020304" pitchFamily="18" charset="0"/>
                <a:cs typeface="Times New Roman" panose="02020603050405020304" pitchFamily="18" charset="0"/>
              </a:rPr>
              <a:t>Data Analyst</a:t>
            </a:r>
            <a:r>
              <a:rPr lang="en-GB" sz="1800" b="0" i="0" dirty="0">
                <a:solidFill>
                  <a:srgbClr val="273239"/>
                </a:solidFill>
                <a:effectLst/>
                <a:latin typeface="Times New Roman" panose="02020603050405020304" pitchFamily="18" charset="0"/>
                <a:cs typeface="Times New Roman" panose="02020603050405020304" pitchFamily="18" charset="0"/>
              </a:rPr>
              <a:t>:</a:t>
            </a:r>
          </a:p>
          <a:p>
            <a:pPr lvl="1" algn="just" fontAlgn="base">
              <a:lnSpc>
                <a:spcPct val="100000"/>
              </a:lnSpc>
              <a:spcBef>
                <a:spcPts val="0"/>
              </a:spcBef>
            </a:pPr>
            <a:r>
              <a:rPr lang="en-GB" sz="1800" b="1" dirty="0">
                <a:solidFill>
                  <a:srgbClr val="273239"/>
                </a:solidFill>
                <a:latin typeface="Times New Roman" panose="02020603050405020304" pitchFamily="18" charset="0"/>
                <a:cs typeface="Times New Roman" panose="02020603050405020304" pitchFamily="18" charset="0"/>
              </a:rPr>
              <a:t>Responsibilities</a:t>
            </a:r>
            <a:r>
              <a:rPr lang="en-GB" sz="1800" dirty="0">
                <a:solidFill>
                  <a:srgbClr val="273239"/>
                </a:solidFill>
                <a:latin typeface="Times New Roman" panose="02020603050405020304" pitchFamily="18" charset="0"/>
                <a:cs typeface="Times New Roman" panose="02020603050405020304" pitchFamily="18" charset="0"/>
              </a:rPr>
              <a:t>: Collecting, cleaning, and </a:t>
            </a:r>
            <a:r>
              <a:rPr lang="en-GB" sz="1800" dirty="0" err="1">
                <a:solidFill>
                  <a:srgbClr val="273239"/>
                </a:solidFill>
                <a:latin typeface="Times New Roman" panose="02020603050405020304" pitchFamily="18" charset="0"/>
                <a:cs typeface="Times New Roman" panose="02020603050405020304" pitchFamily="18" charset="0"/>
              </a:rPr>
              <a:t>analyzing</a:t>
            </a:r>
            <a:r>
              <a:rPr lang="en-GB" sz="1800" dirty="0">
                <a:solidFill>
                  <a:srgbClr val="273239"/>
                </a:solidFill>
                <a:latin typeface="Times New Roman" panose="02020603050405020304" pitchFamily="18" charset="0"/>
                <a:cs typeface="Times New Roman" panose="02020603050405020304" pitchFamily="18" charset="0"/>
              </a:rPr>
              <a:t> data to identify trends, patterns, and insights. Often involves creating reports and dashboards to communicate findings to stakeholders.</a:t>
            </a:r>
          </a:p>
          <a:p>
            <a:pPr lvl="1" algn="just" fontAlgn="base">
              <a:lnSpc>
                <a:spcPct val="100000"/>
              </a:lnSpc>
              <a:spcBef>
                <a:spcPts val="0"/>
              </a:spcBef>
            </a:pPr>
            <a:endParaRPr lang="en-GB" sz="1800" dirty="0">
              <a:solidFill>
                <a:srgbClr val="273239"/>
              </a:solidFill>
              <a:latin typeface="Times New Roman" panose="02020603050405020304" pitchFamily="18" charset="0"/>
              <a:cs typeface="Times New Roman" panose="02020603050405020304" pitchFamily="18" charset="0"/>
            </a:endParaRPr>
          </a:p>
          <a:p>
            <a:pPr lvl="1" algn="just" fontAlgn="base">
              <a:lnSpc>
                <a:spcPct val="100000"/>
              </a:lnSpc>
              <a:spcBef>
                <a:spcPts val="0"/>
              </a:spcBef>
            </a:pPr>
            <a:r>
              <a:rPr lang="en-GB" sz="1800" b="1" dirty="0">
                <a:solidFill>
                  <a:srgbClr val="273239"/>
                </a:solidFill>
                <a:latin typeface="Times New Roman" panose="02020603050405020304" pitchFamily="18" charset="0"/>
                <a:cs typeface="Times New Roman" panose="02020603050405020304" pitchFamily="18" charset="0"/>
              </a:rPr>
              <a:t>Skills</a:t>
            </a:r>
            <a:r>
              <a:rPr lang="en-GB" sz="1800" dirty="0">
                <a:solidFill>
                  <a:srgbClr val="273239"/>
                </a:solidFill>
                <a:latin typeface="Times New Roman" panose="02020603050405020304" pitchFamily="18" charset="0"/>
                <a:cs typeface="Times New Roman" panose="02020603050405020304" pitchFamily="18" charset="0"/>
              </a:rPr>
              <a:t>: Strong proficiency in SQL for data querying, experience with data visualization tools like Tableau or Power BI, basic statistical </a:t>
            </a:r>
            <a:r>
              <a:rPr lang="en-GB" sz="1800" b="0" i="0" dirty="0">
                <a:solidFill>
                  <a:srgbClr val="273239"/>
                </a:solidFill>
                <a:effectLst/>
                <a:latin typeface="Times New Roman" panose="02020603050405020304" pitchFamily="18" charset="0"/>
                <a:cs typeface="Times New Roman" panose="02020603050405020304" pitchFamily="18" charset="0"/>
              </a:rPr>
              <a:t>knowledge, and familiarity with Excel or Google Sheets.</a:t>
            </a:r>
          </a:p>
          <a:p>
            <a:pPr marL="0" indent="0" algn="just" fontAlgn="base">
              <a:lnSpc>
                <a:spcPct val="100000"/>
              </a:lnSpc>
              <a:spcBef>
                <a:spcPts val="0"/>
              </a:spcBef>
              <a:buNone/>
            </a:pPr>
            <a:r>
              <a:rPr lang="en-GB" sz="1800" b="1" i="0" dirty="0">
                <a:solidFill>
                  <a:srgbClr val="273239"/>
                </a:solidFill>
                <a:effectLst/>
                <a:latin typeface="Times New Roman" panose="02020603050405020304" pitchFamily="18" charset="0"/>
                <a:cs typeface="Times New Roman" panose="02020603050405020304" pitchFamily="18" charset="0"/>
              </a:rPr>
              <a:t>Machine Learning Engineer</a:t>
            </a:r>
            <a:r>
              <a:rPr lang="en-GB" sz="1800" b="0" i="0" dirty="0">
                <a:solidFill>
                  <a:srgbClr val="273239"/>
                </a:solidFill>
                <a:effectLst/>
                <a:latin typeface="Times New Roman" panose="02020603050405020304" pitchFamily="18" charset="0"/>
                <a:cs typeface="Times New Roman" panose="02020603050405020304" pitchFamily="18" charset="0"/>
              </a:rPr>
              <a:t>:</a:t>
            </a:r>
          </a:p>
          <a:p>
            <a:pPr lvl="1" algn="just" fontAlgn="base">
              <a:lnSpc>
                <a:spcPct val="100000"/>
              </a:lnSpc>
              <a:spcBef>
                <a:spcPts val="0"/>
              </a:spcBef>
            </a:pPr>
            <a:r>
              <a:rPr lang="en-GB" sz="1800" b="1" i="0" dirty="0">
                <a:solidFill>
                  <a:srgbClr val="273239"/>
                </a:solidFill>
                <a:effectLst/>
                <a:latin typeface="Times New Roman" panose="02020603050405020304" pitchFamily="18" charset="0"/>
                <a:cs typeface="Times New Roman" panose="02020603050405020304" pitchFamily="18" charset="0"/>
              </a:rPr>
              <a:t>Responsibilities</a:t>
            </a:r>
            <a:r>
              <a:rPr lang="en-GB" sz="1800" b="0" i="0" dirty="0">
                <a:solidFill>
                  <a:srgbClr val="273239"/>
                </a:solidFill>
                <a:effectLst/>
                <a:latin typeface="Times New Roman" panose="02020603050405020304" pitchFamily="18" charset="0"/>
                <a:cs typeface="Times New Roman" panose="02020603050405020304" pitchFamily="18" charset="0"/>
              </a:rPr>
              <a:t>: Building and deploying machine learning models at scale, optimizing model performance, and integrating them into production systems.</a:t>
            </a:r>
          </a:p>
          <a:p>
            <a:pPr lvl="1" algn="just" fontAlgn="base">
              <a:lnSpc>
                <a:spcPct val="100000"/>
              </a:lnSpc>
              <a:spcBef>
                <a:spcPts val="0"/>
              </a:spcBef>
            </a:pPr>
            <a:endParaRPr lang="en-GB" sz="1800" b="0" i="0" dirty="0">
              <a:solidFill>
                <a:srgbClr val="273239"/>
              </a:solidFill>
              <a:effectLst/>
              <a:latin typeface="Times New Roman" panose="02020603050405020304" pitchFamily="18" charset="0"/>
              <a:cs typeface="Times New Roman" panose="02020603050405020304" pitchFamily="18" charset="0"/>
            </a:endParaRPr>
          </a:p>
          <a:p>
            <a:pPr lvl="1" algn="just" fontAlgn="base">
              <a:lnSpc>
                <a:spcPct val="100000"/>
              </a:lnSpc>
              <a:spcBef>
                <a:spcPts val="0"/>
              </a:spcBef>
            </a:pPr>
            <a:r>
              <a:rPr lang="en-GB" sz="1800" b="1" i="0" dirty="0">
                <a:solidFill>
                  <a:srgbClr val="273239"/>
                </a:solidFill>
                <a:effectLst/>
                <a:latin typeface="Times New Roman" panose="02020603050405020304" pitchFamily="18" charset="0"/>
                <a:cs typeface="Times New Roman" panose="02020603050405020304" pitchFamily="18" charset="0"/>
              </a:rPr>
              <a:t>Skills</a:t>
            </a:r>
            <a:r>
              <a:rPr lang="en-GB" sz="1800" b="0" i="0" dirty="0">
                <a:solidFill>
                  <a:srgbClr val="273239"/>
                </a:solidFill>
                <a:effectLst/>
                <a:latin typeface="Times New Roman" panose="02020603050405020304" pitchFamily="18" charset="0"/>
                <a:cs typeface="Times New Roman" panose="02020603050405020304" pitchFamily="18" charset="0"/>
              </a:rPr>
              <a:t>: Proficiency in programming languages like Python or Java, experience with machine learning frameworks like TensorFlow or </a:t>
            </a:r>
            <a:r>
              <a:rPr lang="en-GB" sz="1800" b="0" i="0" dirty="0" err="1">
                <a:solidFill>
                  <a:srgbClr val="273239"/>
                </a:solidFill>
                <a:effectLst/>
                <a:latin typeface="Times New Roman" panose="02020603050405020304" pitchFamily="18" charset="0"/>
                <a:cs typeface="Times New Roman" panose="02020603050405020304" pitchFamily="18" charset="0"/>
              </a:rPr>
              <a:t>PyTorch</a:t>
            </a:r>
            <a:r>
              <a:rPr lang="en-GB" sz="1800" b="0" i="0" dirty="0">
                <a:solidFill>
                  <a:srgbClr val="273239"/>
                </a:solidFill>
                <a:effectLst/>
                <a:latin typeface="Times New Roman" panose="02020603050405020304" pitchFamily="18" charset="0"/>
                <a:cs typeface="Times New Roman" panose="02020603050405020304" pitchFamily="18" charset="0"/>
              </a:rPr>
              <a:t>, knowledge of cloud platforms like AWS or Azure, and software engineering skills for developing scalable solutions.</a:t>
            </a:r>
          </a:p>
        </p:txBody>
      </p:sp>
    </p:spTree>
    <p:extLst>
      <p:ext uri="{BB962C8B-B14F-4D97-AF65-F5344CB8AC3E}">
        <p14:creationId xmlns:p14="http://schemas.microsoft.com/office/powerpoint/2010/main" val="1425064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8C586-2C0B-1017-2A9C-E07491107F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DE342C-BC29-7AB8-DE5B-621B81DBD490}"/>
              </a:ext>
            </a:extLst>
          </p:cNvPr>
          <p:cNvSpPr>
            <a:spLocks noGrp="1"/>
          </p:cNvSpPr>
          <p:nvPr>
            <p:ph idx="1"/>
          </p:nvPr>
        </p:nvSpPr>
        <p:spPr>
          <a:xfrm>
            <a:off x="132080" y="152400"/>
            <a:ext cx="11927840" cy="6532880"/>
          </a:xfrm>
        </p:spPr>
        <p:txBody>
          <a:bodyPr>
            <a:normAutofit/>
          </a:bodyPr>
          <a:lstStyle/>
          <a:p>
            <a:pPr marL="0" indent="0" algn="l" fontAlgn="base">
              <a:lnSpc>
                <a:spcPct val="100000"/>
              </a:lnSpc>
              <a:spcBef>
                <a:spcPts val="0"/>
              </a:spcBef>
              <a:buNone/>
            </a:pPr>
            <a:r>
              <a:rPr lang="en-GB" sz="1800" b="1" i="0" dirty="0">
                <a:solidFill>
                  <a:srgbClr val="273239"/>
                </a:solidFill>
                <a:effectLst/>
                <a:latin typeface="Times New Roman" panose="02020603050405020304" pitchFamily="18" charset="0"/>
                <a:cs typeface="Times New Roman" panose="02020603050405020304" pitchFamily="18" charset="0"/>
              </a:rPr>
              <a:t>Data Engineer</a:t>
            </a:r>
            <a:r>
              <a:rPr lang="en-GB" sz="1800" b="0" i="0" dirty="0">
                <a:solidFill>
                  <a:srgbClr val="273239"/>
                </a:solidFill>
                <a:effectLst/>
                <a:latin typeface="Times New Roman" panose="02020603050405020304" pitchFamily="18" charset="0"/>
                <a:cs typeface="Times New Roman" panose="02020603050405020304" pitchFamily="18" charset="0"/>
              </a:rPr>
              <a:t>:</a:t>
            </a:r>
          </a:p>
          <a:p>
            <a:pPr lvl="1" fontAlgn="base">
              <a:lnSpc>
                <a:spcPct val="100000"/>
              </a:lnSpc>
              <a:spcBef>
                <a:spcPts val="0"/>
              </a:spcBef>
            </a:pPr>
            <a:r>
              <a:rPr lang="en-GB" sz="1800" b="1" i="0" dirty="0">
                <a:solidFill>
                  <a:srgbClr val="273239"/>
                </a:solidFill>
                <a:effectLst/>
                <a:latin typeface="Times New Roman" panose="02020603050405020304" pitchFamily="18" charset="0"/>
                <a:cs typeface="Times New Roman" panose="02020603050405020304" pitchFamily="18" charset="0"/>
              </a:rPr>
              <a:t>Responsibilities</a:t>
            </a:r>
            <a:r>
              <a:rPr lang="en-GB" sz="1800" b="0" i="0" dirty="0">
                <a:solidFill>
                  <a:srgbClr val="273239"/>
                </a:solidFill>
                <a:effectLst/>
                <a:latin typeface="Times New Roman" panose="02020603050405020304" pitchFamily="18" charset="0"/>
                <a:cs typeface="Times New Roman" panose="02020603050405020304" pitchFamily="18" charset="0"/>
              </a:rPr>
              <a:t>: Designing and building data pipelines to collect, transform, and store large volumes of data. Ensuring data quality, reliability, and scalability.</a:t>
            </a:r>
          </a:p>
          <a:p>
            <a:pPr lvl="1" fontAlgn="base">
              <a:lnSpc>
                <a:spcPct val="100000"/>
              </a:lnSpc>
              <a:spcBef>
                <a:spcPts val="0"/>
              </a:spcBef>
            </a:pPr>
            <a:endParaRPr lang="en-GB" sz="1800" b="0" i="0" dirty="0">
              <a:solidFill>
                <a:srgbClr val="273239"/>
              </a:solidFill>
              <a:effectLst/>
              <a:latin typeface="Times New Roman" panose="02020603050405020304" pitchFamily="18" charset="0"/>
              <a:cs typeface="Times New Roman" panose="02020603050405020304" pitchFamily="18" charset="0"/>
            </a:endParaRPr>
          </a:p>
          <a:p>
            <a:pPr lvl="1" fontAlgn="base">
              <a:lnSpc>
                <a:spcPct val="100000"/>
              </a:lnSpc>
              <a:spcBef>
                <a:spcPts val="0"/>
              </a:spcBef>
            </a:pPr>
            <a:r>
              <a:rPr lang="en-GB" sz="1800" b="1" i="0" dirty="0">
                <a:solidFill>
                  <a:srgbClr val="273239"/>
                </a:solidFill>
                <a:effectLst/>
                <a:latin typeface="Times New Roman" panose="02020603050405020304" pitchFamily="18" charset="0"/>
                <a:cs typeface="Times New Roman" panose="02020603050405020304" pitchFamily="18" charset="0"/>
              </a:rPr>
              <a:t>Skills</a:t>
            </a:r>
            <a:r>
              <a:rPr lang="en-GB" sz="1800" b="0" i="0" dirty="0">
                <a:solidFill>
                  <a:srgbClr val="273239"/>
                </a:solidFill>
                <a:effectLst/>
                <a:latin typeface="Times New Roman" panose="02020603050405020304" pitchFamily="18" charset="0"/>
                <a:cs typeface="Times New Roman" panose="02020603050405020304" pitchFamily="18" charset="0"/>
              </a:rPr>
              <a:t>: Expertise in database systems like SQL and NoSQL, proficiency in programming languages like Python or Java, experience with big data technologies like Hadoop or Spark, and knowledge of data warehousing concepts.</a:t>
            </a:r>
          </a:p>
          <a:p>
            <a:pPr marL="0" indent="0" algn="l" fontAlgn="base">
              <a:lnSpc>
                <a:spcPct val="100000"/>
              </a:lnSpc>
              <a:buNone/>
            </a:pPr>
            <a:r>
              <a:rPr lang="en-GB" sz="1800" b="1" i="0" dirty="0">
                <a:solidFill>
                  <a:srgbClr val="273239"/>
                </a:solidFill>
                <a:effectLst/>
                <a:latin typeface="Times New Roman" panose="02020603050405020304" pitchFamily="18" charset="0"/>
                <a:cs typeface="Times New Roman" panose="02020603050405020304" pitchFamily="18" charset="0"/>
              </a:rPr>
              <a:t>Business Intelligence (BI) Analyst</a:t>
            </a:r>
            <a:r>
              <a:rPr lang="en-GB" sz="1800" b="0" i="0" dirty="0">
                <a:solidFill>
                  <a:srgbClr val="273239"/>
                </a:solidFill>
                <a:effectLst/>
                <a:latin typeface="Times New Roman" panose="02020603050405020304" pitchFamily="18" charset="0"/>
                <a:cs typeface="Times New Roman" panose="02020603050405020304" pitchFamily="18" charset="0"/>
              </a:rPr>
              <a:t>:</a:t>
            </a:r>
          </a:p>
          <a:p>
            <a:pPr lvl="1" fontAlgn="base">
              <a:lnSpc>
                <a:spcPct val="100000"/>
              </a:lnSpc>
            </a:pPr>
            <a:r>
              <a:rPr lang="en-GB" sz="1800" b="1" i="0" dirty="0">
                <a:solidFill>
                  <a:srgbClr val="273239"/>
                </a:solidFill>
                <a:effectLst/>
                <a:latin typeface="Times New Roman" panose="02020603050405020304" pitchFamily="18" charset="0"/>
                <a:cs typeface="Times New Roman" panose="02020603050405020304" pitchFamily="18" charset="0"/>
              </a:rPr>
              <a:t>Responsibilities</a:t>
            </a:r>
            <a:r>
              <a:rPr lang="en-GB" sz="1800" b="0" i="0" dirty="0">
                <a:solidFill>
                  <a:srgbClr val="273239"/>
                </a:solidFill>
                <a:effectLst/>
                <a:latin typeface="Times New Roman" panose="02020603050405020304" pitchFamily="18" charset="0"/>
                <a:cs typeface="Times New Roman" panose="02020603050405020304" pitchFamily="18" charset="0"/>
              </a:rPr>
              <a:t>: Gathering requirements from business stakeholders, designing and developing BI reports and dashboards, and providing data-driven insights to support strategic decision-making.</a:t>
            </a:r>
          </a:p>
          <a:p>
            <a:pPr lvl="1" fontAlgn="base">
              <a:lnSpc>
                <a:spcPct val="100000"/>
              </a:lnSpc>
            </a:pPr>
            <a:endParaRPr lang="en-GB" sz="1800" b="0" i="0" dirty="0">
              <a:solidFill>
                <a:srgbClr val="273239"/>
              </a:solidFill>
              <a:effectLst/>
              <a:latin typeface="Times New Roman" panose="02020603050405020304" pitchFamily="18" charset="0"/>
              <a:cs typeface="Times New Roman" panose="02020603050405020304" pitchFamily="18" charset="0"/>
            </a:endParaRPr>
          </a:p>
          <a:p>
            <a:pPr lvl="1" fontAlgn="base">
              <a:lnSpc>
                <a:spcPct val="100000"/>
              </a:lnSpc>
            </a:pPr>
            <a:r>
              <a:rPr lang="en-GB" sz="1800" b="1" i="0" dirty="0">
                <a:solidFill>
                  <a:srgbClr val="273239"/>
                </a:solidFill>
                <a:effectLst/>
                <a:latin typeface="Times New Roman" panose="02020603050405020304" pitchFamily="18" charset="0"/>
                <a:cs typeface="Times New Roman" panose="02020603050405020304" pitchFamily="18" charset="0"/>
              </a:rPr>
              <a:t>Skills</a:t>
            </a:r>
            <a:r>
              <a:rPr lang="en-GB" sz="1800" b="0" i="0" dirty="0">
                <a:solidFill>
                  <a:srgbClr val="273239"/>
                </a:solidFill>
                <a:effectLst/>
                <a:latin typeface="Times New Roman" panose="02020603050405020304" pitchFamily="18" charset="0"/>
                <a:cs typeface="Times New Roman" panose="02020603050405020304" pitchFamily="18" charset="0"/>
              </a:rPr>
              <a:t>: Proficiency in BI tools like Tableau, Power BI, or Looker, strong SQL skills for data querying, understanding of data visualization principles, and ability to translate business needs into technical solutions.</a:t>
            </a:r>
          </a:p>
          <a:p>
            <a:pPr marL="0" indent="0" algn="l" fontAlgn="base">
              <a:lnSpc>
                <a:spcPct val="100000"/>
              </a:lnSpc>
              <a:spcBef>
                <a:spcPts val="0"/>
              </a:spcBef>
              <a:buNone/>
            </a:pPr>
            <a:r>
              <a:rPr lang="en-GB" sz="1800" b="1" i="0" dirty="0">
                <a:solidFill>
                  <a:srgbClr val="273239"/>
                </a:solidFill>
                <a:effectLst/>
                <a:latin typeface="Times New Roman" panose="02020603050405020304" pitchFamily="18" charset="0"/>
                <a:cs typeface="Times New Roman" panose="02020603050405020304" pitchFamily="18" charset="0"/>
              </a:rPr>
              <a:t>Data Architect</a:t>
            </a:r>
            <a:r>
              <a:rPr lang="en-GB" sz="1800" b="0" i="0" dirty="0">
                <a:solidFill>
                  <a:srgbClr val="273239"/>
                </a:solidFill>
                <a:effectLst/>
                <a:latin typeface="Times New Roman" panose="02020603050405020304" pitchFamily="18" charset="0"/>
                <a:cs typeface="Times New Roman" panose="02020603050405020304" pitchFamily="18" charset="0"/>
              </a:rPr>
              <a:t>:</a:t>
            </a:r>
          </a:p>
          <a:p>
            <a:pPr lvl="1" fontAlgn="base">
              <a:lnSpc>
                <a:spcPct val="100000"/>
              </a:lnSpc>
              <a:spcBef>
                <a:spcPts val="0"/>
              </a:spcBef>
            </a:pPr>
            <a:r>
              <a:rPr lang="en-GB" sz="1800" b="1" i="0" dirty="0">
                <a:solidFill>
                  <a:srgbClr val="273239"/>
                </a:solidFill>
                <a:effectLst/>
                <a:latin typeface="Times New Roman" panose="02020603050405020304" pitchFamily="18" charset="0"/>
                <a:cs typeface="Times New Roman" panose="02020603050405020304" pitchFamily="18" charset="0"/>
              </a:rPr>
              <a:t>Responsibilities</a:t>
            </a:r>
            <a:r>
              <a:rPr lang="en-GB" sz="1800" b="0" i="0" dirty="0">
                <a:solidFill>
                  <a:srgbClr val="273239"/>
                </a:solidFill>
                <a:effectLst/>
                <a:latin typeface="Times New Roman" panose="02020603050405020304" pitchFamily="18" charset="0"/>
                <a:cs typeface="Times New Roman" panose="02020603050405020304" pitchFamily="18" charset="0"/>
              </a:rPr>
              <a:t>: Designing the overall structure of data systems, including databases, data lakes, and data warehouses. Defining data models, schemas, and data governance policies.</a:t>
            </a:r>
          </a:p>
          <a:p>
            <a:pPr lvl="1" fontAlgn="base">
              <a:lnSpc>
                <a:spcPct val="100000"/>
              </a:lnSpc>
              <a:spcBef>
                <a:spcPts val="0"/>
              </a:spcBef>
            </a:pPr>
            <a:endParaRPr lang="en-GB" sz="1800" b="0" i="0" dirty="0">
              <a:solidFill>
                <a:srgbClr val="273239"/>
              </a:solidFill>
              <a:effectLst/>
              <a:latin typeface="Times New Roman" panose="02020603050405020304" pitchFamily="18" charset="0"/>
              <a:cs typeface="Times New Roman" panose="02020603050405020304" pitchFamily="18" charset="0"/>
            </a:endParaRPr>
          </a:p>
          <a:p>
            <a:pPr lvl="1" fontAlgn="base">
              <a:lnSpc>
                <a:spcPct val="100000"/>
              </a:lnSpc>
              <a:spcBef>
                <a:spcPts val="0"/>
              </a:spcBef>
            </a:pPr>
            <a:r>
              <a:rPr lang="en-GB" sz="1800" b="1" i="0" dirty="0">
                <a:solidFill>
                  <a:srgbClr val="273239"/>
                </a:solidFill>
                <a:effectLst/>
                <a:latin typeface="Times New Roman" panose="02020603050405020304" pitchFamily="18" charset="0"/>
                <a:cs typeface="Times New Roman" panose="02020603050405020304" pitchFamily="18" charset="0"/>
              </a:rPr>
              <a:t>Skills</a:t>
            </a:r>
            <a:r>
              <a:rPr lang="en-GB" sz="1800" b="0" i="0" dirty="0">
                <a:solidFill>
                  <a:srgbClr val="273239"/>
                </a:solidFill>
                <a:effectLst/>
                <a:latin typeface="Times New Roman" panose="02020603050405020304" pitchFamily="18" charset="0"/>
                <a:cs typeface="Times New Roman" panose="02020603050405020304" pitchFamily="18" charset="0"/>
              </a:rPr>
              <a:t>: Deep understanding of database technologies and architectures, experience with data </a:t>
            </a:r>
            <a:r>
              <a:rPr lang="en-GB" sz="1800" b="0" i="0" dirty="0" err="1">
                <a:solidFill>
                  <a:srgbClr val="273239"/>
                </a:solidFill>
                <a:effectLst/>
                <a:latin typeface="Times New Roman" panose="02020603050405020304" pitchFamily="18" charset="0"/>
                <a:cs typeface="Times New Roman" panose="02020603050405020304" pitchFamily="18" charset="0"/>
              </a:rPr>
              <a:t>modeling</a:t>
            </a:r>
            <a:r>
              <a:rPr lang="en-GB" sz="1800" b="0" i="0" dirty="0">
                <a:solidFill>
                  <a:srgbClr val="273239"/>
                </a:solidFill>
                <a:effectLst/>
                <a:latin typeface="Times New Roman" panose="02020603050405020304" pitchFamily="18" charset="0"/>
                <a:cs typeface="Times New Roman" panose="02020603050405020304" pitchFamily="18" charset="0"/>
              </a:rPr>
              <a:t> tools like </a:t>
            </a:r>
            <a:r>
              <a:rPr lang="en-GB" sz="1800" b="0" i="0" dirty="0" err="1">
                <a:solidFill>
                  <a:srgbClr val="273239"/>
                </a:solidFill>
                <a:effectLst/>
                <a:latin typeface="Times New Roman" panose="02020603050405020304" pitchFamily="18" charset="0"/>
                <a:cs typeface="Times New Roman" panose="02020603050405020304" pitchFamily="18" charset="0"/>
              </a:rPr>
              <a:t>ERWin</a:t>
            </a:r>
            <a:r>
              <a:rPr lang="en-GB" sz="1800" b="0" i="0" dirty="0">
                <a:solidFill>
                  <a:srgbClr val="273239"/>
                </a:solidFill>
                <a:effectLst/>
                <a:latin typeface="Times New Roman" panose="02020603050405020304" pitchFamily="18" charset="0"/>
                <a:cs typeface="Times New Roman" panose="02020603050405020304" pitchFamily="18" charset="0"/>
              </a:rPr>
              <a:t> (Erwin Data Modeler (stylized as </a:t>
            </a:r>
            <a:r>
              <a:rPr lang="en-GB" sz="1800" b="0" i="0" dirty="0" err="1">
                <a:solidFill>
                  <a:srgbClr val="273239"/>
                </a:solidFill>
                <a:effectLst/>
                <a:latin typeface="Times New Roman" panose="02020603050405020304" pitchFamily="18" charset="0"/>
                <a:cs typeface="Times New Roman" panose="02020603050405020304" pitchFamily="18" charset="0"/>
              </a:rPr>
              <a:t>erwin</a:t>
            </a:r>
            <a:r>
              <a:rPr lang="en-GB" sz="1800" b="0" i="0" dirty="0">
                <a:solidFill>
                  <a:srgbClr val="273239"/>
                </a:solidFill>
                <a:effectLst/>
                <a:latin typeface="Times New Roman" panose="02020603050405020304" pitchFamily="18" charset="0"/>
                <a:cs typeface="Times New Roman" panose="02020603050405020304" pitchFamily="18" charset="0"/>
              </a:rPr>
              <a:t> but formerly as </a:t>
            </a:r>
            <a:r>
              <a:rPr lang="en-GB" sz="1800" b="0" i="0" dirty="0" err="1">
                <a:solidFill>
                  <a:srgbClr val="273239"/>
                </a:solidFill>
                <a:effectLst/>
                <a:latin typeface="Times New Roman" panose="02020603050405020304" pitchFamily="18" charset="0"/>
                <a:cs typeface="Times New Roman" panose="02020603050405020304" pitchFamily="18" charset="0"/>
              </a:rPr>
              <a:t>ERwin</a:t>
            </a:r>
            <a:r>
              <a:rPr lang="en-GB" sz="1800" b="0" i="0" dirty="0">
                <a:solidFill>
                  <a:srgbClr val="273239"/>
                </a:solidFill>
                <a:effectLst/>
                <a:latin typeface="Times New Roman" panose="02020603050405020304" pitchFamily="18" charset="0"/>
                <a:cs typeface="Times New Roman" panose="02020603050405020304" pitchFamily="18" charset="0"/>
              </a:rPr>
              <a:t>) is computer software for data </a:t>
            </a:r>
            <a:r>
              <a:rPr lang="en-GB" sz="1800" b="0" i="0" dirty="0" err="1">
                <a:solidFill>
                  <a:srgbClr val="273239"/>
                </a:solidFill>
                <a:effectLst/>
                <a:latin typeface="Times New Roman" panose="02020603050405020304" pitchFamily="18" charset="0"/>
                <a:cs typeface="Times New Roman" panose="02020603050405020304" pitchFamily="18" charset="0"/>
              </a:rPr>
              <a:t>modeling</a:t>
            </a:r>
            <a:r>
              <a:rPr lang="en-GB" sz="1800" b="0" i="0" dirty="0">
                <a:solidFill>
                  <a:srgbClr val="273239"/>
                </a:solidFill>
                <a:effectLst/>
                <a:latin typeface="Times New Roman" panose="02020603050405020304" pitchFamily="18" charset="0"/>
                <a:cs typeface="Times New Roman" panose="02020603050405020304" pitchFamily="18" charset="0"/>
              </a:rPr>
              <a:t>.) or Visio, knowledge of data integration techniques, and familiarity with data security and compliance regulations.</a:t>
            </a:r>
          </a:p>
          <a:p>
            <a:pPr marL="0" indent="0">
              <a:lnSpc>
                <a:spcPct val="100000"/>
              </a:lnSpc>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425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E8BA5-BF59-4EEE-A502-D41ADC16CE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9FC677-1423-3B85-682F-7F77A36B35CD}"/>
              </a:ext>
            </a:extLst>
          </p:cNvPr>
          <p:cNvSpPr>
            <a:spLocks noGrp="1"/>
          </p:cNvSpPr>
          <p:nvPr>
            <p:ph idx="1"/>
          </p:nvPr>
        </p:nvSpPr>
        <p:spPr>
          <a:xfrm>
            <a:off x="132080" y="152400"/>
            <a:ext cx="11927840" cy="6532880"/>
          </a:xfrm>
        </p:spPr>
        <p:txBody>
          <a:bodyPr>
            <a:normAutofit/>
          </a:bodyPr>
          <a:lstStyle/>
          <a:p>
            <a:pPr marL="0" indent="0" algn="just">
              <a:buNone/>
            </a:pPr>
            <a:r>
              <a:rPr lang="en-GB" sz="2400" b="1" dirty="0">
                <a:latin typeface="Times New Roman" panose="02020603050405020304" pitchFamily="18" charset="0"/>
                <a:cs typeface="Times New Roman" panose="02020603050405020304" pitchFamily="18" charset="0"/>
              </a:rPr>
              <a:t>Applications of Data Science:</a:t>
            </a:r>
          </a:p>
          <a:p>
            <a:pPr marL="0" indent="0" algn="just">
              <a:buNone/>
            </a:pPr>
            <a:r>
              <a:rPr lang="en-GB" sz="2400" dirty="0">
                <a:latin typeface="Times New Roman" panose="02020603050405020304" pitchFamily="18" charset="0"/>
                <a:cs typeface="Times New Roman" panose="02020603050405020304" pitchFamily="18" charset="0"/>
              </a:rPr>
              <a:t>Data science has broad applications across industries, including:</a:t>
            </a:r>
          </a:p>
          <a:p>
            <a:pPr algn="just">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Healthcare</a:t>
            </a:r>
            <a:r>
              <a:rPr lang="en-GB" sz="2400" dirty="0">
                <a:latin typeface="Times New Roman" panose="02020603050405020304" pitchFamily="18" charset="0"/>
                <a:cs typeface="Times New Roman" panose="02020603050405020304" pitchFamily="18" charset="0"/>
              </a:rPr>
              <a:t>: Diagnosing diseases, predicting patient outcomes, and personalizing treatment plans.</a:t>
            </a:r>
          </a:p>
          <a:p>
            <a:pPr algn="just">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Finance</a:t>
            </a:r>
            <a:r>
              <a:rPr lang="en-GB" sz="2400" dirty="0">
                <a:latin typeface="Times New Roman" panose="02020603050405020304" pitchFamily="18" charset="0"/>
                <a:cs typeface="Times New Roman" panose="02020603050405020304" pitchFamily="18" charset="0"/>
              </a:rPr>
              <a:t>: Risk modelling, fraud detection, and stock market analysis.</a:t>
            </a:r>
          </a:p>
          <a:p>
            <a:pPr algn="just">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Retail</a:t>
            </a:r>
            <a:r>
              <a:rPr lang="en-GB" sz="2400" dirty="0">
                <a:latin typeface="Times New Roman" panose="02020603050405020304" pitchFamily="18" charset="0"/>
                <a:cs typeface="Times New Roman" panose="02020603050405020304" pitchFamily="18" charset="0"/>
              </a:rPr>
              <a:t>: Recommendation systems, customer segmentation, and inventory management.</a:t>
            </a:r>
          </a:p>
          <a:p>
            <a:pPr algn="just">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Marketing</a:t>
            </a:r>
            <a:r>
              <a:rPr lang="en-GB" sz="2400" dirty="0">
                <a:latin typeface="Times New Roman" panose="02020603050405020304" pitchFamily="18" charset="0"/>
                <a:cs typeface="Times New Roman" panose="02020603050405020304" pitchFamily="18" charset="0"/>
              </a:rPr>
              <a:t>: Targeted advertising, campaign analysis, and customer sentiment analysis.</a:t>
            </a:r>
          </a:p>
          <a:p>
            <a:pPr algn="just">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Manufacturing</a:t>
            </a:r>
            <a:r>
              <a:rPr lang="en-GB" sz="2400" dirty="0">
                <a:latin typeface="Times New Roman" panose="02020603050405020304" pitchFamily="18" charset="0"/>
                <a:cs typeface="Times New Roman" panose="02020603050405020304" pitchFamily="18" charset="0"/>
              </a:rPr>
              <a:t>: Predictive maintenance and quality control.</a:t>
            </a:r>
          </a:p>
          <a:p>
            <a:pPr algn="just">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Transportation</a:t>
            </a:r>
            <a:r>
              <a:rPr lang="en-GB" sz="2400" dirty="0">
                <a:latin typeface="Times New Roman" panose="02020603050405020304" pitchFamily="18" charset="0"/>
                <a:cs typeface="Times New Roman" panose="02020603050405020304" pitchFamily="18" charset="0"/>
              </a:rPr>
              <a:t>: Route optimization and demand forecasting.</a:t>
            </a:r>
          </a:p>
          <a:p>
            <a:pPr algn="just">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Sports</a:t>
            </a:r>
            <a:r>
              <a:rPr lang="en-GB" sz="2400" dirty="0">
                <a:latin typeface="Times New Roman" panose="02020603050405020304" pitchFamily="18" charset="0"/>
                <a:cs typeface="Times New Roman" panose="02020603050405020304" pitchFamily="18" charset="0"/>
              </a:rPr>
              <a:t>: Player performance analysis and game strategy optimization.</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5417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F3030-44EB-154B-C0B6-293B102A4D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D25AE-F788-F209-6ED1-D190364995C2}"/>
              </a:ext>
            </a:extLst>
          </p:cNvPr>
          <p:cNvSpPr>
            <a:spLocks noGrp="1"/>
          </p:cNvSpPr>
          <p:nvPr>
            <p:ph idx="1"/>
          </p:nvPr>
        </p:nvSpPr>
        <p:spPr>
          <a:xfrm>
            <a:off x="132080" y="152400"/>
            <a:ext cx="11927840" cy="6532880"/>
          </a:xfrm>
        </p:spPr>
        <p:txBody>
          <a:bodyPr>
            <a:normAutofit/>
          </a:bodyPr>
          <a:lstStyle/>
          <a:p>
            <a:pPr marL="0" indent="0" algn="just">
              <a:buNone/>
            </a:pPr>
            <a:r>
              <a:rPr lang="en-GB" sz="2000" b="1" dirty="0">
                <a:latin typeface="Times New Roman" panose="02020603050405020304" pitchFamily="18" charset="0"/>
                <a:ea typeface="Tahoma" panose="020B0604030504040204" pitchFamily="34" charset="0"/>
                <a:cs typeface="Times New Roman" panose="02020603050405020304" pitchFamily="18" charset="0"/>
              </a:rPr>
              <a:t>Benefits of Data Science:</a:t>
            </a:r>
          </a:p>
          <a:p>
            <a:pPr algn="just">
              <a:buFont typeface="+mj-lt"/>
              <a:buAutoNum type="arabicPeriod"/>
            </a:pPr>
            <a:r>
              <a:rPr lang="en-GB" sz="2000" b="1" dirty="0">
                <a:latin typeface="Times New Roman" panose="02020603050405020304" pitchFamily="18" charset="0"/>
                <a:ea typeface="Tahoma" panose="020B0604030504040204" pitchFamily="34" charset="0"/>
                <a:cs typeface="Times New Roman" panose="02020603050405020304" pitchFamily="18" charset="0"/>
              </a:rPr>
              <a:t>Improved Decision Making</a:t>
            </a:r>
            <a:r>
              <a:rPr lang="en-GB" sz="2000" dirty="0">
                <a:latin typeface="Times New Roman" panose="02020603050405020304" pitchFamily="18" charset="0"/>
                <a:ea typeface="Tahoma" panose="020B0604030504040204" pitchFamily="34" charset="0"/>
                <a:cs typeface="Times New Roman" panose="02020603050405020304" pitchFamily="18" charset="0"/>
              </a:rPr>
              <a:t>:</a:t>
            </a:r>
          </a:p>
          <a:p>
            <a:pPr lvl="1" algn="just"/>
            <a:r>
              <a:rPr lang="en-GB" sz="2000" dirty="0">
                <a:latin typeface="Times New Roman" panose="02020603050405020304" pitchFamily="18" charset="0"/>
                <a:ea typeface="Tahoma" panose="020B0604030504040204" pitchFamily="34" charset="0"/>
                <a:cs typeface="Times New Roman" panose="02020603050405020304" pitchFamily="18" charset="0"/>
              </a:rPr>
              <a:t>Data science allows organizations to make better, data-driven decisions by </a:t>
            </a:r>
            <a:r>
              <a:rPr lang="en-GB" sz="2000" dirty="0" err="1">
                <a:latin typeface="Times New Roman" panose="02020603050405020304" pitchFamily="18" charset="0"/>
                <a:ea typeface="Tahoma" panose="020B0604030504040204" pitchFamily="34" charset="0"/>
                <a:cs typeface="Times New Roman" panose="02020603050405020304" pitchFamily="18" charset="0"/>
              </a:rPr>
              <a:t>analyzing</a:t>
            </a:r>
            <a:r>
              <a:rPr lang="en-GB" sz="2000" dirty="0">
                <a:latin typeface="Times New Roman" panose="02020603050405020304" pitchFamily="18" charset="0"/>
                <a:ea typeface="Tahoma" panose="020B0604030504040204" pitchFamily="34" charset="0"/>
                <a:cs typeface="Times New Roman" panose="02020603050405020304" pitchFamily="18" charset="0"/>
              </a:rPr>
              <a:t> large datasets. </a:t>
            </a:r>
          </a:p>
          <a:p>
            <a:pPr lvl="1" algn="just"/>
            <a:r>
              <a:rPr lang="en-GB" sz="2000" dirty="0">
                <a:latin typeface="Times New Roman" panose="02020603050405020304" pitchFamily="18" charset="0"/>
                <a:ea typeface="Tahoma" panose="020B0604030504040204" pitchFamily="34" charset="0"/>
                <a:cs typeface="Times New Roman" panose="02020603050405020304" pitchFamily="18" charset="0"/>
              </a:rPr>
              <a:t>This reduces reliance on intuition and helps provide evidence-based insights.</a:t>
            </a:r>
          </a:p>
          <a:p>
            <a:pPr algn="just">
              <a:buFont typeface="+mj-lt"/>
              <a:buAutoNum type="arabicPeriod"/>
            </a:pPr>
            <a:r>
              <a:rPr lang="en-GB" sz="2000" b="1" dirty="0">
                <a:latin typeface="Times New Roman" panose="02020603050405020304" pitchFamily="18" charset="0"/>
                <a:ea typeface="Tahoma" panose="020B0604030504040204" pitchFamily="34" charset="0"/>
                <a:cs typeface="Times New Roman" panose="02020603050405020304" pitchFamily="18" charset="0"/>
              </a:rPr>
              <a:t>Automation of Tasks</a:t>
            </a:r>
            <a:r>
              <a:rPr lang="en-GB" sz="2000" dirty="0">
                <a:latin typeface="Times New Roman" panose="02020603050405020304" pitchFamily="18" charset="0"/>
                <a:ea typeface="Tahoma" panose="020B0604030504040204" pitchFamily="34" charset="0"/>
                <a:cs typeface="Times New Roman" panose="02020603050405020304" pitchFamily="18" charset="0"/>
              </a:rPr>
              <a:t>:</a:t>
            </a:r>
          </a:p>
          <a:p>
            <a:pPr lvl="1" algn="just"/>
            <a:r>
              <a:rPr lang="en-GB" sz="2000" dirty="0">
                <a:latin typeface="Times New Roman" panose="02020603050405020304" pitchFamily="18" charset="0"/>
                <a:ea typeface="Tahoma" panose="020B0604030504040204" pitchFamily="34" charset="0"/>
                <a:cs typeface="Times New Roman" panose="02020603050405020304" pitchFamily="18" charset="0"/>
              </a:rPr>
              <a:t>Machine learning algorithms can automate repetitive and time-consuming tasks, leading to higher efficiency and productivity. </a:t>
            </a:r>
          </a:p>
          <a:p>
            <a:pPr lvl="1" algn="just"/>
            <a:r>
              <a:rPr lang="en-GB" sz="2000" dirty="0">
                <a:latin typeface="Times New Roman" panose="02020603050405020304" pitchFamily="18" charset="0"/>
                <a:ea typeface="Tahoma" panose="020B0604030504040204" pitchFamily="34" charset="0"/>
                <a:cs typeface="Times New Roman" panose="02020603050405020304" pitchFamily="18" charset="0"/>
              </a:rPr>
              <a:t>For example, automated data cleaning, classification, and prediction tasks.</a:t>
            </a:r>
          </a:p>
          <a:p>
            <a:pPr algn="just">
              <a:buFont typeface="+mj-lt"/>
              <a:buAutoNum type="arabicPeriod"/>
            </a:pPr>
            <a:r>
              <a:rPr lang="en-GB" sz="2000" b="1" dirty="0">
                <a:latin typeface="Times New Roman" panose="02020603050405020304" pitchFamily="18" charset="0"/>
                <a:ea typeface="Tahoma" panose="020B0604030504040204" pitchFamily="34" charset="0"/>
                <a:cs typeface="Times New Roman" panose="02020603050405020304" pitchFamily="18" charset="0"/>
              </a:rPr>
              <a:t>Predictive Analytics</a:t>
            </a:r>
            <a:r>
              <a:rPr lang="en-GB" sz="2000" dirty="0">
                <a:latin typeface="Times New Roman" panose="02020603050405020304" pitchFamily="18" charset="0"/>
                <a:ea typeface="Tahoma" panose="020B0604030504040204" pitchFamily="34" charset="0"/>
                <a:cs typeface="Times New Roman" panose="02020603050405020304" pitchFamily="18" charset="0"/>
              </a:rPr>
              <a:t>:</a:t>
            </a:r>
          </a:p>
          <a:p>
            <a:pPr lvl="1" algn="just"/>
            <a:r>
              <a:rPr lang="en-GB" sz="2000" dirty="0">
                <a:latin typeface="Times New Roman" panose="02020603050405020304" pitchFamily="18" charset="0"/>
                <a:ea typeface="Tahoma" panose="020B0604030504040204" pitchFamily="34" charset="0"/>
                <a:cs typeface="Times New Roman" panose="02020603050405020304" pitchFamily="18" charset="0"/>
              </a:rPr>
              <a:t>Data science enables businesses to predict future trends and </a:t>
            </a:r>
            <a:r>
              <a:rPr lang="en-GB" sz="2000" dirty="0" err="1">
                <a:latin typeface="Times New Roman" panose="02020603050405020304" pitchFamily="18" charset="0"/>
                <a:ea typeface="Tahoma" panose="020B0604030504040204" pitchFamily="34" charset="0"/>
                <a:cs typeface="Times New Roman" panose="02020603050405020304" pitchFamily="18" charset="0"/>
              </a:rPr>
              <a:t>behaviors</a:t>
            </a:r>
            <a:r>
              <a:rPr lang="en-GB" sz="2000" dirty="0">
                <a:latin typeface="Times New Roman" panose="02020603050405020304" pitchFamily="18" charset="0"/>
                <a:ea typeface="Tahoma" panose="020B0604030504040204" pitchFamily="34" charset="0"/>
                <a:cs typeface="Times New Roman" panose="02020603050405020304" pitchFamily="18" charset="0"/>
              </a:rPr>
              <a:t>. </a:t>
            </a:r>
          </a:p>
          <a:p>
            <a:pPr lvl="1" algn="just"/>
            <a:r>
              <a:rPr lang="en-GB" sz="2000" dirty="0">
                <a:latin typeface="Times New Roman" panose="02020603050405020304" pitchFamily="18" charset="0"/>
                <a:ea typeface="Tahoma" panose="020B0604030504040204" pitchFamily="34" charset="0"/>
                <a:cs typeface="Times New Roman" panose="02020603050405020304" pitchFamily="18" charset="0"/>
              </a:rPr>
              <a:t>For example, predicting customer churn, product demand, or stock market trends.</a:t>
            </a:r>
          </a:p>
          <a:p>
            <a:pPr algn="just">
              <a:buFont typeface="+mj-lt"/>
              <a:buAutoNum type="arabicPeriod"/>
            </a:pPr>
            <a:r>
              <a:rPr lang="en-GB" sz="2000" b="1" dirty="0">
                <a:latin typeface="Times New Roman" panose="02020603050405020304" pitchFamily="18" charset="0"/>
                <a:ea typeface="Tahoma" panose="020B0604030504040204" pitchFamily="34" charset="0"/>
                <a:cs typeface="Times New Roman" panose="02020603050405020304" pitchFamily="18" charset="0"/>
              </a:rPr>
              <a:t>Cost Efficiency</a:t>
            </a:r>
            <a:r>
              <a:rPr lang="en-GB" sz="2000" dirty="0">
                <a:latin typeface="Times New Roman" panose="02020603050405020304" pitchFamily="18" charset="0"/>
                <a:ea typeface="Tahoma" panose="020B0604030504040204" pitchFamily="34" charset="0"/>
                <a:cs typeface="Times New Roman" panose="02020603050405020304" pitchFamily="18" charset="0"/>
              </a:rPr>
              <a:t>:</a:t>
            </a:r>
          </a:p>
          <a:p>
            <a:pPr lvl="1" algn="just"/>
            <a:r>
              <a:rPr lang="en-GB" sz="2000" dirty="0">
                <a:latin typeface="Times New Roman" panose="02020603050405020304" pitchFamily="18" charset="0"/>
                <a:ea typeface="Tahoma" panose="020B0604030504040204" pitchFamily="34" charset="0"/>
                <a:cs typeface="Times New Roman" panose="02020603050405020304" pitchFamily="18" charset="0"/>
              </a:rPr>
              <a:t>By identifying inefficiencies and bottlenecks through data analysis, organizations can optimize resources and reduce operational costs.</a:t>
            </a:r>
          </a:p>
          <a:p>
            <a:pPr lvl="1" algn="just"/>
            <a:r>
              <a:rPr lang="en-GB" sz="2000" dirty="0">
                <a:latin typeface="Times New Roman" panose="02020603050405020304" pitchFamily="18" charset="0"/>
                <a:ea typeface="Tahoma" panose="020B0604030504040204" pitchFamily="34" charset="0"/>
                <a:cs typeface="Times New Roman" panose="02020603050405020304" pitchFamily="18" charset="0"/>
              </a:rPr>
              <a:t>For example, in finance, it is used for fraud detection and risk assessment.</a:t>
            </a:r>
          </a:p>
        </p:txBody>
      </p:sp>
    </p:spTree>
    <p:extLst>
      <p:ext uri="{BB962C8B-B14F-4D97-AF65-F5344CB8AC3E}">
        <p14:creationId xmlns:p14="http://schemas.microsoft.com/office/powerpoint/2010/main" val="3777990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7B06A-2523-14E5-215E-8AF0C11C10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C9CD78-40C8-CA6A-7005-7397ECAC1610}"/>
              </a:ext>
            </a:extLst>
          </p:cNvPr>
          <p:cNvSpPr>
            <a:spLocks noGrp="1"/>
          </p:cNvSpPr>
          <p:nvPr>
            <p:ph idx="1"/>
          </p:nvPr>
        </p:nvSpPr>
        <p:spPr>
          <a:xfrm>
            <a:off x="132080" y="152400"/>
            <a:ext cx="11927840" cy="6532880"/>
          </a:xfrm>
        </p:spPr>
        <p:txBody>
          <a:bodyPr>
            <a:normAutofit/>
          </a:bodyPr>
          <a:lstStyle/>
          <a:p>
            <a:pPr marL="457200" indent="-457200" algn="just">
              <a:buFont typeface="+mj-lt"/>
              <a:buAutoNum type="arabicPeriod" startAt="5"/>
            </a:pPr>
            <a:r>
              <a:rPr lang="en-GB" sz="2000" b="1" dirty="0">
                <a:latin typeface="Times New Roman" panose="02020603050405020304" pitchFamily="18" charset="0"/>
                <a:ea typeface="Tahoma" panose="020B0604030504040204" pitchFamily="34" charset="0"/>
                <a:cs typeface="Times New Roman" panose="02020603050405020304" pitchFamily="18" charset="0"/>
              </a:rPr>
              <a:t>Personalization</a:t>
            </a:r>
            <a:r>
              <a:rPr lang="en-GB" sz="2000" dirty="0">
                <a:latin typeface="Times New Roman" panose="02020603050405020304" pitchFamily="18" charset="0"/>
                <a:ea typeface="Tahoma" panose="020B0604030504040204" pitchFamily="34" charset="0"/>
                <a:cs typeface="Times New Roman" panose="02020603050405020304" pitchFamily="18" charset="0"/>
              </a:rPr>
              <a:t>:</a:t>
            </a:r>
          </a:p>
          <a:p>
            <a:pPr lvl="1" algn="just"/>
            <a:r>
              <a:rPr lang="en-GB" sz="2000" dirty="0">
                <a:latin typeface="Times New Roman" panose="02020603050405020304" pitchFamily="18" charset="0"/>
                <a:ea typeface="Tahoma" panose="020B0604030504040204" pitchFamily="34" charset="0"/>
                <a:cs typeface="Times New Roman" panose="02020603050405020304" pitchFamily="18" charset="0"/>
              </a:rPr>
              <a:t>Companies like Netflix and Amazon use data science to create personalized recommendations for users, improving user engagement and satisfaction.</a:t>
            </a:r>
          </a:p>
          <a:p>
            <a:pPr marL="457200" indent="-457200" algn="just">
              <a:buFont typeface="+mj-lt"/>
              <a:buAutoNum type="arabicPeriod" startAt="5"/>
            </a:pPr>
            <a:r>
              <a:rPr lang="en-GB" sz="2000" b="1" dirty="0">
                <a:latin typeface="Times New Roman" panose="02020603050405020304" pitchFamily="18" charset="0"/>
                <a:ea typeface="Tahoma" panose="020B0604030504040204" pitchFamily="34" charset="0"/>
                <a:cs typeface="Times New Roman" panose="02020603050405020304" pitchFamily="18" charset="0"/>
              </a:rPr>
              <a:t>Competitive Advantage</a:t>
            </a:r>
            <a:r>
              <a:rPr lang="en-GB" sz="2000" dirty="0">
                <a:latin typeface="Times New Roman" panose="02020603050405020304" pitchFamily="18" charset="0"/>
                <a:ea typeface="Tahoma" panose="020B0604030504040204" pitchFamily="34" charset="0"/>
                <a:cs typeface="Times New Roman" panose="02020603050405020304" pitchFamily="18" charset="0"/>
              </a:rPr>
              <a:t>:</a:t>
            </a:r>
          </a:p>
          <a:p>
            <a:pPr lvl="1" algn="just"/>
            <a:r>
              <a:rPr lang="en-GB" sz="2000" dirty="0">
                <a:latin typeface="Times New Roman" panose="02020603050405020304" pitchFamily="18" charset="0"/>
                <a:ea typeface="Tahoma" panose="020B0604030504040204" pitchFamily="34" charset="0"/>
                <a:cs typeface="Times New Roman" panose="02020603050405020304" pitchFamily="18" charset="0"/>
              </a:rPr>
              <a:t>Organizations that effectively use data science can gain a competitive edge by understanding market trends, consumer preferences, and internal performance better than their competitors.</a:t>
            </a:r>
          </a:p>
          <a:p>
            <a:pPr marL="457200" indent="-457200" algn="just">
              <a:buFont typeface="+mj-lt"/>
              <a:buAutoNum type="arabicPeriod" startAt="5"/>
            </a:pPr>
            <a:r>
              <a:rPr lang="en-GB" sz="2000" b="1" dirty="0">
                <a:latin typeface="Times New Roman" panose="02020603050405020304" pitchFamily="18" charset="0"/>
                <a:ea typeface="Tahoma" panose="020B0604030504040204" pitchFamily="34" charset="0"/>
                <a:cs typeface="Times New Roman" panose="02020603050405020304" pitchFamily="18" charset="0"/>
              </a:rPr>
              <a:t>Enhanced Customer Experience</a:t>
            </a:r>
            <a:r>
              <a:rPr lang="en-GB" sz="2000" dirty="0">
                <a:latin typeface="Times New Roman" panose="02020603050405020304" pitchFamily="18" charset="0"/>
                <a:ea typeface="Tahoma" panose="020B0604030504040204" pitchFamily="34" charset="0"/>
                <a:cs typeface="Times New Roman" panose="02020603050405020304" pitchFamily="18" charset="0"/>
              </a:rPr>
              <a:t>:</a:t>
            </a:r>
          </a:p>
          <a:p>
            <a:pPr lvl="1" algn="just"/>
            <a:r>
              <a:rPr lang="en-GB" sz="2000" dirty="0">
                <a:latin typeface="Times New Roman" panose="02020603050405020304" pitchFamily="18" charset="0"/>
                <a:ea typeface="Tahoma" panose="020B0604030504040204" pitchFamily="34" charset="0"/>
                <a:cs typeface="Times New Roman" panose="02020603050405020304" pitchFamily="18" charset="0"/>
              </a:rPr>
              <a:t>By </a:t>
            </a:r>
            <a:r>
              <a:rPr lang="en-GB" sz="2000" dirty="0" err="1">
                <a:latin typeface="Times New Roman" panose="02020603050405020304" pitchFamily="18" charset="0"/>
                <a:ea typeface="Tahoma" panose="020B0604030504040204" pitchFamily="34" charset="0"/>
                <a:cs typeface="Times New Roman" panose="02020603050405020304" pitchFamily="18" charset="0"/>
              </a:rPr>
              <a:t>analyzing</a:t>
            </a:r>
            <a:r>
              <a:rPr lang="en-GB" sz="2000" dirty="0">
                <a:latin typeface="Times New Roman" panose="02020603050405020304" pitchFamily="18" charset="0"/>
                <a:ea typeface="Tahoma" panose="020B0604030504040204" pitchFamily="34" charset="0"/>
                <a:cs typeface="Times New Roman" panose="02020603050405020304" pitchFamily="18" charset="0"/>
              </a:rPr>
              <a:t> customer data, companies can tailor their products, services, and interactions to better meet customer needs, increasing satisfaction and loyalty.</a:t>
            </a:r>
          </a:p>
          <a:p>
            <a:pPr marL="457200" indent="-457200" algn="just">
              <a:buFont typeface="+mj-lt"/>
              <a:buAutoNum type="arabicPeriod" startAt="5"/>
            </a:pPr>
            <a:r>
              <a:rPr lang="en-GB" sz="2000" b="1" dirty="0">
                <a:latin typeface="Times New Roman" panose="02020603050405020304" pitchFamily="18" charset="0"/>
                <a:ea typeface="Tahoma" panose="020B0604030504040204" pitchFamily="34" charset="0"/>
                <a:cs typeface="Times New Roman" panose="02020603050405020304" pitchFamily="18" charset="0"/>
              </a:rPr>
              <a:t>Risk Management</a:t>
            </a:r>
            <a:r>
              <a:rPr lang="en-GB" sz="2000" dirty="0">
                <a:latin typeface="Times New Roman" panose="02020603050405020304" pitchFamily="18" charset="0"/>
                <a:ea typeface="Tahoma" panose="020B0604030504040204" pitchFamily="34" charset="0"/>
                <a:cs typeface="Times New Roman" panose="02020603050405020304" pitchFamily="18" charset="0"/>
              </a:rPr>
              <a:t>:</a:t>
            </a:r>
          </a:p>
          <a:p>
            <a:pPr lvl="1" algn="just"/>
            <a:r>
              <a:rPr lang="en-GB" sz="2000" dirty="0">
                <a:latin typeface="Times New Roman" panose="02020603050405020304" pitchFamily="18" charset="0"/>
                <a:ea typeface="Tahoma" panose="020B0604030504040204" pitchFamily="34" charset="0"/>
                <a:cs typeface="Times New Roman" panose="02020603050405020304" pitchFamily="18" charset="0"/>
              </a:rPr>
              <a:t>Data science helps in identifying potential risks by </a:t>
            </a:r>
            <a:r>
              <a:rPr lang="en-GB" sz="2000" dirty="0" err="1">
                <a:latin typeface="Times New Roman" panose="02020603050405020304" pitchFamily="18" charset="0"/>
                <a:ea typeface="Tahoma" panose="020B0604030504040204" pitchFamily="34" charset="0"/>
                <a:cs typeface="Times New Roman" panose="02020603050405020304" pitchFamily="18" charset="0"/>
              </a:rPr>
              <a:t>analyzing</a:t>
            </a:r>
            <a:r>
              <a:rPr lang="en-GB" sz="2000" dirty="0">
                <a:latin typeface="Times New Roman" panose="02020603050405020304" pitchFamily="18" charset="0"/>
                <a:ea typeface="Tahoma" panose="020B0604030504040204" pitchFamily="34" charset="0"/>
                <a:cs typeface="Times New Roman" panose="02020603050405020304" pitchFamily="18" charset="0"/>
              </a:rPr>
              <a:t> historical data and detecting patterns. </a:t>
            </a:r>
          </a:p>
          <a:p>
            <a:pPr marL="457200" indent="-457200" algn="just">
              <a:buFont typeface="+mj-lt"/>
              <a:buAutoNum type="arabicPeriod" startAt="5"/>
            </a:pPr>
            <a:endParaRPr lang="en-US" sz="2000" dirty="0"/>
          </a:p>
        </p:txBody>
      </p:sp>
    </p:spTree>
    <p:extLst>
      <p:ext uri="{BB962C8B-B14F-4D97-AF65-F5344CB8AC3E}">
        <p14:creationId xmlns:p14="http://schemas.microsoft.com/office/powerpoint/2010/main" val="3375374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42B1E-8500-AD35-F52B-67794C29F7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D69A8F-D0ED-C325-53F3-3F394C27DE53}"/>
              </a:ext>
            </a:extLst>
          </p:cNvPr>
          <p:cNvSpPr>
            <a:spLocks noGrp="1"/>
          </p:cNvSpPr>
          <p:nvPr>
            <p:ph idx="1"/>
          </p:nvPr>
        </p:nvSpPr>
        <p:spPr>
          <a:xfrm>
            <a:off x="132080" y="152400"/>
            <a:ext cx="11927840" cy="6532880"/>
          </a:xfrm>
        </p:spPr>
        <p:txBody>
          <a:bodyPr>
            <a:noAutofit/>
          </a:bodyPr>
          <a:lstStyle/>
          <a:p>
            <a:pPr marL="0" indent="0">
              <a:buNone/>
            </a:pPr>
            <a:r>
              <a:rPr lang="en-GB" sz="1800" b="1" dirty="0">
                <a:latin typeface="Times New Roman" panose="02020603050405020304" pitchFamily="18" charset="0"/>
                <a:cs typeface="Times New Roman" panose="02020603050405020304" pitchFamily="18" charset="0"/>
              </a:rPr>
              <a:t>Uses of Data Science:</a:t>
            </a:r>
          </a:p>
          <a:p>
            <a:pPr>
              <a:buFont typeface="+mj-lt"/>
              <a:buAutoNum type="arabicPeriod"/>
            </a:pPr>
            <a:r>
              <a:rPr lang="en-GB" sz="1800" b="1" dirty="0">
                <a:latin typeface="Times New Roman" panose="02020603050405020304" pitchFamily="18" charset="0"/>
                <a:cs typeface="Times New Roman" panose="02020603050405020304" pitchFamily="18" charset="0"/>
              </a:rPr>
              <a:t>Business and Marketing</a:t>
            </a:r>
            <a:r>
              <a:rPr lang="en-GB" sz="18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Customer Segmentation</a:t>
            </a:r>
            <a:r>
              <a:rPr lang="en-GB" sz="1800" dirty="0">
                <a:latin typeface="Times New Roman" panose="02020603050405020304" pitchFamily="18" charset="0"/>
                <a:cs typeface="Times New Roman" panose="02020603050405020304" pitchFamily="18" charset="0"/>
              </a:rPr>
              <a:t>: </a:t>
            </a:r>
            <a:r>
              <a:rPr lang="en-GB" sz="1800" dirty="0" err="1">
                <a:latin typeface="Times New Roman" panose="02020603050405020304" pitchFamily="18" charset="0"/>
                <a:cs typeface="Times New Roman" panose="02020603050405020304" pitchFamily="18" charset="0"/>
              </a:rPr>
              <a:t>Analyzing</a:t>
            </a:r>
            <a:r>
              <a:rPr lang="en-GB" sz="1800" dirty="0">
                <a:latin typeface="Times New Roman" panose="02020603050405020304" pitchFamily="18" charset="0"/>
                <a:cs typeface="Times New Roman" panose="02020603050405020304" pitchFamily="18" charset="0"/>
              </a:rPr>
              <a:t> customer data to divide them into distinct segments for targeted marketing.</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Sales Forecasting</a:t>
            </a:r>
            <a:r>
              <a:rPr lang="en-GB" sz="1800" dirty="0">
                <a:latin typeface="Times New Roman" panose="02020603050405020304" pitchFamily="18" charset="0"/>
                <a:cs typeface="Times New Roman" panose="02020603050405020304" pitchFamily="18" charset="0"/>
              </a:rPr>
              <a:t>: Predicting future sales based on historical data, seasonal trends, and external factors.</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Recommendation Systems</a:t>
            </a:r>
            <a:r>
              <a:rPr lang="en-GB" sz="1800" dirty="0">
                <a:latin typeface="Times New Roman" panose="02020603050405020304" pitchFamily="18" charset="0"/>
                <a:cs typeface="Times New Roman" panose="02020603050405020304" pitchFamily="18" charset="0"/>
              </a:rPr>
              <a:t>: Powering personalized product recommendations on platforms like e-commerce sites and streaming services.</a:t>
            </a:r>
          </a:p>
          <a:p>
            <a:pPr>
              <a:buFont typeface="+mj-lt"/>
              <a:buAutoNum type="arabicPeriod"/>
            </a:pPr>
            <a:r>
              <a:rPr lang="en-GB" sz="1800" b="1" dirty="0">
                <a:latin typeface="Times New Roman" panose="02020603050405020304" pitchFamily="18" charset="0"/>
                <a:cs typeface="Times New Roman" panose="02020603050405020304" pitchFamily="18" charset="0"/>
              </a:rPr>
              <a:t>Healthcare</a:t>
            </a:r>
            <a:r>
              <a:rPr lang="en-GB" sz="18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Medical Imaging</a:t>
            </a:r>
            <a:r>
              <a:rPr lang="en-GB" sz="1800" dirty="0">
                <a:latin typeface="Times New Roman" panose="02020603050405020304" pitchFamily="18" charset="0"/>
                <a:cs typeface="Times New Roman" panose="02020603050405020304" pitchFamily="18" charset="0"/>
              </a:rPr>
              <a:t>: Data science algorithms can help in interpreting medical images, such as detecting </a:t>
            </a:r>
            <a:r>
              <a:rPr lang="en-GB" sz="1800" dirty="0" err="1">
                <a:latin typeface="Times New Roman" panose="02020603050405020304" pitchFamily="18" charset="0"/>
                <a:cs typeface="Times New Roman" panose="02020603050405020304" pitchFamily="18" charset="0"/>
              </a:rPr>
              <a:t>tumors</a:t>
            </a:r>
            <a:r>
              <a:rPr lang="en-GB" sz="1800" dirty="0">
                <a:latin typeface="Times New Roman" panose="02020603050405020304" pitchFamily="18" charset="0"/>
                <a:cs typeface="Times New Roman" panose="02020603050405020304" pitchFamily="18" charset="0"/>
              </a:rPr>
              <a:t> or other anomalies in scans.</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Predictive Health Models</a:t>
            </a:r>
            <a:r>
              <a:rPr lang="en-GB" sz="1800" dirty="0">
                <a:latin typeface="Times New Roman" panose="02020603050405020304" pitchFamily="18" charset="0"/>
                <a:cs typeface="Times New Roman" panose="02020603050405020304" pitchFamily="18" charset="0"/>
              </a:rPr>
              <a:t>: Predicting patient outcomes, the likelihood of disease progression, or hospital readmission based on historical medical data.</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Drug Discovery</a:t>
            </a:r>
            <a:r>
              <a:rPr lang="en-GB" sz="1800" dirty="0">
                <a:latin typeface="Times New Roman" panose="02020603050405020304" pitchFamily="18" charset="0"/>
                <a:cs typeface="Times New Roman" panose="02020603050405020304" pitchFamily="18" charset="0"/>
              </a:rPr>
              <a:t>: Using machine learning to </a:t>
            </a:r>
            <a:r>
              <a:rPr lang="en-GB" sz="1800" dirty="0" err="1">
                <a:latin typeface="Times New Roman" panose="02020603050405020304" pitchFamily="18" charset="0"/>
                <a:cs typeface="Times New Roman" panose="02020603050405020304" pitchFamily="18" charset="0"/>
              </a:rPr>
              <a:t>analyze</a:t>
            </a:r>
            <a:r>
              <a:rPr lang="en-GB" sz="1800" dirty="0">
                <a:latin typeface="Times New Roman" panose="02020603050405020304" pitchFamily="18" charset="0"/>
                <a:cs typeface="Times New Roman" panose="02020603050405020304" pitchFamily="18" charset="0"/>
              </a:rPr>
              <a:t> molecular data and identify potential candidates for drug development.</a:t>
            </a:r>
          </a:p>
          <a:p>
            <a:pPr>
              <a:buFont typeface="+mj-lt"/>
              <a:buAutoNum type="arabicPeriod"/>
            </a:pPr>
            <a:r>
              <a:rPr lang="en-GB" sz="1800" b="1" dirty="0">
                <a:latin typeface="Times New Roman" panose="02020603050405020304" pitchFamily="18" charset="0"/>
                <a:cs typeface="Times New Roman" panose="02020603050405020304" pitchFamily="18" charset="0"/>
              </a:rPr>
              <a:t>Finance and Banking</a:t>
            </a:r>
            <a:r>
              <a:rPr lang="en-GB" sz="18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Fraud Detection</a:t>
            </a:r>
            <a:r>
              <a:rPr lang="en-GB" sz="1800" dirty="0">
                <a:latin typeface="Times New Roman" panose="02020603050405020304" pitchFamily="18" charset="0"/>
                <a:cs typeface="Times New Roman" panose="02020603050405020304" pitchFamily="18" charset="0"/>
              </a:rPr>
              <a:t>: Using patterns in financial transactions to identify fraudulent activities.</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Algorithmic Trading</a:t>
            </a:r>
            <a:r>
              <a:rPr lang="en-GB" sz="1800" dirty="0">
                <a:latin typeface="Times New Roman" panose="02020603050405020304" pitchFamily="18" charset="0"/>
                <a:cs typeface="Times New Roman" panose="02020603050405020304" pitchFamily="18" charset="0"/>
              </a:rPr>
              <a:t>: Developing algorithms that can </a:t>
            </a:r>
            <a:r>
              <a:rPr lang="en-GB" sz="1800" dirty="0" err="1">
                <a:latin typeface="Times New Roman" panose="02020603050405020304" pitchFamily="18" charset="0"/>
                <a:cs typeface="Times New Roman" panose="02020603050405020304" pitchFamily="18" charset="0"/>
              </a:rPr>
              <a:t>analyze</a:t>
            </a:r>
            <a:r>
              <a:rPr lang="en-GB" sz="1800" dirty="0">
                <a:latin typeface="Times New Roman" panose="02020603050405020304" pitchFamily="18" charset="0"/>
                <a:cs typeface="Times New Roman" panose="02020603050405020304" pitchFamily="18" charset="0"/>
              </a:rPr>
              <a:t> market data and make trading decisions in real-time.</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Credit Scoring</a:t>
            </a:r>
            <a:r>
              <a:rPr lang="en-GB" sz="1800" dirty="0">
                <a:latin typeface="Times New Roman" panose="02020603050405020304" pitchFamily="18" charset="0"/>
                <a:cs typeface="Times New Roman" panose="02020603050405020304" pitchFamily="18" charset="0"/>
              </a:rPr>
              <a:t>: </a:t>
            </a:r>
            <a:r>
              <a:rPr lang="en-GB" sz="1800" dirty="0" err="1">
                <a:latin typeface="Times New Roman" panose="02020603050405020304" pitchFamily="18" charset="0"/>
                <a:cs typeface="Times New Roman" panose="02020603050405020304" pitchFamily="18" charset="0"/>
              </a:rPr>
              <a:t>Analyzing</a:t>
            </a:r>
            <a:r>
              <a:rPr lang="en-GB" sz="1800" dirty="0">
                <a:latin typeface="Times New Roman" panose="02020603050405020304" pitchFamily="18" charset="0"/>
                <a:cs typeface="Times New Roman" panose="02020603050405020304" pitchFamily="18" charset="0"/>
              </a:rPr>
              <a:t> credit history and other financial data to determine the creditworthiness of an individual.</a:t>
            </a:r>
          </a:p>
          <a:p>
            <a:pPr>
              <a:buFont typeface="+mj-lt"/>
              <a:buAutoNum type="arabicPeriod"/>
            </a:pPr>
            <a:r>
              <a:rPr lang="en-GB" sz="1800" b="1" dirty="0">
                <a:latin typeface="Times New Roman" panose="02020603050405020304" pitchFamily="18" charset="0"/>
                <a:cs typeface="Times New Roman" panose="02020603050405020304" pitchFamily="18" charset="0"/>
              </a:rPr>
              <a:t>Manufacturing and Supply Chain</a:t>
            </a:r>
            <a:r>
              <a:rPr lang="en-GB" sz="18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Predictive Maintenance</a:t>
            </a:r>
            <a:r>
              <a:rPr lang="en-GB" sz="1800" dirty="0">
                <a:latin typeface="Times New Roman" panose="02020603050405020304" pitchFamily="18" charset="0"/>
                <a:cs typeface="Times New Roman" panose="02020603050405020304" pitchFamily="18" charset="0"/>
              </a:rPr>
              <a:t>: Predicting when machinery will need maintenance, helping prevent costly breakdowns.</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Supply Chain Optimization</a:t>
            </a:r>
            <a:r>
              <a:rPr lang="en-GB" sz="1800" dirty="0">
                <a:latin typeface="Times New Roman" panose="02020603050405020304" pitchFamily="18" charset="0"/>
                <a:cs typeface="Times New Roman" panose="02020603050405020304" pitchFamily="18" charset="0"/>
              </a:rPr>
              <a:t>: Using data to forecast demand and optimize the flow of goods to minimize inventory costs.</a:t>
            </a:r>
          </a:p>
        </p:txBody>
      </p:sp>
    </p:spTree>
    <p:extLst>
      <p:ext uri="{BB962C8B-B14F-4D97-AF65-F5344CB8AC3E}">
        <p14:creationId xmlns:p14="http://schemas.microsoft.com/office/powerpoint/2010/main" val="1615109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A2F64-3141-EE9C-F6CC-FF6F1362FC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E61E1E-6141-0971-AB21-0BE137ABE85D}"/>
              </a:ext>
            </a:extLst>
          </p:cNvPr>
          <p:cNvSpPr>
            <a:spLocks noGrp="1"/>
          </p:cNvSpPr>
          <p:nvPr>
            <p:ph idx="1"/>
          </p:nvPr>
        </p:nvSpPr>
        <p:spPr>
          <a:xfrm>
            <a:off x="132080" y="152400"/>
            <a:ext cx="11927840" cy="6532880"/>
          </a:xfrm>
        </p:spPr>
        <p:txBody>
          <a:bodyPr/>
          <a:lstStyle/>
          <a:p>
            <a:pPr marL="742950" lvl="1" indent="-285750">
              <a:buFont typeface="+mj-lt"/>
              <a:buAutoNum type="arabicPeriod"/>
            </a:pPr>
            <a:endParaRPr lang="en-GB" sz="1800" dirty="0">
              <a:latin typeface="Times New Roman" panose="02020603050405020304" pitchFamily="18" charset="0"/>
              <a:cs typeface="Times New Roman" panose="02020603050405020304" pitchFamily="18" charset="0"/>
            </a:endParaRPr>
          </a:p>
          <a:p>
            <a:pPr marL="342900" indent="-342900">
              <a:buFont typeface="+mj-lt"/>
              <a:buAutoNum type="arabicPeriod" startAt="5"/>
            </a:pPr>
            <a:r>
              <a:rPr lang="en-GB" sz="1800" b="1" dirty="0">
                <a:latin typeface="Times New Roman" panose="02020603050405020304" pitchFamily="18" charset="0"/>
                <a:cs typeface="Times New Roman" panose="02020603050405020304" pitchFamily="18" charset="0"/>
              </a:rPr>
              <a:t>Government and Public Sector</a:t>
            </a:r>
            <a:r>
              <a:rPr lang="en-GB" sz="18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Crime Prediction and Prevention</a:t>
            </a:r>
            <a:r>
              <a:rPr lang="en-GB" sz="1800" dirty="0">
                <a:latin typeface="Times New Roman" panose="02020603050405020304" pitchFamily="18" charset="0"/>
                <a:cs typeface="Times New Roman" panose="02020603050405020304" pitchFamily="18" charset="0"/>
              </a:rPr>
              <a:t>: Using data to </a:t>
            </a:r>
            <a:r>
              <a:rPr lang="en-GB" sz="1800" dirty="0" err="1">
                <a:latin typeface="Times New Roman" panose="02020603050405020304" pitchFamily="18" charset="0"/>
                <a:cs typeface="Times New Roman" panose="02020603050405020304" pitchFamily="18" charset="0"/>
              </a:rPr>
              <a:t>analyze</a:t>
            </a:r>
            <a:r>
              <a:rPr lang="en-GB" sz="1800" dirty="0">
                <a:latin typeface="Times New Roman" panose="02020603050405020304" pitchFamily="18" charset="0"/>
                <a:cs typeface="Times New Roman" panose="02020603050405020304" pitchFamily="18" charset="0"/>
              </a:rPr>
              <a:t> crime patterns and predict areas at risk for criminal activity.</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Urban Planning</a:t>
            </a:r>
            <a:r>
              <a:rPr lang="en-GB" sz="1800" dirty="0">
                <a:latin typeface="Times New Roman" panose="02020603050405020304" pitchFamily="18" charset="0"/>
                <a:cs typeface="Times New Roman" panose="02020603050405020304" pitchFamily="18" charset="0"/>
              </a:rPr>
              <a:t>: </a:t>
            </a:r>
            <a:r>
              <a:rPr lang="en-GB" sz="1800" dirty="0" err="1">
                <a:latin typeface="Times New Roman" panose="02020603050405020304" pitchFamily="18" charset="0"/>
                <a:cs typeface="Times New Roman" panose="02020603050405020304" pitchFamily="18" charset="0"/>
              </a:rPr>
              <a:t>Analyzing</a:t>
            </a:r>
            <a:r>
              <a:rPr lang="en-GB" sz="1800" dirty="0">
                <a:latin typeface="Times New Roman" panose="02020603050405020304" pitchFamily="18" charset="0"/>
                <a:cs typeface="Times New Roman" panose="02020603050405020304" pitchFamily="18" charset="0"/>
              </a:rPr>
              <a:t> traffic data, environmental data, and population data to help in city planning and development.</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Public Health Initiatives</a:t>
            </a:r>
            <a:r>
              <a:rPr lang="en-GB" sz="1800" dirty="0">
                <a:latin typeface="Times New Roman" panose="02020603050405020304" pitchFamily="18" charset="0"/>
                <a:cs typeface="Times New Roman" panose="02020603050405020304" pitchFamily="18" charset="0"/>
              </a:rPr>
              <a:t>: Monitoring disease outbreaks, identifying trends, and designing more effective public health programs.</a:t>
            </a:r>
          </a:p>
          <a:p>
            <a:pPr>
              <a:buFont typeface="+mj-lt"/>
              <a:buAutoNum type="arabicPeriod" startAt="5"/>
            </a:pPr>
            <a:r>
              <a:rPr lang="en-GB" sz="1800" b="1" dirty="0">
                <a:latin typeface="Times New Roman" panose="02020603050405020304" pitchFamily="18" charset="0"/>
                <a:cs typeface="Times New Roman" panose="02020603050405020304" pitchFamily="18" charset="0"/>
              </a:rPr>
              <a:t>Sports and Entertainment</a:t>
            </a:r>
            <a:r>
              <a:rPr lang="en-GB" sz="18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Player Performance Analysis</a:t>
            </a:r>
            <a:r>
              <a:rPr lang="en-GB" sz="1800" dirty="0">
                <a:latin typeface="Times New Roman" panose="02020603050405020304" pitchFamily="18" charset="0"/>
                <a:cs typeface="Times New Roman" panose="02020603050405020304" pitchFamily="18" charset="0"/>
              </a:rPr>
              <a:t>: </a:t>
            </a:r>
            <a:r>
              <a:rPr lang="en-GB" sz="1800" dirty="0" err="1">
                <a:latin typeface="Times New Roman" panose="02020603050405020304" pitchFamily="18" charset="0"/>
                <a:cs typeface="Times New Roman" panose="02020603050405020304" pitchFamily="18" charset="0"/>
              </a:rPr>
              <a:t>Analyzing</a:t>
            </a:r>
            <a:r>
              <a:rPr lang="en-GB" sz="1800" dirty="0">
                <a:latin typeface="Times New Roman" panose="02020603050405020304" pitchFamily="18" charset="0"/>
                <a:cs typeface="Times New Roman" panose="02020603050405020304" pitchFamily="18" charset="0"/>
              </a:rPr>
              <a:t> player statistics to optimize team strategy and performance.</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Fan Engagement</a:t>
            </a:r>
            <a:r>
              <a:rPr lang="en-GB" sz="1800" dirty="0">
                <a:latin typeface="Times New Roman" panose="02020603050405020304" pitchFamily="18" charset="0"/>
                <a:cs typeface="Times New Roman" panose="02020603050405020304" pitchFamily="18" charset="0"/>
              </a:rPr>
              <a:t>: Understanding fan </a:t>
            </a:r>
            <a:r>
              <a:rPr lang="en-GB" sz="1800" dirty="0" err="1">
                <a:latin typeface="Times New Roman" panose="02020603050405020304" pitchFamily="18" charset="0"/>
                <a:cs typeface="Times New Roman" panose="02020603050405020304" pitchFamily="18" charset="0"/>
              </a:rPr>
              <a:t>behavior</a:t>
            </a:r>
            <a:r>
              <a:rPr lang="en-GB" sz="1800" dirty="0">
                <a:latin typeface="Times New Roman" panose="02020603050405020304" pitchFamily="18" charset="0"/>
                <a:cs typeface="Times New Roman" panose="02020603050405020304" pitchFamily="18" charset="0"/>
              </a:rPr>
              <a:t> and preferences to create targeted content and increase engagement.</a:t>
            </a:r>
          </a:p>
          <a:p>
            <a:pPr>
              <a:buFont typeface="+mj-lt"/>
              <a:buAutoNum type="arabicPeriod" startAt="5"/>
            </a:pPr>
            <a:r>
              <a:rPr lang="en-GB" sz="1800" b="1" dirty="0">
                <a:latin typeface="Times New Roman" panose="02020603050405020304" pitchFamily="18" charset="0"/>
                <a:cs typeface="Times New Roman" panose="02020603050405020304" pitchFamily="18" charset="0"/>
              </a:rPr>
              <a:t>Energy and Environment</a:t>
            </a:r>
            <a:r>
              <a:rPr lang="en-GB" sz="18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Energy Consumption Forecasting</a:t>
            </a:r>
            <a:r>
              <a:rPr lang="en-GB" sz="1800" dirty="0">
                <a:latin typeface="Times New Roman" panose="02020603050405020304" pitchFamily="18" charset="0"/>
                <a:cs typeface="Times New Roman" panose="02020603050405020304" pitchFamily="18" charset="0"/>
              </a:rPr>
              <a:t>: Predicting energy demand and optimizing power grid operations.</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Climate </a:t>
            </a:r>
            <a:r>
              <a:rPr lang="en-GB" sz="1800" b="1" dirty="0" err="1">
                <a:latin typeface="Times New Roman" panose="02020603050405020304" pitchFamily="18" charset="0"/>
                <a:cs typeface="Times New Roman" panose="02020603050405020304" pitchFamily="18" charset="0"/>
              </a:rPr>
              <a:t>Modeling</a:t>
            </a:r>
            <a:r>
              <a:rPr lang="en-GB" sz="1800" dirty="0">
                <a:latin typeface="Times New Roman" panose="02020603050405020304" pitchFamily="18" charset="0"/>
                <a:cs typeface="Times New Roman" panose="02020603050405020304" pitchFamily="18" charset="0"/>
              </a:rPr>
              <a:t>: Using data science to model and predict climate change and environmental impacts.</a:t>
            </a:r>
          </a:p>
          <a:p>
            <a:pPr>
              <a:buFont typeface="+mj-lt"/>
              <a:buAutoNum type="arabicPeriod" startAt="5"/>
            </a:pPr>
            <a:r>
              <a:rPr lang="en-GB" sz="1800" b="1" dirty="0">
                <a:latin typeface="Times New Roman" panose="02020603050405020304" pitchFamily="18" charset="0"/>
                <a:cs typeface="Times New Roman" panose="02020603050405020304" pitchFamily="18" charset="0"/>
              </a:rPr>
              <a:t>Education</a:t>
            </a:r>
            <a:r>
              <a:rPr lang="en-GB" sz="18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Personalized Learning</a:t>
            </a:r>
            <a:r>
              <a:rPr lang="en-GB" sz="1800" dirty="0">
                <a:latin typeface="Times New Roman" panose="02020603050405020304" pitchFamily="18" charset="0"/>
                <a:cs typeface="Times New Roman" panose="02020603050405020304" pitchFamily="18" charset="0"/>
              </a:rPr>
              <a:t>: Creating data-driven personalized learning plans based on student performance and </a:t>
            </a:r>
            <a:r>
              <a:rPr lang="en-GB" sz="1800" dirty="0" err="1">
                <a:latin typeface="Times New Roman" panose="02020603050405020304" pitchFamily="18" charset="0"/>
                <a:cs typeface="Times New Roman" panose="02020603050405020304" pitchFamily="18" charset="0"/>
              </a:rPr>
              <a:t>behavior</a:t>
            </a:r>
            <a:r>
              <a:rPr lang="en-GB" sz="18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GB" sz="1800" b="1" dirty="0">
                <a:latin typeface="Times New Roman" panose="02020603050405020304" pitchFamily="18" charset="0"/>
                <a:cs typeface="Times New Roman" panose="02020603050405020304" pitchFamily="18" charset="0"/>
              </a:rPr>
              <a:t>Educational Policy Analysis</a:t>
            </a:r>
            <a:r>
              <a:rPr lang="en-GB" sz="1800" dirty="0">
                <a:latin typeface="Times New Roman" panose="02020603050405020304" pitchFamily="18" charset="0"/>
                <a:cs typeface="Times New Roman" panose="02020603050405020304" pitchFamily="18" charset="0"/>
              </a:rPr>
              <a:t>: Using data science to </a:t>
            </a:r>
            <a:r>
              <a:rPr lang="en-GB" sz="1800" dirty="0" err="1">
                <a:latin typeface="Times New Roman" panose="02020603050405020304" pitchFamily="18" charset="0"/>
                <a:cs typeface="Times New Roman" panose="02020603050405020304" pitchFamily="18" charset="0"/>
              </a:rPr>
              <a:t>analyze</a:t>
            </a:r>
            <a:r>
              <a:rPr lang="en-GB" sz="1800" dirty="0">
                <a:latin typeface="Times New Roman" panose="02020603050405020304" pitchFamily="18" charset="0"/>
                <a:cs typeface="Times New Roman" panose="02020603050405020304" pitchFamily="18" charset="0"/>
              </a:rPr>
              <a:t> the effectiveness of educational programs and policies.</a:t>
            </a:r>
          </a:p>
        </p:txBody>
      </p:sp>
    </p:spTree>
    <p:extLst>
      <p:ext uri="{BB962C8B-B14F-4D97-AF65-F5344CB8AC3E}">
        <p14:creationId xmlns:p14="http://schemas.microsoft.com/office/powerpoint/2010/main" val="2653700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1C8F8-F995-DAB1-1A0D-BCDB3ED789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EC7A5E-8FD3-E641-9294-E10494293CCA}"/>
              </a:ext>
            </a:extLst>
          </p:cNvPr>
          <p:cNvSpPr>
            <a:spLocks noGrp="1"/>
          </p:cNvSpPr>
          <p:nvPr>
            <p:ph idx="1"/>
          </p:nvPr>
        </p:nvSpPr>
        <p:spPr>
          <a:xfrm>
            <a:off x="132080" y="152400"/>
            <a:ext cx="11927840" cy="6532880"/>
          </a:xfrm>
        </p:spPr>
        <p:txBody>
          <a:bodyPr>
            <a:normAutofit/>
          </a:bodyPr>
          <a:lstStyle/>
          <a:p>
            <a:pPr marL="0" indent="0" algn="just">
              <a:buNone/>
            </a:pPr>
            <a:r>
              <a:rPr lang="en-GB" sz="2000" b="1" dirty="0">
                <a:latin typeface="Times New Roman" panose="02020603050405020304" pitchFamily="18" charset="0"/>
                <a:cs typeface="Times New Roman" panose="02020603050405020304" pitchFamily="18" charset="0"/>
              </a:rPr>
              <a:t>Facets of data</a:t>
            </a:r>
            <a:endParaRPr lang="en-GB" sz="2000" dirty="0">
              <a:latin typeface="Times New Roman" panose="02020603050405020304" pitchFamily="18" charset="0"/>
              <a:cs typeface="Times New Roman" panose="02020603050405020304" pitchFamily="18" charset="0"/>
            </a:endParaRPr>
          </a:p>
          <a:p>
            <a:pPr algn="just"/>
            <a:r>
              <a:rPr lang="en-GB" sz="2000" dirty="0">
                <a:latin typeface="Times New Roman" panose="02020603050405020304" pitchFamily="18" charset="0"/>
                <a:cs typeface="Times New Roman" panose="02020603050405020304" pitchFamily="18" charset="0"/>
              </a:rPr>
              <a:t>The </a:t>
            </a:r>
            <a:r>
              <a:rPr lang="en-GB" sz="2000" b="1" dirty="0">
                <a:latin typeface="Times New Roman" panose="02020603050405020304" pitchFamily="18" charset="0"/>
                <a:cs typeface="Times New Roman" panose="02020603050405020304" pitchFamily="18" charset="0"/>
              </a:rPr>
              <a:t>facets of data</a:t>
            </a:r>
            <a:r>
              <a:rPr lang="en-GB" sz="2000" dirty="0">
                <a:latin typeface="Times New Roman" panose="02020603050405020304" pitchFamily="18" charset="0"/>
                <a:cs typeface="Times New Roman" panose="02020603050405020304" pitchFamily="18" charset="0"/>
              </a:rPr>
              <a:t> refer to the different characteristics, aspects, or dimensions through which data can be examined, understood, and used.</a:t>
            </a:r>
          </a:p>
          <a:p>
            <a:pPr marL="0" indent="0" algn="just">
              <a:buNone/>
            </a:pPr>
            <a:r>
              <a:rPr lang="en-GB" sz="2000" b="1" dirty="0">
                <a:latin typeface="Times New Roman" panose="02020603050405020304" pitchFamily="18" charset="0"/>
                <a:cs typeface="Times New Roman" panose="02020603050405020304" pitchFamily="18" charset="0"/>
              </a:rPr>
              <a:t>Volume</a:t>
            </a:r>
          </a:p>
          <a:p>
            <a:pPr algn="just">
              <a:buFont typeface="Arial" panose="020B0604020202020204" pitchFamily="34" charset="0"/>
              <a:buChar char="•"/>
            </a:pPr>
            <a:r>
              <a:rPr lang="en-GB" sz="2000" b="1" dirty="0">
                <a:latin typeface="Times New Roman" panose="02020603050405020304" pitchFamily="18" charset="0"/>
                <a:cs typeface="Times New Roman" panose="02020603050405020304" pitchFamily="18" charset="0"/>
              </a:rPr>
              <a:t>Definition</a:t>
            </a:r>
            <a:r>
              <a:rPr lang="en-GB" sz="2000" dirty="0">
                <a:latin typeface="Times New Roman" panose="02020603050405020304" pitchFamily="18" charset="0"/>
                <a:cs typeface="Times New Roman" panose="02020603050405020304" pitchFamily="18" charset="0"/>
              </a:rPr>
              <a:t>: Refers to the sheer amount or quantity of data generated. In today's digital world, large volumes of data are produced continuously from various sources like social media, transactions, sensors, and devices.</a:t>
            </a:r>
          </a:p>
          <a:p>
            <a:pPr algn="just">
              <a:buFont typeface="Arial" panose="020B0604020202020204" pitchFamily="34" charset="0"/>
              <a:buChar char="•"/>
            </a:pPr>
            <a:r>
              <a:rPr lang="en-GB" sz="2000" b="1" dirty="0">
                <a:latin typeface="Times New Roman" panose="02020603050405020304" pitchFamily="18" charset="0"/>
                <a:cs typeface="Times New Roman" panose="02020603050405020304" pitchFamily="18" charset="0"/>
              </a:rPr>
              <a:t>Example</a:t>
            </a:r>
            <a:r>
              <a:rPr lang="en-GB" sz="2000" dirty="0">
                <a:latin typeface="Times New Roman" panose="02020603050405020304" pitchFamily="18" charset="0"/>
                <a:cs typeface="Times New Roman" panose="02020603050405020304" pitchFamily="18" charset="0"/>
              </a:rPr>
              <a:t>: The vast amount of data collected by social media platforms, IoT sensors, or customer transaction logs.</a:t>
            </a:r>
          </a:p>
          <a:p>
            <a:pPr marL="0" indent="0" algn="just">
              <a:buNone/>
            </a:pPr>
            <a:r>
              <a:rPr lang="en-GB" sz="2000" b="1" dirty="0">
                <a:latin typeface="Times New Roman" panose="02020603050405020304" pitchFamily="18" charset="0"/>
                <a:cs typeface="Times New Roman" panose="02020603050405020304" pitchFamily="18" charset="0"/>
              </a:rPr>
              <a:t>Velocity</a:t>
            </a:r>
          </a:p>
          <a:p>
            <a:pPr algn="just">
              <a:buFont typeface="Arial" panose="020B0604020202020204" pitchFamily="34" charset="0"/>
              <a:buChar char="•"/>
            </a:pPr>
            <a:r>
              <a:rPr lang="en-GB" sz="2000" b="1" dirty="0">
                <a:latin typeface="Times New Roman" panose="02020603050405020304" pitchFamily="18" charset="0"/>
                <a:cs typeface="Times New Roman" panose="02020603050405020304" pitchFamily="18" charset="0"/>
              </a:rPr>
              <a:t>Definition</a:t>
            </a:r>
            <a:r>
              <a:rPr lang="en-GB" sz="2000" dirty="0">
                <a:latin typeface="Times New Roman" panose="02020603050405020304" pitchFamily="18" charset="0"/>
                <a:cs typeface="Times New Roman" panose="02020603050405020304" pitchFamily="18" charset="0"/>
              </a:rPr>
              <a:t>: The speed at which data is generated, collected, and processed. This facet emphasizes real-time data processing or data that flows rapidly and needs to be handled at high speeds.</a:t>
            </a:r>
          </a:p>
          <a:p>
            <a:pPr algn="just">
              <a:buFont typeface="Arial" panose="020B0604020202020204" pitchFamily="34" charset="0"/>
              <a:buChar char="•"/>
            </a:pPr>
            <a:r>
              <a:rPr lang="en-GB" sz="2000" b="1" dirty="0">
                <a:latin typeface="Times New Roman" panose="02020603050405020304" pitchFamily="18" charset="0"/>
                <a:cs typeface="Times New Roman" panose="02020603050405020304" pitchFamily="18" charset="0"/>
              </a:rPr>
              <a:t>Example</a:t>
            </a:r>
            <a:r>
              <a:rPr lang="en-GB" sz="2000" dirty="0">
                <a:latin typeface="Times New Roman" panose="02020603050405020304" pitchFamily="18" charset="0"/>
                <a:cs typeface="Times New Roman" panose="02020603050405020304" pitchFamily="18" charset="0"/>
              </a:rPr>
              <a:t>: Streaming data from financial markets, social media feeds, or live sensor data in autonomous vehicles.</a:t>
            </a:r>
          </a:p>
          <a:p>
            <a:pPr marL="0" indent="0" algn="just">
              <a:buNone/>
            </a:pPr>
            <a:r>
              <a:rPr lang="en-GB" sz="2000" b="1" dirty="0">
                <a:latin typeface="Times New Roman" panose="02020603050405020304" pitchFamily="18" charset="0"/>
                <a:cs typeface="Times New Roman" panose="02020603050405020304" pitchFamily="18" charset="0"/>
              </a:rPr>
              <a:t>Variety</a:t>
            </a:r>
          </a:p>
          <a:p>
            <a:pPr algn="just">
              <a:buFont typeface="Arial" panose="020B0604020202020204" pitchFamily="34" charset="0"/>
              <a:buChar char="•"/>
            </a:pPr>
            <a:r>
              <a:rPr lang="en-GB" sz="2000" b="1" dirty="0">
                <a:latin typeface="Times New Roman" panose="02020603050405020304" pitchFamily="18" charset="0"/>
                <a:cs typeface="Times New Roman" panose="02020603050405020304" pitchFamily="18" charset="0"/>
              </a:rPr>
              <a:t>Definition</a:t>
            </a:r>
            <a:r>
              <a:rPr lang="en-GB" sz="2000" dirty="0">
                <a:latin typeface="Times New Roman" panose="02020603050405020304" pitchFamily="18" charset="0"/>
                <a:cs typeface="Times New Roman" panose="02020603050405020304" pitchFamily="18" charset="0"/>
              </a:rPr>
              <a:t>: Refers to the different types or formats of data. Data can be structured (e.g., relational databases), semi-structured (e.g., JSON, XML), or unstructured (e.g., text, images, video).</a:t>
            </a:r>
          </a:p>
          <a:p>
            <a:pPr algn="just">
              <a:buFont typeface="Arial" panose="020B0604020202020204" pitchFamily="34" charset="0"/>
              <a:buChar char="•"/>
            </a:pPr>
            <a:r>
              <a:rPr lang="en-GB" sz="2000" b="1" dirty="0">
                <a:latin typeface="Times New Roman" panose="02020603050405020304" pitchFamily="18" charset="0"/>
                <a:cs typeface="Times New Roman" panose="02020603050405020304" pitchFamily="18" charset="0"/>
              </a:rPr>
              <a:t>Example</a:t>
            </a:r>
            <a:r>
              <a:rPr lang="en-GB" sz="2000" dirty="0">
                <a:latin typeface="Times New Roman" panose="02020603050405020304" pitchFamily="18" charset="0"/>
                <a:cs typeface="Times New Roman" panose="02020603050405020304" pitchFamily="18" charset="0"/>
              </a:rPr>
              <a:t>: Data coming from diverse sources, such as structured data in databases, unstructured text in documents, and multimedia data from videos.</a:t>
            </a:r>
          </a:p>
        </p:txBody>
      </p:sp>
    </p:spTree>
    <p:extLst>
      <p:ext uri="{BB962C8B-B14F-4D97-AF65-F5344CB8AC3E}">
        <p14:creationId xmlns:p14="http://schemas.microsoft.com/office/powerpoint/2010/main" val="2289988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6F12-240A-6D37-5473-ACED960E053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3FD602-428D-F629-F01A-34B833825717}"/>
              </a:ext>
            </a:extLst>
          </p:cNvPr>
          <p:cNvSpPr>
            <a:spLocks noGrp="1"/>
          </p:cNvSpPr>
          <p:nvPr>
            <p:ph idx="1"/>
          </p:nvPr>
        </p:nvSpPr>
        <p:spPr>
          <a:xfrm>
            <a:off x="132080" y="152400"/>
            <a:ext cx="11927840" cy="6532880"/>
          </a:xfrm>
        </p:spPr>
        <p:txBody>
          <a:bodyPr>
            <a:normAutofit/>
          </a:bodyPr>
          <a:lstStyle/>
          <a:p>
            <a:pPr marL="0" indent="0">
              <a:buNone/>
            </a:pPr>
            <a:r>
              <a:rPr lang="en-GB" sz="2000" b="1" dirty="0">
                <a:latin typeface="Times New Roman" panose="02020603050405020304" pitchFamily="18" charset="0"/>
                <a:cs typeface="Times New Roman" panose="02020603050405020304" pitchFamily="18" charset="0"/>
              </a:rPr>
              <a:t>Veracity</a:t>
            </a:r>
          </a:p>
          <a:p>
            <a:pPr>
              <a:buFont typeface="Arial" panose="020B0604020202020204" pitchFamily="34" charset="0"/>
              <a:buChar char="•"/>
            </a:pPr>
            <a:r>
              <a:rPr lang="en-GB" sz="2000" b="1" dirty="0">
                <a:latin typeface="Times New Roman" panose="02020603050405020304" pitchFamily="18" charset="0"/>
                <a:cs typeface="Times New Roman" panose="02020603050405020304" pitchFamily="18" charset="0"/>
              </a:rPr>
              <a:t>Definition</a:t>
            </a:r>
            <a:r>
              <a:rPr lang="en-GB" sz="2000" dirty="0">
                <a:latin typeface="Times New Roman" panose="02020603050405020304" pitchFamily="18" charset="0"/>
                <a:cs typeface="Times New Roman" panose="02020603050405020304" pitchFamily="18" charset="0"/>
              </a:rPr>
              <a:t>: Refers to the trustworthiness, accuracy, and reliability of data. </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It concerns the quality and authenticity of data, ensuring that the data used for analysis is valid and dependable.</a:t>
            </a:r>
          </a:p>
          <a:p>
            <a:pPr>
              <a:buFont typeface="Arial" panose="020B0604020202020204" pitchFamily="34" charset="0"/>
              <a:buChar char="•"/>
            </a:pPr>
            <a:r>
              <a:rPr lang="en-GB" sz="2000" b="1" dirty="0">
                <a:latin typeface="Times New Roman" panose="02020603050405020304" pitchFamily="18" charset="0"/>
                <a:cs typeface="Times New Roman" panose="02020603050405020304" pitchFamily="18" charset="0"/>
              </a:rPr>
              <a:t>Example</a:t>
            </a:r>
            <a:r>
              <a:rPr lang="en-GB" sz="2000" dirty="0">
                <a:latin typeface="Times New Roman" panose="02020603050405020304" pitchFamily="18" charset="0"/>
                <a:cs typeface="Times New Roman" panose="02020603050405020304" pitchFamily="18" charset="0"/>
              </a:rPr>
              <a:t>: Data that is inaccurate, incomplete, or inconsistent, such as a set of customer records where some fields are missing or corrupted.</a:t>
            </a:r>
          </a:p>
          <a:p>
            <a:pPr marL="0" indent="0">
              <a:buNone/>
            </a:pPr>
            <a:r>
              <a:rPr lang="en-GB" sz="2000" b="1" dirty="0">
                <a:latin typeface="Times New Roman" panose="02020603050405020304" pitchFamily="18" charset="0"/>
                <a:cs typeface="Times New Roman" panose="02020603050405020304" pitchFamily="18" charset="0"/>
              </a:rPr>
              <a:t>Value</a:t>
            </a:r>
          </a:p>
          <a:p>
            <a:pPr>
              <a:buFont typeface="Arial" panose="020B0604020202020204" pitchFamily="34" charset="0"/>
              <a:buChar char="•"/>
            </a:pPr>
            <a:r>
              <a:rPr lang="en-GB" sz="2000" b="1" dirty="0">
                <a:latin typeface="Times New Roman" panose="02020603050405020304" pitchFamily="18" charset="0"/>
                <a:cs typeface="Times New Roman" panose="02020603050405020304" pitchFamily="18" charset="0"/>
              </a:rPr>
              <a:t>Definition</a:t>
            </a:r>
            <a:r>
              <a:rPr lang="en-GB" sz="2000" dirty="0">
                <a:latin typeface="Times New Roman" panose="02020603050405020304" pitchFamily="18" charset="0"/>
                <a:cs typeface="Times New Roman" panose="02020603050405020304" pitchFamily="18" charset="0"/>
              </a:rPr>
              <a:t>: Refers to the usefulness or worth of the data. </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Not all data has intrinsic value, and some data requires significant processing or contextual understanding to derive actionable insights.</a:t>
            </a:r>
          </a:p>
          <a:p>
            <a:pPr>
              <a:buFont typeface="Arial" panose="020B0604020202020204" pitchFamily="34" charset="0"/>
              <a:buChar char="•"/>
            </a:pPr>
            <a:r>
              <a:rPr lang="en-GB" sz="2000" b="1" dirty="0">
                <a:latin typeface="Times New Roman" panose="02020603050405020304" pitchFamily="18" charset="0"/>
                <a:cs typeface="Times New Roman" panose="02020603050405020304" pitchFamily="18" charset="0"/>
              </a:rPr>
              <a:t>Example</a:t>
            </a:r>
            <a:r>
              <a:rPr lang="en-GB" sz="2000" dirty="0">
                <a:latin typeface="Times New Roman" panose="02020603050405020304" pitchFamily="18" charset="0"/>
                <a:cs typeface="Times New Roman" panose="02020603050405020304" pitchFamily="18" charset="0"/>
              </a:rPr>
              <a:t>: Customer data might provide valuable insights into purchasing patterns and preferences when </a:t>
            </a:r>
            <a:r>
              <a:rPr lang="en-GB" sz="2000" dirty="0" err="1">
                <a:latin typeface="Times New Roman" panose="02020603050405020304" pitchFamily="18" charset="0"/>
                <a:cs typeface="Times New Roman" panose="02020603050405020304" pitchFamily="18" charset="0"/>
              </a:rPr>
              <a:t>analyzed</a:t>
            </a:r>
            <a:r>
              <a:rPr lang="en-GB" sz="2000" dirty="0">
                <a:latin typeface="Times New Roman" panose="02020603050405020304" pitchFamily="18" charset="0"/>
                <a:cs typeface="Times New Roman" panose="02020603050405020304" pitchFamily="18" charset="0"/>
              </a:rPr>
              <a:t> properly.</a:t>
            </a:r>
          </a:p>
          <a:p>
            <a:pPr marL="0" indent="0">
              <a:buNone/>
            </a:pPr>
            <a:r>
              <a:rPr lang="en-GB" sz="2000" b="1" dirty="0">
                <a:latin typeface="Times New Roman" panose="02020603050405020304" pitchFamily="18" charset="0"/>
                <a:cs typeface="Times New Roman" panose="02020603050405020304" pitchFamily="18" charset="0"/>
              </a:rPr>
              <a:t>Variability</a:t>
            </a:r>
          </a:p>
          <a:p>
            <a:pPr>
              <a:buFont typeface="Arial" panose="020B0604020202020204" pitchFamily="34" charset="0"/>
              <a:buChar char="•"/>
            </a:pPr>
            <a:r>
              <a:rPr lang="en-GB" sz="2000" b="1" dirty="0">
                <a:latin typeface="Times New Roman" panose="02020603050405020304" pitchFamily="18" charset="0"/>
                <a:cs typeface="Times New Roman" panose="02020603050405020304" pitchFamily="18" charset="0"/>
              </a:rPr>
              <a:t>Definition</a:t>
            </a:r>
            <a:r>
              <a:rPr lang="en-GB" sz="2000" dirty="0">
                <a:latin typeface="Times New Roman" panose="02020603050405020304" pitchFamily="18" charset="0"/>
                <a:cs typeface="Times New Roman" panose="02020603050405020304" pitchFamily="18" charset="0"/>
              </a:rPr>
              <a:t>: Refers to the inconsistency of data over time or in different contexts. </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Variability in data can arise from various factors, such as seasonal changes, human </a:t>
            </a:r>
            <a:r>
              <a:rPr lang="en-GB" sz="2000" dirty="0" err="1">
                <a:latin typeface="Times New Roman" panose="02020603050405020304" pitchFamily="18" charset="0"/>
                <a:cs typeface="Times New Roman" panose="02020603050405020304" pitchFamily="18" charset="0"/>
              </a:rPr>
              <a:t>behavior</a:t>
            </a:r>
            <a:r>
              <a:rPr lang="en-GB" sz="2000" dirty="0">
                <a:latin typeface="Times New Roman" panose="02020603050405020304" pitchFamily="18" charset="0"/>
                <a:cs typeface="Times New Roman" panose="02020603050405020304" pitchFamily="18" charset="0"/>
              </a:rPr>
              <a:t>, or evolving trends.</a:t>
            </a:r>
          </a:p>
          <a:p>
            <a:pPr>
              <a:buFont typeface="Arial" panose="020B0604020202020204" pitchFamily="34" charset="0"/>
              <a:buChar char="•"/>
            </a:pPr>
            <a:r>
              <a:rPr lang="en-GB" sz="2000" b="1" dirty="0">
                <a:latin typeface="Times New Roman" panose="02020603050405020304" pitchFamily="18" charset="0"/>
                <a:cs typeface="Times New Roman" panose="02020603050405020304" pitchFamily="18" charset="0"/>
              </a:rPr>
              <a:t>Example</a:t>
            </a:r>
            <a:r>
              <a:rPr lang="en-GB" sz="2000" dirty="0">
                <a:latin typeface="Times New Roman" panose="02020603050405020304" pitchFamily="18" charset="0"/>
                <a:cs typeface="Times New Roman" panose="02020603050405020304" pitchFamily="18" charset="0"/>
              </a:rPr>
              <a:t>: Sales data showing spikes during certain months due to seasonal effects or promotions.</a:t>
            </a:r>
          </a:p>
        </p:txBody>
      </p:sp>
    </p:spTree>
    <p:extLst>
      <p:ext uri="{BB962C8B-B14F-4D97-AF65-F5344CB8AC3E}">
        <p14:creationId xmlns:p14="http://schemas.microsoft.com/office/powerpoint/2010/main" val="2803808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BD0B6-1282-B443-E491-758618BDC4B4}"/>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9C33E9E7-16D6-5F30-9D65-FC8636A340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329" y="2661919"/>
            <a:ext cx="5524389" cy="288454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41C445E-D2DD-4EDD-414F-7C621F518E90}"/>
              </a:ext>
            </a:extLst>
          </p:cNvPr>
          <p:cNvSpPr txBox="1"/>
          <p:nvPr/>
        </p:nvSpPr>
        <p:spPr>
          <a:xfrm>
            <a:off x="111760" y="13454"/>
            <a:ext cx="6096000" cy="400110"/>
          </a:xfrm>
          <a:prstGeom prst="rect">
            <a:avLst/>
          </a:prstGeom>
          <a:noFill/>
        </p:spPr>
        <p:txBody>
          <a:bodyPr wrap="square">
            <a:spAutoFit/>
          </a:bodyPr>
          <a:lstStyle/>
          <a:p>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 Science Process</a:t>
            </a:r>
            <a:endParaRPr lang="en-US"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D5B872D-AE25-D9BA-9E5B-7D3DC47110C3}"/>
              </a:ext>
            </a:extLst>
          </p:cNvPr>
          <p:cNvSpPr txBox="1"/>
          <p:nvPr/>
        </p:nvSpPr>
        <p:spPr>
          <a:xfrm>
            <a:off x="45720" y="332110"/>
            <a:ext cx="5704840" cy="1938992"/>
          </a:xfrm>
          <a:prstGeom prst="rect">
            <a:avLst/>
          </a:prstGeom>
          <a:noFill/>
        </p:spPr>
        <p:txBody>
          <a:bodyPr wrap="square">
            <a:spAutoFit/>
          </a:bodyPr>
          <a:lstStyle/>
          <a:p>
            <a:pPr algn="l">
              <a:spcBef>
                <a:spcPts val="3000"/>
              </a:spcBef>
            </a:pPr>
            <a:r>
              <a:rPr lang="en-GB" sz="2000" b="1" i="0" dirty="0">
                <a:solidFill>
                  <a:srgbClr val="32354F"/>
                </a:solidFill>
                <a:effectLst/>
                <a:latin typeface="Times New Roman" panose="02020603050405020304" pitchFamily="18" charset="0"/>
                <a:cs typeface="Times New Roman" panose="02020603050405020304" pitchFamily="18" charset="0"/>
              </a:rPr>
              <a:t>What Is the Data Science Process?</a:t>
            </a:r>
            <a:endParaRPr lang="en-GB" sz="2000" b="0" i="0" dirty="0">
              <a:solidFill>
                <a:srgbClr val="32354F"/>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GB" sz="2000" b="0" i="0" dirty="0">
                <a:solidFill>
                  <a:srgbClr val="32354F"/>
                </a:solidFill>
                <a:effectLst/>
                <a:latin typeface="Times New Roman" panose="02020603050405020304" pitchFamily="18" charset="0"/>
                <a:cs typeface="Times New Roman" panose="02020603050405020304" pitchFamily="18" charset="0"/>
              </a:rPr>
              <a:t>The data science process is a systematic approach to solving a data problem. </a:t>
            </a:r>
          </a:p>
          <a:p>
            <a:pPr marL="285750" indent="-285750" algn="l">
              <a:buFont typeface="Arial" panose="020B0604020202020204" pitchFamily="34" charset="0"/>
              <a:buChar char="•"/>
            </a:pPr>
            <a:r>
              <a:rPr lang="en-GB" sz="2000" b="0" i="0" dirty="0">
                <a:solidFill>
                  <a:srgbClr val="32354F"/>
                </a:solidFill>
                <a:effectLst/>
                <a:latin typeface="Times New Roman" panose="02020603050405020304" pitchFamily="18" charset="0"/>
                <a:cs typeface="Times New Roman" panose="02020603050405020304" pitchFamily="18" charset="0"/>
              </a:rPr>
              <a:t>It provides a structured framework for articulating your problem as a question, deciding how to solve it, and then presenting the solution to stakeholders. </a:t>
            </a:r>
          </a:p>
        </p:txBody>
      </p:sp>
      <p:sp>
        <p:nvSpPr>
          <p:cNvPr id="8" name="TextBox 7">
            <a:extLst>
              <a:ext uri="{FF2B5EF4-FFF2-40B4-BE49-F238E27FC236}">
                <a16:creationId xmlns:a16="http://schemas.microsoft.com/office/drawing/2014/main" id="{AE8066F5-FC6D-10DA-4534-F83EA2B77E52}"/>
              </a:ext>
            </a:extLst>
          </p:cNvPr>
          <p:cNvSpPr txBox="1"/>
          <p:nvPr/>
        </p:nvSpPr>
        <p:spPr>
          <a:xfrm>
            <a:off x="5750560" y="353595"/>
            <a:ext cx="6096000" cy="2308324"/>
          </a:xfrm>
          <a:prstGeom prst="rect">
            <a:avLst/>
          </a:prstGeom>
          <a:noFill/>
        </p:spPr>
        <p:txBody>
          <a:bodyPr wrap="square">
            <a:spAutoFit/>
          </a:bodyPr>
          <a:lstStyle/>
          <a:p>
            <a:pPr algn="just" fontAlgn="base"/>
            <a:r>
              <a:rPr lang="en-GB" b="1" i="0" u="sng" dirty="0">
                <a:solidFill>
                  <a:srgbClr val="273239"/>
                </a:solidFill>
                <a:effectLst/>
                <a:latin typeface="Times New Roman" panose="02020603050405020304" pitchFamily="18" charset="0"/>
                <a:cs typeface="Times New Roman" panose="02020603050405020304" pitchFamily="18" charset="0"/>
              </a:rPr>
              <a:t>Data Engineers</a:t>
            </a:r>
            <a:r>
              <a:rPr lang="en-GB" b="1" i="0" dirty="0">
                <a:solidFill>
                  <a:srgbClr val="273239"/>
                </a:solidFill>
                <a:effectLst/>
                <a:latin typeface="Times New Roman" panose="02020603050405020304" pitchFamily="18" charset="0"/>
                <a:cs typeface="Times New Roman" panose="02020603050405020304" pitchFamily="18" charset="0"/>
              </a:rPr>
              <a:t> : </a:t>
            </a:r>
            <a:r>
              <a:rPr lang="en-GB" b="0" i="0" dirty="0">
                <a:solidFill>
                  <a:srgbClr val="273239"/>
                </a:solidFill>
                <a:effectLst/>
                <a:latin typeface="Times New Roman" panose="02020603050405020304" pitchFamily="18" charset="0"/>
                <a:cs typeface="Times New Roman" panose="02020603050405020304" pitchFamily="18" charset="0"/>
              </a:rPr>
              <a:t>They build and maintain data pipelines.</a:t>
            </a:r>
          </a:p>
          <a:p>
            <a:pPr algn="just" fontAlgn="base"/>
            <a:r>
              <a:rPr lang="en-GB" b="1" i="0" u="sng" dirty="0">
                <a:solidFill>
                  <a:srgbClr val="273239"/>
                </a:solidFill>
                <a:effectLst/>
                <a:latin typeface="Times New Roman" panose="02020603050405020304" pitchFamily="18" charset="0"/>
                <a:cs typeface="Times New Roman" panose="02020603050405020304" pitchFamily="18" charset="0"/>
              </a:rPr>
              <a:t>Data Analysts</a:t>
            </a:r>
            <a:r>
              <a:rPr lang="en-GB" b="1" i="0" dirty="0">
                <a:solidFill>
                  <a:srgbClr val="273239"/>
                </a:solidFill>
                <a:effectLst/>
                <a:latin typeface="Times New Roman" panose="02020603050405020304" pitchFamily="18" charset="0"/>
                <a:cs typeface="Times New Roman" panose="02020603050405020304" pitchFamily="18" charset="0"/>
              </a:rPr>
              <a:t>: </a:t>
            </a:r>
            <a:r>
              <a:rPr lang="en-GB" b="0" i="0" dirty="0">
                <a:solidFill>
                  <a:srgbClr val="273239"/>
                </a:solidFill>
                <a:effectLst/>
                <a:latin typeface="Times New Roman" panose="02020603050405020304" pitchFamily="18" charset="0"/>
                <a:cs typeface="Times New Roman" panose="02020603050405020304" pitchFamily="18" charset="0"/>
              </a:rPr>
              <a:t>They focus on interpreting data and generating reports.</a:t>
            </a:r>
          </a:p>
          <a:p>
            <a:pPr algn="just" fontAlgn="base"/>
            <a:r>
              <a:rPr lang="en-GB" b="1" i="0" u="sng" dirty="0">
                <a:solidFill>
                  <a:srgbClr val="273239"/>
                </a:solidFill>
                <a:effectLst/>
                <a:latin typeface="Times New Roman" panose="02020603050405020304" pitchFamily="18" charset="0"/>
                <a:cs typeface="Times New Roman" panose="02020603050405020304" pitchFamily="18" charset="0"/>
              </a:rPr>
              <a:t>Data Architect</a:t>
            </a:r>
            <a:r>
              <a:rPr lang="en-GB" b="1" i="0" dirty="0">
                <a:solidFill>
                  <a:srgbClr val="273239"/>
                </a:solidFill>
                <a:effectLst/>
                <a:latin typeface="Times New Roman" panose="02020603050405020304" pitchFamily="18" charset="0"/>
                <a:cs typeface="Times New Roman" panose="02020603050405020304" pitchFamily="18" charset="0"/>
              </a:rPr>
              <a:t> : </a:t>
            </a:r>
            <a:r>
              <a:rPr lang="en-GB" b="0" i="0" dirty="0">
                <a:solidFill>
                  <a:srgbClr val="273239"/>
                </a:solidFill>
                <a:effectLst/>
                <a:latin typeface="Times New Roman" panose="02020603050405020304" pitchFamily="18" charset="0"/>
                <a:cs typeface="Times New Roman" panose="02020603050405020304" pitchFamily="18" charset="0"/>
              </a:rPr>
              <a:t>They design data management systems.</a:t>
            </a:r>
          </a:p>
          <a:p>
            <a:pPr algn="just" fontAlgn="base"/>
            <a:r>
              <a:rPr lang="en-GB" b="1" i="0" u="sng" dirty="0">
                <a:solidFill>
                  <a:srgbClr val="273239"/>
                </a:solidFill>
                <a:effectLst/>
                <a:latin typeface="Times New Roman" panose="02020603050405020304" pitchFamily="18" charset="0"/>
                <a:cs typeface="Times New Roman" panose="02020603050405020304" pitchFamily="18" charset="0"/>
              </a:rPr>
              <a:t>Machine Learning Engineer</a:t>
            </a:r>
            <a:r>
              <a:rPr lang="en-GB" b="1" i="0" dirty="0">
                <a:solidFill>
                  <a:srgbClr val="273239"/>
                </a:solidFill>
                <a:effectLst/>
                <a:latin typeface="Times New Roman" panose="02020603050405020304" pitchFamily="18" charset="0"/>
                <a:cs typeface="Times New Roman" panose="02020603050405020304" pitchFamily="18" charset="0"/>
              </a:rPr>
              <a:t> : </a:t>
            </a:r>
            <a:r>
              <a:rPr lang="en-GB" b="0" i="0" dirty="0">
                <a:solidFill>
                  <a:srgbClr val="273239"/>
                </a:solidFill>
                <a:effectLst/>
                <a:latin typeface="Times New Roman" panose="02020603050405020304" pitchFamily="18" charset="0"/>
                <a:cs typeface="Times New Roman" panose="02020603050405020304" pitchFamily="18" charset="0"/>
              </a:rPr>
              <a:t>They develop and deploy predictive models.</a:t>
            </a:r>
          </a:p>
          <a:p>
            <a:pPr algn="just" fontAlgn="base"/>
            <a:r>
              <a:rPr lang="en-GB" b="1" i="0" u="sng" dirty="0">
                <a:solidFill>
                  <a:srgbClr val="273239"/>
                </a:solidFill>
                <a:effectLst/>
                <a:latin typeface="Times New Roman" panose="02020603050405020304" pitchFamily="18" charset="0"/>
                <a:cs typeface="Times New Roman" panose="02020603050405020304" pitchFamily="18" charset="0"/>
              </a:rPr>
              <a:t>Deep Learning Engineer</a:t>
            </a:r>
            <a:r>
              <a:rPr lang="en-GB" b="1" i="0" dirty="0">
                <a:solidFill>
                  <a:srgbClr val="273239"/>
                </a:solidFill>
                <a:effectLst/>
                <a:latin typeface="Times New Roman" panose="02020603050405020304" pitchFamily="18" charset="0"/>
                <a:cs typeface="Times New Roman" panose="02020603050405020304" pitchFamily="18" charset="0"/>
              </a:rPr>
              <a:t> : </a:t>
            </a:r>
            <a:r>
              <a:rPr lang="en-GB" b="0" i="0" dirty="0">
                <a:solidFill>
                  <a:srgbClr val="273239"/>
                </a:solidFill>
                <a:effectLst/>
                <a:latin typeface="Times New Roman" panose="02020603050405020304" pitchFamily="18" charset="0"/>
                <a:cs typeface="Times New Roman" panose="02020603050405020304" pitchFamily="18" charset="0"/>
              </a:rPr>
              <a:t>They create more advanced AI models to process complex data.</a:t>
            </a:r>
          </a:p>
        </p:txBody>
      </p:sp>
      <p:pic>
        <p:nvPicPr>
          <p:cNvPr id="5" name="Picture 2" descr="Data Science Process Life Cycle">
            <a:extLst>
              <a:ext uri="{FF2B5EF4-FFF2-40B4-BE49-F238E27FC236}">
                <a16:creationId xmlns:a16="http://schemas.microsoft.com/office/drawing/2014/main" id="{A0E8EA96-F052-6C59-2BA3-2045574A25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61" t="1400" r="3031" b="5392"/>
          <a:stretch/>
        </p:blipFill>
        <p:spPr bwMode="auto">
          <a:xfrm>
            <a:off x="5750560" y="2810610"/>
            <a:ext cx="5357495" cy="3463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6536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855E7-3A54-DBA1-FA8A-E1A871FFF7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822B46-6986-5E66-95AF-241331231CB7}"/>
              </a:ext>
            </a:extLst>
          </p:cNvPr>
          <p:cNvSpPr>
            <a:spLocks noGrp="1"/>
          </p:cNvSpPr>
          <p:nvPr>
            <p:ph idx="1"/>
          </p:nvPr>
        </p:nvSpPr>
        <p:spPr>
          <a:xfrm>
            <a:off x="132080" y="152400"/>
            <a:ext cx="11927840" cy="6532880"/>
          </a:xfrm>
        </p:spPr>
        <p:txBody>
          <a:bodyPr>
            <a:noAutofit/>
          </a:bodyPr>
          <a:lstStyle/>
          <a:p>
            <a:pPr marL="0" indent="0" algn="just" fontAlgn="base">
              <a:spcBef>
                <a:spcPts val="600"/>
              </a:spcBef>
              <a:spcAft>
                <a:spcPts val="600"/>
              </a:spcAft>
              <a:buNone/>
            </a:pPr>
            <a:r>
              <a:rPr lang="en-GB" sz="2000" b="1" i="0" dirty="0">
                <a:solidFill>
                  <a:srgbClr val="273239"/>
                </a:solidFill>
                <a:effectLst/>
                <a:latin typeface="Times New Roman" panose="02020603050405020304" pitchFamily="18" charset="0"/>
                <a:cs typeface="Times New Roman" panose="02020603050405020304" pitchFamily="18" charset="0"/>
              </a:rPr>
              <a:t>Data Science Process Life Cycle</a:t>
            </a:r>
          </a:p>
          <a:p>
            <a:pPr marL="0" indent="0" algn="just" fontAlgn="base">
              <a:spcBef>
                <a:spcPts val="0"/>
              </a:spcBef>
              <a:buNone/>
            </a:pPr>
            <a:r>
              <a:rPr lang="en-GB" sz="2000" b="1" i="0" u="sng" dirty="0">
                <a:solidFill>
                  <a:srgbClr val="273239"/>
                </a:solidFill>
                <a:effectLst/>
                <a:latin typeface="Times New Roman" panose="02020603050405020304" pitchFamily="18" charset="0"/>
                <a:cs typeface="Times New Roman" panose="02020603050405020304" pitchFamily="18" charset="0"/>
              </a:rPr>
              <a:t>Data Collection</a:t>
            </a:r>
            <a:r>
              <a:rPr lang="en-GB" sz="2000" b="0" i="0" dirty="0">
                <a:solidFill>
                  <a:srgbClr val="273239"/>
                </a:solidFill>
                <a:effectLst/>
                <a:latin typeface="Times New Roman" panose="02020603050405020304" pitchFamily="18" charset="0"/>
                <a:cs typeface="Times New Roman" panose="02020603050405020304" pitchFamily="18" charset="0"/>
              </a:rPr>
              <a:t> </a:t>
            </a:r>
          </a:p>
          <a:p>
            <a:pPr algn="just" fontAlgn="base">
              <a:spcBef>
                <a:spcPts val="0"/>
              </a:spcBef>
              <a:buFont typeface="Arial" panose="020B0604020202020204" pitchFamily="34" charset="0"/>
              <a:buChar char="•"/>
            </a:pPr>
            <a:r>
              <a:rPr lang="en-GB" sz="2000" b="0" i="0" dirty="0">
                <a:solidFill>
                  <a:srgbClr val="273239"/>
                </a:solidFill>
                <a:effectLst/>
                <a:latin typeface="Times New Roman" panose="02020603050405020304" pitchFamily="18" charset="0"/>
                <a:cs typeface="Times New Roman" panose="02020603050405020304" pitchFamily="18" charset="0"/>
              </a:rPr>
              <a:t>After formulating any problem statement, the main task is to calculate data that can help us in our analysis and manipulation. </a:t>
            </a:r>
          </a:p>
          <a:p>
            <a:pPr algn="just" fontAlgn="base">
              <a:spcBef>
                <a:spcPts val="0"/>
              </a:spcBef>
              <a:buFont typeface="Arial" panose="020B0604020202020204" pitchFamily="34" charset="0"/>
              <a:buChar char="•"/>
            </a:pPr>
            <a:r>
              <a:rPr lang="en-GB" sz="2000" b="0" i="0" dirty="0">
                <a:solidFill>
                  <a:srgbClr val="273239"/>
                </a:solidFill>
                <a:effectLst/>
                <a:latin typeface="Times New Roman" panose="02020603050405020304" pitchFamily="18" charset="0"/>
                <a:cs typeface="Times New Roman" panose="02020603050405020304" pitchFamily="18" charset="0"/>
              </a:rPr>
              <a:t>Sometimes data is collected by performing some kind of survey and there are times when it is done by performing scrapping.</a:t>
            </a:r>
          </a:p>
          <a:p>
            <a:pPr marL="0" indent="0" algn="just" fontAlgn="base">
              <a:spcBef>
                <a:spcPts val="0"/>
              </a:spcBef>
              <a:buNone/>
            </a:pPr>
            <a:r>
              <a:rPr lang="en-GB" sz="2000" b="1" i="0" u="sng" dirty="0">
                <a:solidFill>
                  <a:srgbClr val="273239"/>
                </a:solidFill>
                <a:effectLst/>
                <a:latin typeface="Times New Roman" panose="02020603050405020304" pitchFamily="18" charset="0"/>
                <a:cs typeface="Times New Roman" panose="02020603050405020304" pitchFamily="18" charset="0"/>
              </a:rPr>
              <a:t>Data Cleaning</a:t>
            </a:r>
            <a:endParaRPr lang="en-GB" sz="2000" u="sng" dirty="0">
              <a:solidFill>
                <a:srgbClr val="273239"/>
              </a:solidFill>
              <a:latin typeface="Times New Roman" panose="02020603050405020304" pitchFamily="18" charset="0"/>
              <a:cs typeface="Times New Roman" panose="02020603050405020304" pitchFamily="18" charset="0"/>
            </a:endParaRPr>
          </a:p>
          <a:p>
            <a:pPr algn="just" fontAlgn="base">
              <a:spcBef>
                <a:spcPts val="0"/>
              </a:spcBef>
            </a:pPr>
            <a:r>
              <a:rPr lang="en-GB" sz="2000" b="0" i="0" dirty="0">
                <a:solidFill>
                  <a:srgbClr val="273239"/>
                </a:solidFill>
                <a:effectLst/>
                <a:latin typeface="Times New Roman" panose="02020603050405020304" pitchFamily="18" charset="0"/>
                <a:cs typeface="Times New Roman" panose="02020603050405020304" pitchFamily="18" charset="0"/>
              </a:rPr>
              <a:t>Most of the real-world data is not structured and requires cleaning and conversion into structured data before it can be used for any analysis or </a:t>
            </a:r>
            <a:r>
              <a:rPr lang="en-GB" sz="2000" b="0" i="0" dirty="0" err="1">
                <a:solidFill>
                  <a:srgbClr val="273239"/>
                </a:solidFill>
                <a:effectLst/>
                <a:latin typeface="Times New Roman" panose="02020603050405020304" pitchFamily="18" charset="0"/>
                <a:cs typeface="Times New Roman" panose="02020603050405020304" pitchFamily="18" charset="0"/>
              </a:rPr>
              <a:t>modeling</a:t>
            </a:r>
            <a:r>
              <a:rPr lang="en-GB" sz="2000" b="0" i="0" dirty="0">
                <a:solidFill>
                  <a:srgbClr val="273239"/>
                </a:solidFill>
                <a:effectLst/>
                <a:latin typeface="Times New Roman" panose="02020603050405020304" pitchFamily="18" charset="0"/>
                <a:cs typeface="Times New Roman" panose="02020603050405020304" pitchFamily="18" charset="0"/>
              </a:rPr>
              <a:t>.</a:t>
            </a:r>
          </a:p>
          <a:p>
            <a:pPr marL="0" indent="0" algn="just" fontAlgn="base">
              <a:spcBef>
                <a:spcPts val="0"/>
              </a:spcBef>
              <a:buNone/>
            </a:pPr>
            <a:r>
              <a:rPr lang="en-GB" sz="2000" b="1" i="0" u="sng" dirty="0">
                <a:solidFill>
                  <a:srgbClr val="273239"/>
                </a:solidFill>
                <a:effectLst/>
                <a:latin typeface="Times New Roman" panose="02020603050405020304" pitchFamily="18" charset="0"/>
                <a:cs typeface="Times New Roman" panose="02020603050405020304" pitchFamily="18" charset="0"/>
              </a:rPr>
              <a:t>Exploratory Data Analysis</a:t>
            </a:r>
            <a:endParaRPr lang="en-GB" sz="2000" u="sng" dirty="0">
              <a:solidFill>
                <a:srgbClr val="273239"/>
              </a:solidFill>
              <a:latin typeface="Times New Roman" panose="02020603050405020304" pitchFamily="18" charset="0"/>
              <a:cs typeface="Times New Roman" panose="02020603050405020304" pitchFamily="18" charset="0"/>
            </a:endParaRPr>
          </a:p>
          <a:p>
            <a:pPr algn="just" fontAlgn="base">
              <a:spcBef>
                <a:spcPts val="0"/>
              </a:spcBef>
            </a:pPr>
            <a:r>
              <a:rPr lang="en-GB" sz="2000" b="0" i="0" dirty="0">
                <a:solidFill>
                  <a:srgbClr val="273239"/>
                </a:solidFill>
                <a:effectLst/>
                <a:latin typeface="Times New Roman" panose="02020603050405020304" pitchFamily="18" charset="0"/>
                <a:cs typeface="Times New Roman" panose="02020603050405020304" pitchFamily="18" charset="0"/>
              </a:rPr>
              <a:t>This is the step in which we try to find the hidden patterns in the data at hand. </a:t>
            </a:r>
          </a:p>
          <a:p>
            <a:pPr algn="just" fontAlgn="base">
              <a:spcBef>
                <a:spcPts val="0"/>
              </a:spcBef>
            </a:pPr>
            <a:r>
              <a:rPr lang="en-GB" sz="2000" b="0" i="0" dirty="0">
                <a:solidFill>
                  <a:srgbClr val="273239"/>
                </a:solidFill>
                <a:effectLst/>
                <a:latin typeface="Times New Roman" panose="02020603050405020304" pitchFamily="18" charset="0"/>
                <a:cs typeface="Times New Roman" panose="02020603050405020304" pitchFamily="18" charset="0"/>
              </a:rPr>
              <a:t>Also, we try to </a:t>
            </a:r>
            <a:r>
              <a:rPr lang="en-GB" sz="2000" b="0" i="0" dirty="0" err="1">
                <a:solidFill>
                  <a:srgbClr val="273239"/>
                </a:solidFill>
                <a:effectLst/>
                <a:latin typeface="Times New Roman" panose="02020603050405020304" pitchFamily="18" charset="0"/>
                <a:cs typeface="Times New Roman" panose="02020603050405020304" pitchFamily="18" charset="0"/>
              </a:rPr>
              <a:t>analyze</a:t>
            </a:r>
            <a:r>
              <a:rPr lang="en-GB" sz="2000" b="0" i="0" dirty="0">
                <a:solidFill>
                  <a:srgbClr val="273239"/>
                </a:solidFill>
                <a:effectLst/>
                <a:latin typeface="Times New Roman" panose="02020603050405020304" pitchFamily="18" charset="0"/>
                <a:cs typeface="Times New Roman" panose="02020603050405020304" pitchFamily="18" charset="0"/>
              </a:rPr>
              <a:t> different factors which affect the target variable and the extent to which it does so. </a:t>
            </a:r>
          </a:p>
          <a:p>
            <a:pPr algn="just" fontAlgn="base">
              <a:spcBef>
                <a:spcPts val="0"/>
              </a:spcBef>
            </a:pPr>
            <a:r>
              <a:rPr lang="en-GB" sz="2000" b="0" i="0" dirty="0">
                <a:solidFill>
                  <a:srgbClr val="273239"/>
                </a:solidFill>
                <a:effectLst/>
                <a:latin typeface="Times New Roman" panose="02020603050405020304" pitchFamily="18" charset="0"/>
                <a:cs typeface="Times New Roman" panose="02020603050405020304" pitchFamily="18" charset="0"/>
              </a:rPr>
              <a:t>How the independent features are related to each other and what can be done to achieve the desired results all these answers can be extracted from this process as well. </a:t>
            </a:r>
          </a:p>
          <a:p>
            <a:pPr algn="just" fontAlgn="base">
              <a:spcBef>
                <a:spcPts val="0"/>
              </a:spcBef>
            </a:pPr>
            <a:r>
              <a:rPr lang="en-GB" sz="2000" b="0" i="0" dirty="0">
                <a:solidFill>
                  <a:srgbClr val="273239"/>
                </a:solidFill>
                <a:effectLst/>
                <a:latin typeface="Times New Roman" panose="02020603050405020304" pitchFamily="18" charset="0"/>
                <a:cs typeface="Times New Roman" panose="02020603050405020304" pitchFamily="18" charset="0"/>
              </a:rPr>
              <a:t>This also gives us a direction in which we should work to get started with the </a:t>
            </a:r>
            <a:r>
              <a:rPr lang="en-GB" sz="2000" b="0" i="0" dirty="0" err="1">
                <a:solidFill>
                  <a:srgbClr val="273239"/>
                </a:solidFill>
                <a:effectLst/>
                <a:latin typeface="Times New Roman" panose="02020603050405020304" pitchFamily="18" charset="0"/>
                <a:cs typeface="Times New Roman" panose="02020603050405020304" pitchFamily="18" charset="0"/>
              </a:rPr>
              <a:t>modeling</a:t>
            </a:r>
            <a:r>
              <a:rPr lang="en-GB" sz="2000" b="0" i="0" dirty="0">
                <a:solidFill>
                  <a:srgbClr val="273239"/>
                </a:solidFill>
                <a:effectLst/>
                <a:latin typeface="Times New Roman" panose="02020603050405020304" pitchFamily="18" charset="0"/>
                <a:cs typeface="Times New Roman" panose="02020603050405020304" pitchFamily="18" charset="0"/>
              </a:rPr>
              <a:t> process. </a:t>
            </a:r>
          </a:p>
          <a:p>
            <a:pPr marL="0" indent="0" algn="just" fontAlgn="base">
              <a:spcBef>
                <a:spcPts val="0"/>
              </a:spcBef>
              <a:buNone/>
            </a:pPr>
            <a:r>
              <a:rPr lang="en-GB" sz="2000" b="1" i="0" u="sng" dirty="0">
                <a:solidFill>
                  <a:srgbClr val="273239"/>
                </a:solidFill>
                <a:effectLst/>
                <a:latin typeface="Times New Roman" panose="02020603050405020304" pitchFamily="18" charset="0"/>
                <a:cs typeface="Times New Roman" panose="02020603050405020304" pitchFamily="18" charset="0"/>
              </a:rPr>
              <a:t>Model Building</a:t>
            </a:r>
            <a:endParaRPr lang="en-GB" sz="2000" u="sng" dirty="0">
              <a:solidFill>
                <a:srgbClr val="273239"/>
              </a:solidFill>
              <a:latin typeface="Times New Roman" panose="02020603050405020304" pitchFamily="18" charset="0"/>
              <a:cs typeface="Times New Roman" panose="02020603050405020304" pitchFamily="18" charset="0"/>
            </a:endParaRPr>
          </a:p>
          <a:p>
            <a:pPr algn="just" fontAlgn="base">
              <a:spcBef>
                <a:spcPts val="0"/>
              </a:spcBef>
            </a:pPr>
            <a:r>
              <a:rPr lang="en-GB" sz="2000" b="0" i="0" dirty="0">
                <a:solidFill>
                  <a:srgbClr val="273239"/>
                </a:solidFill>
                <a:effectLst/>
                <a:latin typeface="Times New Roman" panose="02020603050405020304" pitchFamily="18" charset="0"/>
                <a:cs typeface="Times New Roman" panose="02020603050405020304" pitchFamily="18" charset="0"/>
              </a:rPr>
              <a:t>Different types of machine learning algorithms as well as techniques have been developed which can easily identify complex patterns in the data which will be a very tedious task to be done by a human.</a:t>
            </a:r>
          </a:p>
          <a:p>
            <a:pPr marL="0" indent="0" algn="just" fontAlgn="base">
              <a:spcBef>
                <a:spcPts val="0"/>
              </a:spcBef>
              <a:buNone/>
            </a:pPr>
            <a:r>
              <a:rPr lang="en-GB" sz="2000" b="1" i="0" u="sng" dirty="0">
                <a:solidFill>
                  <a:srgbClr val="273239"/>
                </a:solidFill>
                <a:effectLst/>
                <a:latin typeface="Times New Roman" panose="02020603050405020304" pitchFamily="18" charset="0"/>
                <a:cs typeface="Times New Roman" panose="02020603050405020304" pitchFamily="18" charset="0"/>
              </a:rPr>
              <a:t>Model Deployment</a:t>
            </a:r>
          </a:p>
          <a:p>
            <a:pPr algn="just" fontAlgn="base">
              <a:spcBef>
                <a:spcPts val="0"/>
              </a:spcBef>
            </a:pPr>
            <a:r>
              <a:rPr lang="en-GB" sz="2000" b="0" i="0" dirty="0">
                <a:solidFill>
                  <a:srgbClr val="273239"/>
                </a:solidFill>
                <a:effectLst/>
                <a:latin typeface="Times New Roman" panose="02020603050405020304" pitchFamily="18" charset="0"/>
                <a:cs typeface="Times New Roman" panose="02020603050405020304" pitchFamily="18" charset="0"/>
              </a:rPr>
              <a:t>After a model is developed and gives better results on the holdout or the real-world dataset then we deploy it and monitor its performance. </a:t>
            </a:r>
          </a:p>
          <a:p>
            <a:pPr algn="just" fontAlgn="base">
              <a:spcBef>
                <a:spcPts val="0"/>
              </a:spcBef>
            </a:pPr>
            <a:r>
              <a:rPr lang="en-GB" sz="2000" b="0" i="0" dirty="0">
                <a:solidFill>
                  <a:srgbClr val="273239"/>
                </a:solidFill>
                <a:effectLst/>
                <a:latin typeface="Times New Roman" panose="02020603050405020304" pitchFamily="18" charset="0"/>
                <a:cs typeface="Times New Roman" panose="02020603050405020304" pitchFamily="18" charset="0"/>
              </a:rPr>
              <a:t>This is the main part where we use our learning from the data to be applied in real-world applications and use cases.</a:t>
            </a:r>
          </a:p>
        </p:txBody>
      </p:sp>
    </p:spTree>
    <p:extLst>
      <p:ext uri="{BB962C8B-B14F-4D97-AF65-F5344CB8AC3E}">
        <p14:creationId xmlns:p14="http://schemas.microsoft.com/office/powerpoint/2010/main" val="2079815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41D23-5BE5-0AC2-D83A-21ACACC3B2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9123DC-10D3-0EB3-ADCA-92E97F07C280}"/>
              </a:ext>
            </a:extLst>
          </p:cNvPr>
          <p:cNvSpPr>
            <a:spLocks noGrp="1"/>
          </p:cNvSpPr>
          <p:nvPr>
            <p:ph idx="1"/>
          </p:nvPr>
        </p:nvSpPr>
        <p:spPr>
          <a:xfrm>
            <a:off x="132080" y="152400"/>
            <a:ext cx="11927840" cy="6532880"/>
          </a:xfrm>
        </p:spPr>
        <p:txBody>
          <a:bodyPr>
            <a:noAutofit/>
          </a:bodyPr>
          <a:lstStyle/>
          <a:p>
            <a:pPr marL="0" indent="0" algn="l" fontAlgn="base">
              <a:buNone/>
            </a:pPr>
            <a:r>
              <a:rPr lang="en-GB" sz="1800" b="1" i="0" dirty="0">
                <a:solidFill>
                  <a:srgbClr val="273239"/>
                </a:solidFill>
                <a:effectLst/>
                <a:latin typeface="Times New Roman" panose="02020603050405020304" pitchFamily="18" charset="0"/>
                <a:cs typeface="Times New Roman" panose="02020603050405020304" pitchFamily="18" charset="0"/>
              </a:rPr>
              <a:t>Key Components of Data Science Process</a:t>
            </a:r>
          </a:p>
          <a:p>
            <a:pPr algn="just" rtl="0" fontAlgn="base">
              <a:spcBef>
                <a:spcPts val="0"/>
              </a:spcBef>
              <a:spcAft>
                <a:spcPts val="750"/>
              </a:spcAft>
            </a:pPr>
            <a:r>
              <a:rPr lang="en-GB" sz="1800" b="0" i="0" dirty="0">
                <a:solidFill>
                  <a:srgbClr val="273239"/>
                </a:solidFill>
                <a:effectLst/>
                <a:latin typeface="Times New Roman" panose="02020603050405020304" pitchFamily="18" charset="0"/>
                <a:cs typeface="Times New Roman" panose="02020603050405020304" pitchFamily="18" charset="0"/>
              </a:rPr>
              <a:t>Data Science is a very vast field and to get the best out of the data at hand one has to apply multiple methodologies and use different tools to make sure the integrity of the data remains intact throughout the process keeping data privacy in mind.</a:t>
            </a:r>
          </a:p>
          <a:p>
            <a:pPr marL="0" indent="0" algn="l" fontAlgn="base">
              <a:spcBef>
                <a:spcPts val="0"/>
              </a:spcBef>
              <a:spcAft>
                <a:spcPts val="600"/>
              </a:spcAft>
              <a:buNone/>
            </a:pPr>
            <a:r>
              <a:rPr lang="en-GB" sz="1800" b="1" i="0" u="sng" dirty="0">
                <a:solidFill>
                  <a:srgbClr val="273239"/>
                </a:solidFill>
                <a:effectLst/>
                <a:latin typeface="Times New Roman" panose="02020603050405020304" pitchFamily="18" charset="0"/>
                <a:cs typeface="Times New Roman" panose="02020603050405020304" pitchFamily="18" charset="0"/>
              </a:rPr>
              <a:t>Data Analysis</a:t>
            </a:r>
            <a:r>
              <a:rPr lang="en-GB" sz="1800" b="0" i="0" dirty="0">
                <a:solidFill>
                  <a:srgbClr val="273239"/>
                </a:solidFill>
                <a:effectLst/>
                <a:latin typeface="Times New Roman" panose="02020603050405020304" pitchFamily="18" charset="0"/>
                <a:cs typeface="Times New Roman" panose="02020603050405020304" pitchFamily="18" charset="0"/>
              </a:rPr>
              <a:t> </a:t>
            </a:r>
          </a:p>
          <a:p>
            <a:pPr fontAlgn="base">
              <a:spcBef>
                <a:spcPts val="0"/>
              </a:spcBef>
              <a:spcAft>
                <a:spcPts val="600"/>
              </a:spcAft>
            </a:pPr>
            <a:r>
              <a:rPr lang="en-GB" sz="1800" b="0" i="0" dirty="0">
                <a:solidFill>
                  <a:srgbClr val="273239"/>
                </a:solidFill>
                <a:effectLst/>
                <a:latin typeface="Times New Roman" panose="02020603050405020304" pitchFamily="18" charset="0"/>
                <a:cs typeface="Times New Roman" panose="02020603050405020304" pitchFamily="18" charset="0"/>
              </a:rPr>
              <a:t>There are times when there is no need to apply advanced deep learning and complex methods to the data at hand to derive some patterns from it. </a:t>
            </a:r>
          </a:p>
          <a:p>
            <a:pPr fontAlgn="base">
              <a:spcBef>
                <a:spcPts val="0"/>
              </a:spcBef>
              <a:spcAft>
                <a:spcPts val="600"/>
              </a:spcAft>
            </a:pPr>
            <a:r>
              <a:rPr lang="en-GB" sz="1800" b="0" i="0" dirty="0">
                <a:solidFill>
                  <a:srgbClr val="273239"/>
                </a:solidFill>
                <a:effectLst/>
                <a:latin typeface="Times New Roman" panose="02020603050405020304" pitchFamily="18" charset="0"/>
                <a:cs typeface="Times New Roman" panose="02020603050405020304" pitchFamily="18" charset="0"/>
              </a:rPr>
              <a:t>Due to this before moving on to the modelling part, we first perform an exploratory data analysis to get a basic idea of the data and patterns which are available in it this gives us a direction to work on if we want to apply some complex analysis methods on our data.</a:t>
            </a:r>
          </a:p>
          <a:p>
            <a:pPr fontAlgn="base">
              <a:spcBef>
                <a:spcPts val="0"/>
              </a:spcBef>
              <a:spcAft>
                <a:spcPts val="600"/>
              </a:spcAft>
            </a:pPr>
            <a:endParaRPr lang="en-GB" sz="18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spcBef>
                <a:spcPts val="0"/>
              </a:spcBef>
              <a:spcAft>
                <a:spcPts val="600"/>
              </a:spcAft>
              <a:buNone/>
            </a:pPr>
            <a:r>
              <a:rPr lang="en-GB" sz="1800" b="1" i="0" u="sng" dirty="0">
                <a:solidFill>
                  <a:srgbClr val="273239"/>
                </a:solidFill>
                <a:effectLst/>
                <a:latin typeface="Times New Roman" panose="02020603050405020304" pitchFamily="18" charset="0"/>
                <a:cs typeface="Times New Roman" panose="02020603050405020304" pitchFamily="18" charset="0"/>
              </a:rPr>
              <a:t>Statistics</a:t>
            </a:r>
            <a:r>
              <a:rPr lang="en-GB" sz="1800" b="0" i="0" dirty="0">
                <a:solidFill>
                  <a:srgbClr val="273239"/>
                </a:solidFill>
                <a:effectLst/>
                <a:latin typeface="Times New Roman" panose="02020603050405020304" pitchFamily="18" charset="0"/>
                <a:cs typeface="Times New Roman" panose="02020603050405020304" pitchFamily="18" charset="0"/>
              </a:rPr>
              <a:t> </a:t>
            </a:r>
          </a:p>
          <a:p>
            <a:pPr fontAlgn="base">
              <a:spcBef>
                <a:spcPts val="0"/>
              </a:spcBef>
              <a:spcAft>
                <a:spcPts val="600"/>
              </a:spcAft>
            </a:pPr>
            <a:r>
              <a:rPr lang="en-GB" sz="1800" b="0" i="0" dirty="0">
                <a:solidFill>
                  <a:srgbClr val="273239"/>
                </a:solidFill>
                <a:effectLst/>
                <a:latin typeface="Times New Roman" panose="02020603050405020304" pitchFamily="18" charset="0"/>
                <a:cs typeface="Times New Roman" panose="02020603050405020304" pitchFamily="18" charset="0"/>
              </a:rPr>
              <a:t>It is a natural phenomenon that many real-life datasets follow a normal distribution. And when we already know that a particular dataset follows some known distribution then most of its properties can be </a:t>
            </a:r>
            <a:r>
              <a:rPr lang="en-GB" sz="1800" b="0" i="0" dirty="0" err="1">
                <a:solidFill>
                  <a:srgbClr val="273239"/>
                </a:solidFill>
                <a:effectLst/>
                <a:latin typeface="Times New Roman" panose="02020603050405020304" pitchFamily="18" charset="0"/>
                <a:cs typeface="Times New Roman" panose="02020603050405020304" pitchFamily="18" charset="0"/>
              </a:rPr>
              <a:t>analyzed</a:t>
            </a:r>
            <a:r>
              <a:rPr lang="en-GB" sz="1800" b="0" i="0" dirty="0">
                <a:solidFill>
                  <a:srgbClr val="273239"/>
                </a:solidFill>
                <a:effectLst/>
                <a:latin typeface="Times New Roman" panose="02020603050405020304" pitchFamily="18" charset="0"/>
                <a:cs typeface="Times New Roman" panose="02020603050405020304" pitchFamily="18" charset="0"/>
              </a:rPr>
              <a:t> at once. </a:t>
            </a:r>
          </a:p>
          <a:p>
            <a:pPr fontAlgn="base">
              <a:spcBef>
                <a:spcPts val="0"/>
              </a:spcBef>
              <a:spcAft>
                <a:spcPts val="600"/>
              </a:spcAft>
            </a:pPr>
            <a:r>
              <a:rPr lang="en-GB" sz="1800" b="0" i="0" dirty="0">
                <a:solidFill>
                  <a:srgbClr val="273239"/>
                </a:solidFill>
                <a:effectLst/>
                <a:latin typeface="Times New Roman" panose="02020603050405020304" pitchFamily="18" charset="0"/>
                <a:cs typeface="Times New Roman" panose="02020603050405020304" pitchFamily="18" charset="0"/>
              </a:rPr>
              <a:t>Also, descriptive statistics and correlation and covariances between two features of the dataset help us get a better understanding of how one factor is related to the other in our dataset.</a:t>
            </a:r>
          </a:p>
          <a:p>
            <a:pPr fontAlgn="base">
              <a:spcBef>
                <a:spcPts val="0"/>
              </a:spcBef>
              <a:spcAft>
                <a:spcPts val="600"/>
              </a:spcAft>
            </a:pPr>
            <a:endParaRPr lang="en-GB" sz="18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spcBef>
                <a:spcPts val="0"/>
              </a:spcBef>
              <a:spcAft>
                <a:spcPts val="1800"/>
              </a:spcAft>
              <a:buNone/>
            </a:pPr>
            <a:r>
              <a:rPr lang="en-GB" sz="1800" b="1" i="0" u="sng" dirty="0">
                <a:solidFill>
                  <a:srgbClr val="273239"/>
                </a:solidFill>
                <a:effectLst/>
                <a:latin typeface="Times New Roman" panose="02020603050405020304" pitchFamily="18" charset="0"/>
                <a:cs typeface="Times New Roman" panose="02020603050405020304" pitchFamily="18" charset="0"/>
              </a:rPr>
              <a:t>Data Engineering</a:t>
            </a:r>
            <a:r>
              <a:rPr lang="en-GB" sz="1800" b="1" i="0" dirty="0">
                <a:solidFill>
                  <a:srgbClr val="273239"/>
                </a:solidFill>
                <a:effectLst/>
                <a:latin typeface="Times New Roman" panose="02020603050405020304" pitchFamily="18" charset="0"/>
                <a:cs typeface="Times New Roman" panose="02020603050405020304" pitchFamily="18" charset="0"/>
              </a:rPr>
              <a:t> </a:t>
            </a:r>
            <a:endParaRPr lang="en-GB" sz="1800" dirty="0">
              <a:solidFill>
                <a:srgbClr val="273239"/>
              </a:solidFill>
              <a:latin typeface="Times New Roman" panose="02020603050405020304" pitchFamily="18" charset="0"/>
              <a:cs typeface="Times New Roman" panose="02020603050405020304" pitchFamily="18" charset="0"/>
            </a:endParaRPr>
          </a:p>
          <a:p>
            <a:pPr fontAlgn="base">
              <a:spcBef>
                <a:spcPts val="0"/>
              </a:spcBef>
              <a:spcAft>
                <a:spcPts val="600"/>
              </a:spcAft>
            </a:pPr>
            <a:r>
              <a:rPr lang="en-GB" sz="1800" b="0" i="0" dirty="0">
                <a:solidFill>
                  <a:srgbClr val="273239"/>
                </a:solidFill>
                <a:effectLst/>
                <a:latin typeface="Times New Roman" panose="02020603050405020304" pitchFamily="18" charset="0"/>
                <a:cs typeface="Times New Roman" panose="02020603050405020304" pitchFamily="18" charset="0"/>
              </a:rPr>
              <a:t>When we deal with a large amount of data then we have to make sure that the data is kept safe from any online threats also it is easy to retrieve and make changes in the data as well. </a:t>
            </a:r>
          </a:p>
          <a:p>
            <a:pPr fontAlgn="base">
              <a:spcBef>
                <a:spcPts val="0"/>
              </a:spcBef>
              <a:spcAft>
                <a:spcPts val="600"/>
              </a:spcAft>
            </a:pPr>
            <a:r>
              <a:rPr lang="en-GB" sz="1800" b="0" i="0" dirty="0">
                <a:solidFill>
                  <a:srgbClr val="273239"/>
                </a:solidFill>
                <a:effectLst/>
                <a:latin typeface="Times New Roman" panose="02020603050405020304" pitchFamily="18" charset="0"/>
                <a:cs typeface="Times New Roman" panose="02020603050405020304" pitchFamily="18" charset="0"/>
              </a:rPr>
              <a:t>To ensure that the data is used efficiently Data Engineers play a crucial role.</a:t>
            </a:r>
          </a:p>
        </p:txBody>
      </p:sp>
    </p:spTree>
    <p:extLst>
      <p:ext uri="{BB962C8B-B14F-4D97-AF65-F5344CB8AC3E}">
        <p14:creationId xmlns:p14="http://schemas.microsoft.com/office/powerpoint/2010/main" val="2527858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2F131-7586-8CAE-FD71-8A1C590DCC8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5F0FC8-DBD7-DEA1-D768-A7D1872ABE96}"/>
              </a:ext>
            </a:extLst>
          </p:cNvPr>
          <p:cNvSpPr>
            <a:spLocks noGrp="1"/>
          </p:cNvSpPr>
          <p:nvPr>
            <p:ph idx="1"/>
          </p:nvPr>
        </p:nvSpPr>
        <p:spPr>
          <a:xfrm>
            <a:off x="132080" y="152400"/>
            <a:ext cx="11927840" cy="6532880"/>
          </a:xfrm>
        </p:spPr>
        <p:txBody>
          <a:bodyPr>
            <a:normAutofit/>
          </a:bodyPr>
          <a:lstStyle/>
          <a:p>
            <a:pPr marL="0" indent="0" algn="just" fontAlgn="base">
              <a:spcBef>
                <a:spcPts val="0"/>
              </a:spcBef>
              <a:buNone/>
            </a:pPr>
            <a:r>
              <a:rPr lang="en-GB" sz="2000" b="1" i="0" dirty="0">
                <a:solidFill>
                  <a:srgbClr val="273239"/>
                </a:solidFill>
                <a:effectLst/>
                <a:latin typeface="Times New Roman" panose="02020603050405020304" pitchFamily="18" charset="0"/>
                <a:cs typeface="Times New Roman" panose="02020603050405020304" pitchFamily="18" charset="0"/>
              </a:rPr>
              <a:t>Advanced Computing</a:t>
            </a:r>
          </a:p>
          <a:p>
            <a:pPr marL="0" indent="0" algn="just" fontAlgn="base">
              <a:spcBef>
                <a:spcPts val="0"/>
              </a:spcBef>
              <a:buNone/>
            </a:pPr>
            <a:r>
              <a:rPr lang="en-GB" sz="2000" b="1" i="0" u="sng" dirty="0">
                <a:solidFill>
                  <a:srgbClr val="273239"/>
                </a:solidFill>
                <a:effectLst/>
                <a:latin typeface="Times New Roman" panose="02020603050405020304" pitchFamily="18" charset="0"/>
                <a:cs typeface="Times New Roman" panose="02020603050405020304" pitchFamily="18" charset="0"/>
              </a:rPr>
              <a:t>Machine Learning</a:t>
            </a:r>
            <a:r>
              <a:rPr lang="en-GB" sz="2000" b="0" i="0" dirty="0">
                <a:solidFill>
                  <a:srgbClr val="273239"/>
                </a:solidFill>
                <a:effectLst/>
                <a:latin typeface="Times New Roman" panose="02020603050405020304" pitchFamily="18" charset="0"/>
                <a:cs typeface="Times New Roman" panose="02020603050405020304" pitchFamily="18" charset="0"/>
              </a:rPr>
              <a:t> </a:t>
            </a:r>
          </a:p>
          <a:p>
            <a:pPr algn="just" fontAlgn="base">
              <a:lnSpc>
                <a:spcPct val="100000"/>
              </a:lnSpc>
              <a:spcBef>
                <a:spcPts val="0"/>
              </a:spcBef>
            </a:pPr>
            <a:r>
              <a:rPr lang="en-GB" sz="2000" b="0" i="0" dirty="0">
                <a:solidFill>
                  <a:srgbClr val="273239"/>
                </a:solidFill>
                <a:effectLst/>
                <a:latin typeface="Times New Roman" panose="02020603050405020304" pitchFamily="18" charset="0"/>
                <a:cs typeface="Times New Roman" panose="02020603050405020304" pitchFamily="18" charset="0"/>
              </a:rPr>
              <a:t>Machine Learning has opened new horizons which had helped us to build different advanced applications and methodologies so, that the machines become more efficient and provide a personalized experience to each individual and perform tasks in a snap of the hand earlier which requires heavy human </a:t>
            </a:r>
            <a:r>
              <a:rPr lang="en-GB" sz="2000" b="0" i="0" dirty="0" err="1">
                <a:solidFill>
                  <a:srgbClr val="273239"/>
                </a:solidFill>
                <a:effectLst/>
                <a:latin typeface="Times New Roman" panose="02020603050405020304" pitchFamily="18" charset="0"/>
                <a:cs typeface="Times New Roman" panose="02020603050405020304" pitchFamily="18" charset="0"/>
              </a:rPr>
              <a:t>labor</a:t>
            </a:r>
            <a:r>
              <a:rPr lang="en-GB" sz="2000" b="0" i="0" dirty="0">
                <a:solidFill>
                  <a:srgbClr val="273239"/>
                </a:solidFill>
                <a:effectLst/>
                <a:latin typeface="Times New Roman" panose="02020603050405020304" pitchFamily="18" charset="0"/>
                <a:cs typeface="Times New Roman" panose="02020603050405020304" pitchFamily="18" charset="0"/>
              </a:rPr>
              <a:t> and time intense.</a:t>
            </a:r>
          </a:p>
          <a:p>
            <a:pPr algn="just" fontAlgn="base">
              <a:spcBef>
                <a:spcPts val="0"/>
              </a:spcBef>
            </a:pPr>
            <a:endParaRPr lang="en-GB" sz="2000" b="0"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spcBef>
                <a:spcPts val="0"/>
              </a:spcBef>
              <a:buNone/>
            </a:pPr>
            <a:r>
              <a:rPr lang="en-GB" sz="2000" b="1" i="0" u="sng" dirty="0">
                <a:solidFill>
                  <a:srgbClr val="273239"/>
                </a:solidFill>
                <a:effectLst/>
                <a:latin typeface="Times New Roman" panose="02020603050405020304" pitchFamily="18" charset="0"/>
                <a:cs typeface="Times New Roman" panose="02020603050405020304" pitchFamily="18" charset="0"/>
              </a:rPr>
              <a:t>Deep Learning</a:t>
            </a:r>
            <a:r>
              <a:rPr lang="en-GB" sz="2000" b="0" i="0" dirty="0">
                <a:solidFill>
                  <a:srgbClr val="273239"/>
                </a:solidFill>
                <a:effectLst/>
                <a:latin typeface="Times New Roman" panose="02020603050405020304" pitchFamily="18" charset="0"/>
                <a:cs typeface="Times New Roman" panose="02020603050405020304" pitchFamily="18" charset="0"/>
              </a:rPr>
              <a:t> </a:t>
            </a:r>
          </a:p>
          <a:p>
            <a:pPr algn="just" fontAlgn="base">
              <a:lnSpc>
                <a:spcPct val="100000"/>
              </a:lnSpc>
              <a:spcBef>
                <a:spcPts val="0"/>
              </a:spcBef>
            </a:pPr>
            <a:r>
              <a:rPr lang="en-GB" sz="2000" b="0" i="0" dirty="0">
                <a:solidFill>
                  <a:srgbClr val="273239"/>
                </a:solidFill>
                <a:effectLst/>
                <a:latin typeface="Times New Roman" panose="02020603050405020304" pitchFamily="18" charset="0"/>
                <a:cs typeface="Times New Roman" panose="02020603050405020304" pitchFamily="18" charset="0"/>
              </a:rPr>
              <a:t>This is also a part of Artificial Intelligence and Machine Learning but it is a bit more advanced than machine learning itself. </a:t>
            </a:r>
          </a:p>
          <a:p>
            <a:pPr algn="just" fontAlgn="base">
              <a:lnSpc>
                <a:spcPct val="100000"/>
              </a:lnSpc>
              <a:spcBef>
                <a:spcPts val="0"/>
              </a:spcBef>
            </a:pPr>
            <a:r>
              <a:rPr lang="en-GB" sz="2000" b="0" i="0" dirty="0">
                <a:solidFill>
                  <a:srgbClr val="273239"/>
                </a:solidFill>
                <a:effectLst/>
                <a:latin typeface="Times New Roman" panose="02020603050405020304" pitchFamily="18" charset="0"/>
                <a:cs typeface="Times New Roman" panose="02020603050405020304" pitchFamily="18" charset="0"/>
              </a:rPr>
              <a:t>High computing power and a huge corpus of data have led to the emergence of this field in data science.</a:t>
            </a:r>
          </a:p>
          <a:p>
            <a:pPr marL="0" indent="0" algn="just">
              <a:buNone/>
            </a:pPr>
            <a:endParaRPr lang="en-US" sz="2000" dirty="0"/>
          </a:p>
        </p:txBody>
      </p:sp>
    </p:spTree>
    <p:extLst>
      <p:ext uri="{BB962C8B-B14F-4D97-AF65-F5344CB8AC3E}">
        <p14:creationId xmlns:p14="http://schemas.microsoft.com/office/powerpoint/2010/main" val="2605731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3963-25B1-A484-6244-6A9982BD81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A5B3B8-CF34-6569-8F88-E47FF04CD931}"/>
              </a:ext>
            </a:extLst>
          </p:cNvPr>
          <p:cNvSpPr>
            <a:spLocks noGrp="1"/>
          </p:cNvSpPr>
          <p:nvPr>
            <p:ph idx="1"/>
          </p:nvPr>
        </p:nvSpPr>
        <p:spPr>
          <a:xfrm>
            <a:off x="132080" y="152400"/>
            <a:ext cx="11927840" cy="6532880"/>
          </a:xfrm>
        </p:spPr>
        <p:txBody>
          <a:bodyPr>
            <a:normAutofit/>
          </a:bodyPr>
          <a:lstStyle/>
          <a:p>
            <a:pPr marL="0" indent="0" algn="just" fontAlgn="base">
              <a:buNone/>
            </a:pPr>
            <a:r>
              <a:rPr lang="en-GB" sz="2000" b="1" i="0" dirty="0">
                <a:solidFill>
                  <a:srgbClr val="273239"/>
                </a:solidFill>
                <a:effectLst/>
                <a:latin typeface="Times New Roman" panose="02020603050405020304" pitchFamily="18" charset="0"/>
                <a:cs typeface="Times New Roman" panose="02020603050405020304" pitchFamily="18" charset="0"/>
              </a:rPr>
              <a:t>Knowledge and Skills for Data Science Professionals</a:t>
            </a:r>
          </a:p>
          <a:p>
            <a:pPr marL="0" indent="0" algn="just" fontAlgn="base">
              <a:spcAft>
                <a:spcPts val="600"/>
              </a:spcAft>
              <a:buNone/>
            </a:pPr>
            <a:r>
              <a:rPr lang="en-GB" sz="2000" b="1" i="0" dirty="0">
                <a:solidFill>
                  <a:srgbClr val="273239"/>
                </a:solidFill>
                <a:effectLst/>
                <a:latin typeface="Times New Roman" panose="02020603050405020304" pitchFamily="18" charset="0"/>
                <a:cs typeface="Times New Roman" panose="02020603050405020304" pitchFamily="18" charset="0"/>
              </a:rPr>
              <a:t>Statistics:</a:t>
            </a:r>
            <a:r>
              <a:rPr lang="en-GB" sz="2000" b="0" i="0" dirty="0">
                <a:solidFill>
                  <a:srgbClr val="273239"/>
                </a:solidFill>
                <a:effectLst/>
                <a:latin typeface="Times New Roman" panose="02020603050405020304" pitchFamily="18" charset="0"/>
                <a:cs typeface="Times New Roman" panose="02020603050405020304" pitchFamily="18" charset="0"/>
              </a:rPr>
              <a:t> </a:t>
            </a:r>
          </a:p>
          <a:p>
            <a:pPr algn="just" fontAlgn="base">
              <a:spcAft>
                <a:spcPts val="600"/>
              </a:spcAft>
              <a:buFont typeface="Arial" panose="020B0604020202020204" pitchFamily="34" charset="0"/>
              <a:buChar char="•"/>
            </a:pPr>
            <a:r>
              <a:rPr lang="en-GB" sz="2000" b="0" i="0" dirty="0">
                <a:solidFill>
                  <a:srgbClr val="273239"/>
                </a:solidFill>
                <a:effectLst/>
                <a:latin typeface="Times New Roman" panose="02020603050405020304" pitchFamily="18" charset="0"/>
                <a:cs typeface="Times New Roman" panose="02020603050405020304" pitchFamily="18" charset="0"/>
              </a:rPr>
              <a:t>Defines it as the study of the collection, analysis, interpretation, presentation, and organization of data. </a:t>
            </a:r>
          </a:p>
          <a:p>
            <a:pPr marL="0" indent="0" algn="just" fontAlgn="base">
              <a:spcAft>
                <a:spcPts val="1800"/>
              </a:spcAft>
              <a:buNone/>
            </a:pPr>
            <a:r>
              <a:rPr lang="en-GB" sz="2000" b="1" i="0" dirty="0">
                <a:solidFill>
                  <a:srgbClr val="273239"/>
                </a:solidFill>
                <a:effectLst/>
                <a:latin typeface="Times New Roman" panose="02020603050405020304" pitchFamily="18" charset="0"/>
                <a:cs typeface="Times New Roman" panose="02020603050405020304" pitchFamily="18" charset="0"/>
              </a:rPr>
              <a:t>Programming Language R/ Python:</a:t>
            </a:r>
            <a:r>
              <a:rPr lang="en-GB" sz="2000" b="0" i="0" dirty="0">
                <a:solidFill>
                  <a:srgbClr val="273239"/>
                </a:solidFill>
                <a:effectLst/>
                <a:latin typeface="Times New Roman" panose="02020603050405020304" pitchFamily="18" charset="0"/>
                <a:cs typeface="Times New Roman" panose="02020603050405020304" pitchFamily="18" charset="0"/>
              </a:rPr>
              <a:t> </a:t>
            </a:r>
          </a:p>
          <a:p>
            <a:pPr algn="just" fontAlgn="base">
              <a:spcAft>
                <a:spcPts val="600"/>
              </a:spcAft>
            </a:pPr>
            <a:r>
              <a:rPr lang="en-GB" sz="2000" b="0" i="0" dirty="0">
                <a:solidFill>
                  <a:srgbClr val="273239"/>
                </a:solidFill>
                <a:effectLst/>
                <a:latin typeface="Times New Roman" panose="02020603050405020304" pitchFamily="18" charset="0"/>
                <a:cs typeface="Times New Roman" panose="02020603050405020304" pitchFamily="18" charset="0"/>
              </a:rPr>
              <a:t>Python and R are one of the most widely used languages by Data Scientists. </a:t>
            </a:r>
          </a:p>
          <a:p>
            <a:pPr algn="just" fontAlgn="base">
              <a:spcAft>
                <a:spcPts val="600"/>
              </a:spcAft>
            </a:pPr>
            <a:r>
              <a:rPr lang="en-GB" sz="2000" b="0" i="0" dirty="0">
                <a:solidFill>
                  <a:srgbClr val="273239"/>
                </a:solidFill>
                <a:effectLst/>
                <a:latin typeface="Times New Roman" panose="02020603050405020304" pitchFamily="18" charset="0"/>
                <a:cs typeface="Times New Roman" panose="02020603050405020304" pitchFamily="18" charset="0"/>
              </a:rPr>
              <a:t>The primary reason is the number of packages available for Numeric and Scientific computing.</a:t>
            </a:r>
          </a:p>
          <a:p>
            <a:pPr marL="0" indent="0" algn="just" fontAlgn="base">
              <a:spcAft>
                <a:spcPts val="1800"/>
              </a:spcAft>
              <a:buNone/>
            </a:pPr>
            <a:r>
              <a:rPr lang="en-GB" sz="2000" b="1" i="0" dirty="0">
                <a:solidFill>
                  <a:srgbClr val="273239"/>
                </a:solidFill>
                <a:effectLst/>
                <a:latin typeface="Times New Roman" panose="02020603050405020304" pitchFamily="18" charset="0"/>
                <a:cs typeface="Times New Roman" panose="02020603050405020304" pitchFamily="18" charset="0"/>
              </a:rPr>
              <a:t>Data Extraction, Transformation, and Loading: </a:t>
            </a:r>
          </a:p>
          <a:p>
            <a:pPr algn="just" fontAlgn="base">
              <a:spcBef>
                <a:spcPts val="600"/>
              </a:spcBef>
              <a:spcAft>
                <a:spcPts val="600"/>
              </a:spcAft>
            </a:pPr>
            <a:r>
              <a:rPr lang="en-GB" sz="2000" b="0" i="0" dirty="0">
                <a:solidFill>
                  <a:srgbClr val="273239"/>
                </a:solidFill>
                <a:effectLst/>
                <a:latin typeface="Times New Roman" panose="02020603050405020304" pitchFamily="18" charset="0"/>
                <a:cs typeface="Times New Roman" panose="02020603050405020304" pitchFamily="18" charset="0"/>
              </a:rPr>
              <a:t>Suppose we have multiple data sources like MySQL DB, MongoDB, Google Analytics. </a:t>
            </a:r>
          </a:p>
          <a:p>
            <a:pPr algn="just" fontAlgn="base">
              <a:spcBef>
                <a:spcPts val="600"/>
              </a:spcBef>
              <a:spcAft>
                <a:spcPts val="600"/>
              </a:spcAft>
            </a:pPr>
            <a:r>
              <a:rPr lang="en-GB" sz="2000" b="0" i="0" dirty="0">
                <a:solidFill>
                  <a:srgbClr val="273239"/>
                </a:solidFill>
                <a:effectLst/>
                <a:latin typeface="Times New Roman" panose="02020603050405020304" pitchFamily="18" charset="0"/>
                <a:cs typeface="Times New Roman" panose="02020603050405020304" pitchFamily="18" charset="0"/>
              </a:rPr>
              <a:t>You have to Extract data from such sources, and then transform it for storing in a proper format or structure for the purposes of querying and analysis. </a:t>
            </a:r>
          </a:p>
          <a:p>
            <a:pPr algn="just" fontAlgn="base">
              <a:spcBef>
                <a:spcPts val="600"/>
              </a:spcBef>
              <a:spcAft>
                <a:spcPts val="600"/>
              </a:spcAft>
            </a:pPr>
            <a:r>
              <a:rPr lang="en-GB" sz="2000" b="0" i="0" dirty="0">
                <a:solidFill>
                  <a:srgbClr val="273239"/>
                </a:solidFill>
                <a:effectLst/>
                <a:latin typeface="Times New Roman" panose="02020603050405020304" pitchFamily="18" charset="0"/>
                <a:cs typeface="Times New Roman" panose="02020603050405020304" pitchFamily="18" charset="0"/>
              </a:rPr>
              <a:t>Finally, you have to load the data in the Data Warehouse, where you will </a:t>
            </a:r>
            <a:r>
              <a:rPr lang="en-GB" sz="2000" b="0" i="0" dirty="0" err="1">
                <a:solidFill>
                  <a:srgbClr val="273239"/>
                </a:solidFill>
                <a:effectLst/>
                <a:latin typeface="Times New Roman" panose="02020603050405020304" pitchFamily="18" charset="0"/>
                <a:cs typeface="Times New Roman" panose="02020603050405020304" pitchFamily="18" charset="0"/>
              </a:rPr>
              <a:t>analyze</a:t>
            </a:r>
            <a:r>
              <a:rPr lang="en-GB" sz="2000" b="0" i="0" dirty="0">
                <a:solidFill>
                  <a:srgbClr val="273239"/>
                </a:solidFill>
                <a:effectLst/>
                <a:latin typeface="Times New Roman" panose="02020603050405020304" pitchFamily="18" charset="0"/>
                <a:cs typeface="Times New Roman" panose="02020603050405020304" pitchFamily="18" charset="0"/>
              </a:rPr>
              <a:t> the data. </a:t>
            </a:r>
          </a:p>
        </p:txBody>
      </p:sp>
    </p:spTree>
    <p:extLst>
      <p:ext uri="{BB962C8B-B14F-4D97-AF65-F5344CB8AC3E}">
        <p14:creationId xmlns:p14="http://schemas.microsoft.com/office/powerpoint/2010/main" val="710528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C0908-658F-871F-4879-EE652E76B9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9FED88-3231-5A8B-1483-E9719494C949}"/>
              </a:ext>
            </a:extLst>
          </p:cNvPr>
          <p:cNvSpPr>
            <a:spLocks noGrp="1"/>
          </p:cNvSpPr>
          <p:nvPr>
            <p:ph idx="1"/>
          </p:nvPr>
        </p:nvSpPr>
        <p:spPr>
          <a:xfrm>
            <a:off x="132080" y="0"/>
            <a:ext cx="11927840" cy="6685280"/>
          </a:xfrm>
        </p:spPr>
        <p:txBody>
          <a:bodyPr>
            <a:noAutofit/>
          </a:bodyPr>
          <a:lstStyle/>
          <a:p>
            <a:pPr marL="0" indent="0" algn="l" fontAlgn="base">
              <a:buNone/>
            </a:pPr>
            <a:r>
              <a:rPr lang="en-GB" sz="1800" b="1" i="0" dirty="0">
                <a:solidFill>
                  <a:srgbClr val="273239"/>
                </a:solidFill>
                <a:effectLst/>
                <a:latin typeface="Times New Roman" panose="02020603050405020304" pitchFamily="18" charset="0"/>
                <a:cs typeface="Times New Roman" panose="02020603050405020304" pitchFamily="18" charset="0"/>
              </a:rPr>
              <a:t>Steps for Data Science Processes:</a:t>
            </a:r>
          </a:p>
          <a:p>
            <a:pPr marL="0" indent="0" algn="l" fontAlgn="base">
              <a:spcBef>
                <a:spcPts val="0"/>
              </a:spcBef>
              <a:buNone/>
            </a:pPr>
            <a:r>
              <a:rPr lang="en-GB" sz="1800" b="1" i="0" dirty="0">
                <a:solidFill>
                  <a:srgbClr val="273239"/>
                </a:solidFill>
                <a:effectLst/>
                <a:latin typeface="Times New Roman" panose="02020603050405020304" pitchFamily="18" charset="0"/>
                <a:cs typeface="Times New Roman" panose="02020603050405020304" pitchFamily="18" charset="0"/>
              </a:rPr>
              <a:t>Step 1: Define the Problem and Create a Project Charter</a:t>
            </a:r>
          </a:p>
          <a:p>
            <a:pPr algn="l" rtl="0" fontAlgn="base">
              <a:spcBef>
                <a:spcPts val="0"/>
              </a:spcBef>
            </a:pPr>
            <a:r>
              <a:rPr lang="en-GB" sz="1800" b="0" i="0" dirty="0">
                <a:solidFill>
                  <a:srgbClr val="273239"/>
                </a:solidFill>
                <a:effectLst/>
                <a:latin typeface="Times New Roman" panose="02020603050405020304" pitchFamily="18" charset="0"/>
                <a:cs typeface="Times New Roman" panose="02020603050405020304" pitchFamily="18" charset="0"/>
              </a:rPr>
              <a:t>Clearly defining the research goals is the first step in the </a:t>
            </a:r>
            <a:r>
              <a:rPr lang="en-GB" sz="1800" b="1" i="0" dirty="0">
                <a:solidFill>
                  <a:srgbClr val="273239"/>
                </a:solidFill>
                <a:effectLst/>
                <a:latin typeface="Times New Roman" panose="02020603050405020304" pitchFamily="18" charset="0"/>
                <a:cs typeface="Times New Roman" panose="02020603050405020304" pitchFamily="18" charset="0"/>
              </a:rPr>
              <a:t>Data Science Process</a:t>
            </a:r>
            <a:r>
              <a:rPr lang="en-GB" sz="1800" b="0" i="0" dirty="0">
                <a:solidFill>
                  <a:srgbClr val="273239"/>
                </a:solidFill>
                <a:effectLst/>
                <a:latin typeface="Times New Roman" panose="02020603050405020304" pitchFamily="18" charset="0"/>
                <a:cs typeface="Times New Roman" panose="02020603050405020304" pitchFamily="18" charset="0"/>
              </a:rPr>
              <a:t>. </a:t>
            </a:r>
          </a:p>
          <a:p>
            <a:pPr algn="l" rtl="0" fontAlgn="base">
              <a:spcBef>
                <a:spcPts val="0"/>
              </a:spcBef>
            </a:pPr>
            <a:r>
              <a:rPr lang="en-GB" sz="1800" b="0" i="0" dirty="0">
                <a:solidFill>
                  <a:srgbClr val="273239"/>
                </a:solidFill>
                <a:effectLst/>
                <a:latin typeface="Times New Roman" panose="02020603050405020304" pitchFamily="18" charset="0"/>
                <a:cs typeface="Times New Roman" panose="02020603050405020304" pitchFamily="18" charset="0"/>
              </a:rPr>
              <a:t>A </a:t>
            </a:r>
            <a:r>
              <a:rPr lang="en-GB" sz="1800" b="1" i="0" dirty="0">
                <a:solidFill>
                  <a:srgbClr val="273239"/>
                </a:solidFill>
                <a:effectLst/>
                <a:latin typeface="Times New Roman" panose="02020603050405020304" pitchFamily="18" charset="0"/>
                <a:cs typeface="Times New Roman" panose="02020603050405020304" pitchFamily="18" charset="0"/>
              </a:rPr>
              <a:t>project charter</a:t>
            </a:r>
            <a:r>
              <a:rPr lang="en-GB" sz="1800" b="0" i="0" dirty="0">
                <a:solidFill>
                  <a:srgbClr val="273239"/>
                </a:solidFill>
                <a:effectLst/>
                <a:latin typeface="Times New Roman" panose="02020603050405020304" pitchFamily="18" charset="0"/>
                <a:cs typeface="Times New Roman" panose="02020603050405020304" pitchFamily="18" charset="0"/>
              </a:rPr>
              <a:t> outlines the objectives, resources, deliverables, and timeline, ensuring that all stakeholders are aligned.</a:t>
            </a:r>
          </a:p>
          <a:p>
            <a:pPr algn="l" rtl="0" fontAlgn="base">
              <a:spcBef>
                <a:spcPts val="0"/>
              </a:spcBef>
            </a:pPr>
            <a:endParaRPr lang="en-GB" sz="18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spcBef>
                <a:spcPts val="0"/>
              </a:spcBef>
              <a:buNone/>
            </a:pPr>
            <a:r>
              <a:rPr lang="en-GB" sz="1800" b="1" i="0" dirty="0">
                <a:solidFill>
                  <a:srgbClr val="273239"/>
                </a:solidFill>
                <a:effectLst/>
                <a:latin typeface="Times New Roman" panose="02020603050405020304" pitchFamily="18" charset="0"/>
                <a:cs typeface="Times New Roman" panose="02020603050405020304" pitchFamily="18" charset="0"/>
              </a:rPr>
              <a:t>Step 2: Retrieve Data</a:t>
            </a:r>
          </a:p>
          <a:p>
            <a:pPr algn="l" rtl="0" fontAlgn="base">
              <a:spcBef>
                <a:spcPts val="0"/>
              </a:spcBef>
            </a:pPr>
            <a:r>
              <a:rPr lang="en-GB" sz="1800" b="0" i="0" dirty="0">
                <a:solidFill>
                  <a:srgbClr val="273239"/>
                </a:solidFill>
                <a:effectLst/>
                <a:latin typeface="Times New Roman" panose="02020603050405020304" pitchFamily="18" charset="0"/>
                <a:cs typeface="Times New Roman" panose="02020603050405020304" pitchFamily="18" charset="0"/>
              </a:rPr>
              <a:t>Data can be stored in databases, data warehouses, or data lakes within an organization. </a:t>
            </a:r>
          </a:p>
          <a:p>
            <a:pPr algn="l" rtl="0" fontAlgn="base">
              <a:spcBef>
                <a:spcPts val="0"/>
              </a:spcBef>
            </a:pPr>
            <a:r>
              <a:rPr lang="en-GB" sz="1800" b="0" i="0" dirty="0">
                <a:solidFill>
                  <a:srgbClr val="273239"/>
                </a:solidFill>
                <a:effectLst/>
                <a:latin typeface="Times New Roman" panose="02020603050405020304" pitchFamily="18" charset="0"/>
                <a:cs typeface="Times New Roman" panose="02020603050405020304" pitchFamily="18" charset="0"/>
              </a:rPr>
              <a:t>Accessing this data often involves navigating company policies and requesting permissions.</a:t>
            </a:r>
          </a:p>
          <a:p>
            <a:pPr algn="l" rtl="0" fontAlgn="base">
              <a:spcBef>
                <a:spcPts val="0"/>
              </a:spcBef>
            </a:pPr>
            <a:endParaRPr lang="en-GB" sz="18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spcBef>
                <a:spcPts val="0"/>
              </a:spcBef>
              <a:buNone/>
            </a:pPr>
            <a:r>
              <a:rPr lang="en-GB" sz="1800" b="1" i="0" dirty="0">
                <a:solidFill>
                  <a:srgbClr val="273239"/>
                </a:solidFill>
                <a:effectLst/>
                <a:latin typeface="Times New Roman" panose="02020603050405020304" pitchFamily="18" charset="0"/>
                <a:cs typeface="Times New Roman" panose="02020603050405020304" pitchFamily="18" charset="0"/>
              </a:rPr>
              <a:t>Step 3: Data Cleansing, Integration, and Transformation</a:t>
            </a:r>
          </a:p>
          <a:p>
            <a:pPr algn="l" rtl="0" fontAlgn="base">
              <a:spcBef>
                <a:spcPts val="0"/>
              </a:spcBef>
            </a:pPr>
            <a:r>
              <a:rPr lang="en-GB" sz="1800" b="0" i="0" dirty="0">
                <a:solidFill>
                  <a:srgbClr val="273239"/>
                </a:solidFill>
                <a:effectLst/>
                <a:latin typeface="Times New Roman" panose="02020603050405020304" pitchFamily="18" charset="0"/>
                <a:cs typeface="Times New Roman" panose="02020603050405020304" pitchFamily="18" charset="0"/>
              </a:rPr>
              <a:t>Data cleaning ensures that errors, inconsistencies, and outliers are removed. </a:t>
            </a:r>
          </a:p>
          <a:p>
            <a:pPr algn="l" rtl="0" fontAlgn="base">
              <a:spcBef>
                <a:spcPts val="0"/>
              </a:spcBef>
            </a:pPr>
            <a:r>
              <a:rPr lang="en-GB" sz="1800" b="1" i="0" dirty="0">
                <a:solidFill>
                  <a:srgbClr val="273239"/>
                </a:solidFill>
                <a:effectLst/>
                <a:latin typeface="Times New Roman" panose="02020603050405020304" pitchFamily="18" charset="0"/>
                <a:cs typeface="Times New Roman" panose="02020603050405020304" pitchFamily="18" charset="0"/>
              </a:rPr>
              <a:t>Data integration</a:t>
            </a:r>
            <a:r>
              <a:rPr lang="en-GB" sz="1800" b="0" i="0" dirty="0">
                <a:solidFill>
                  <a:srgbClr val="273239"/>
                </a:solidFill>
                <a:effectLst/>
                <a:latin typeface="Times New Roman" panose="02020603050405020304" pitchFamily="18" charset="0"/>
                <a:cs typeface="Times New Roman" panose="02020603050405020304" pitchFamily="18" charset="0"/>
              </a:rPr>
              <a:t> combines datasets from different sources, while </a:t>
            </a:r>
            <a:r>
              <a:rPr lang="en-GB" sz="1800" b="1" i="0" dirty="0">
                <a:solidFill>
                  <a:srgbClr val="273239"/>
                </a:solidFill>
                <a:effectLst/>
                <a:latin typeface="Times New Roman" panose="02020603050405020304" pitchFamily="18" charset="0"/>
                <a:cs typeface="Times New Roman" panose="02020603050405020304" pitchFamily="18" charset="0"/>
              </a:rPr>
              <a:t>data transformation</a:t>
            </a:r>
            <a:r>
              <a:rPr lang="en-GB" sz="1800" b="0" i="0" dirty="0">
                <a:solidFill>
                  <a:srgbClr val="273239"/>
                </a:solidFill>
                <a:effectLst/>
                <a:latin typeface="Times New Roman" panose="02020603050405020304" pitchFamily="18" charset="0"/>
                <a:cs typeface="Times New Roman" panose="02020603050405020304" pitchFamily="18" charset="0"/>
              </a:rPr>
              <a:t> prepares the data </a:t>
            </a:r>
            <a:r>
              <a:rPr lang="en-GB" sz="1800" b="0" i="0">
                <a:solidFill>
                  <a:srgbClr val="273239"/>
                </a:solidFill>
                <a:effectLst/>
                <a:latin typeface="Times New Roman" panose="02020603050405020304" pitchFamily="18" charset="0"/>
                <a:cs typeface="Times New Roman" panose="02020603050405020304" pitchFamily="18" charset="0"/>
              </a:rPr>
              <a:t>for modelling </a:t>
            </a:r>
            <a:r>
              <a:rPr lang="en-GB" sz="1800" b="0" i="0" dirty="0">
                <a:solidFill>
                  <a:srgbClr val="273239"/>
                </a:solidFill>
                <a:effectLst/>
                <a:latin typeface="Times New Roman" panose="02020603050405020304" pitchFamily="18" charset="0"/>
                <a:cs typeface="Times New Roman" panose="02020603050405020304" pitchFamily="18" charset="0"/>
              </a:rPr>
              <a:t>by reshaping variables or creating new features.</a:t>
            </a:r>
          </a:p>
          <a:p>
            <a:pPr algn="l" rtl="0" fontAlgn="base">
              <a:spcBef>
                <a:spcPts val="0"/>
              </a:spcBef>
            </a:pPr>
            <a:endParaRPr lang="en-GB" sz="18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spcBef>
                <a:spcPts val="0"/>
              </a:spcBef>
              <a:buNone/>
            </a:pPr>
            <a:r>
              <a:rPr lang="en-GB" sz="1800" b="1" i="0" dirty="0">
                <a:solidFill>
                  <a:srgbClr val="273239"/>
                </a:solidFill>
                <a:effectLst/>
                <a:latin typeface="Times New Roman" panose="02020603050405020304" pitchFamily="18" charset="0"/>
                <a:cs typeface="Times New Roman" panose="02020603050405020304" pitchFamily="18" charset="0"/>
              </a:rPr>
              <a:t>Step 4: Exploratory Data Analysis (EDA)</a:t>
            </a:r>
          </a:p>
          <a:p>
            <a:pPr algn="l" rtl="0" fontAlgn="base">
              <a:spcBef>
                <a:spcPts val="0"/>
              </a:spcBef>
            </a:pPr>
            <a:r>
              <a:rPr lang="en-GB" sz="1800" b="0" i="0" dirty="0">
                <a:solidFill>
                  <a:srgbClr val="273239"/>
                </a:solidFill>
                <a:effectLst/>
                <a:latin typeface="Times New Roman" panose="02020603050405020304" pitchFamily="18" charset="0"/>
                <a:cs typeface="Times New Roman" panose="02020603050405020304" pitchFamily="18" charset="0"/>
              </a:rPr>
              <a:t>During EDA, various </a:t>
            </a:r>
            <a:r>
              <a:rPr lang="en-GB" sz="1800" b="1" i="0" dirty="0">
                <a:solidFill>
                  <a:srgbClr val="273239"/>
                </a:solidFill>
                <a:effectLst/>
                <a:latin typeface="Times New Roman" panose="02020603050405020304" pitchFamily="18" charset="0"/>
                <a:cs typeface="Times New Roman" panose="02020603050405020304" pitchFamily="18" charset="0"/>
              </a:rPr>
              <a:t>graphical techniques</a:t>
            </a:r>
            <a:r>
              <a:rPr lang="en-GB" sz="1800" b="0" i="0" dirty="0">
                <a:solidFill>
                  <a:srgbClr val="273239"/>
                </a:solidFill>
                <a:effectLst/>
                <a:latin typeface="Times New Roman" panose="02020603050405020304" pitchFamily="18" charset="0"/>
                <a:cs typeface="Times New Roman" panose="02020603050405020304" pitchFamily="18" charset="0"/>
              </a:rPr>
              <a:t> like scatter plots, histograms, and box plots are used to visualize data and identify trends. </a:t>
            </a:r>
          </a:p>
          <a:p>
            <a:pPr algn="l" rtl="0" fontAlgn="base">
              <a:spcBef>
                <a:spcPts val="0"/>
              </a:spcBef>
            </a:pPr>
            <a:r>
              <a:rPr lang="en-GB" sz="1800" b="0" i="0" dirty="0">
                <a:solidFill>
                  <a:srgbClr val="273239"/>
                </a:solidFill>
                <a:effectLst/>
                <a:latin typeface="Times New Roman" panose="02020603050405020304" pitchFamily="18" charset="0"/>
                <a:cs typeface="Times New Roman" panose="02020603050405020304" pitchFamily="18" charset="0"/>
              </a:rPr>
              <a:t>This phase helps in selecting the right modelling techniques.</a:t>
            </a:r>
          </a:p>
          <a:p>
            <a:pPr algn="l" rtl="0" fontAlgn="base">
              <a:spcBef>
                <a:spcPts val="0"/>
              </a:spcBef>
            </a:pPr>
            <a:endParaRPr lang="en-GB" sz="18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spcBef>
                <a:spcPts val="0"/>
              </a:spcBef>
              <a:buNone/>
            </a:pPr>
            <a:r>
              <a:rPr lang="en-GB" sz="1800" b="1" i="0" dirty="0">
                <a:solidFill>
                  <a:srgbClr val="273239"/>
                </a:solidFill>
                <a:effectLst/>
                <a:latin typeface="Times New Roman" panose="02020603050405020304" pitchFamily="18" charset="0"/>
                <a:cs typeface="Times New Roman" panose="02020603050405020304" pitchFamily="18" charset="0"/>
              </a:rPr>
              <a:t>Step 5: Build Models</a:t>
            </a:r>
          </a:p>
          <a:p>
            <a:pPr algn="l" rtl="0" fontAlgn="base">
              <a:spcBef>
                <a:spcPts val="0"/>
              </a:spcBef>
            </a:pPr>
            <a:r>
              <a:rPr lang="en-GB" sz="1800" b="0" i="0" dirty="0">
                <a:solidFill>
                  <a:srgbClr val="273239"/>
                </a:solidFill>
                <a:effectLst/>
                <a:latin typeface="Times New Roman" panose="02020603050405020304" pitchFamily="18" charset="0"/>
                <a:cs typeface="Times New Roman" panose="02020603050405020304" pitchFamily="18" charset="0"/>
              </a:rPr>
              <a:t>In this step, </a:t>
            </a:r>
            <a:r>
              <a:rPr lang="en-GB" sz="1800" b="1" i="0" dirty="0">
                <a:solidFill>
                  <a:srgbClr val="273239"/>
                </a:solidFill>
                <a:effectLst/>
                <a:latin typeface="Times New Roman" panose="02020603050405020304" pitchFamily="18" charset="0"/>
                <a:cs typeface="Times New Roman" panose="02020603050405020304" pitchFamily="18" charset="0"/>
              </a:rPr>
              <a:t>machine learning</a:t>
            </a:r>
            <a:r>
              <a:rPr lang="en-GB" sz="1800" b="0" i="0" dirty="0">
                <a:solidFill>
                  <a:srgbClr val="273239"/>
                </a:solidFill>
                <a:effectLst/>
                <a:latin typeface="Times New Roman" panose="02020603050405020304" pitchFamily="18" charset="0"/>
                <a:cs typeface="Times New Roman" panose="02020603050405020304" pitchFamily="18" charset="0"/>
              </a:rPr>
              <a:t> or </a:t>
            </a:r>
            <a:r>
              <a:rPr lang="en-GB" sz="1800" b="1" i="0" dirty="0">
                <a:solidFill>
                  <a:srgbClr val="273239"/>
                </a:solidFill>
                <a:effectLst/>
                <a:latin typeface="Times New Roman" panose="02020603050405020304" pitchFamily="18" charset="0"/>
                <a:cs typeface="Times New Roman" panose="02020603050405020304" pitchFamily="18" charset="0"/>
              </a:rPr>
              <a:t>deep learning</a:t>
            </a:r>
            <a:r>
              <a:rPr lang="en-GB" sz="1800" b="0" i="0" dirty="0">
                <a:solidFill>
                  <a:srgbClr val="273239"/>
                </a:solidFill>
                <a:effectLst/>
                <a:latin typeface="Times New Roman" panose="02020603050405020304" pitchFamily="18" charset="0"/>
                <a:cs typeface="Times New Roman" panose="02020603050405020304" pitchFamily="18" charset="0"/>
              </a:rPr>
              <a:t> models are built to make predictions or classifications based on the data. </a:t>
            </a:r>
          </a:p>
          <a:p>
            <a:pPr algn="l" rtl="0" fontAlgn="base">
              <a:spcBef>
                <a:spcPts val="0"/>
              </a:spcBef>
            </a:pPr>
            <a:r>
              <a:rPr lang="en-GB" sz="1800" b="0" i="0" dirty="0">
                <a:solidFill>
                  <a:srgbClr val="273239"/>
                </a:solidFill>
                <a:effectLst/>
                <a:latin typeface="Times New Roman" panose="02020603050405020304" pitchFamily="18" charset="0"/>
                <a:cs typeface="Times New Roman" panose="02020603050405020304" pitchFamily="18" charset="0"/>
              </a:rPr>
              <a:t>The choice of algorithm depends on the complexity of the problem and the type of data.</a:t>
            </a:r>
          </a:p>
          <a:p>
            <a:pPr algn="l" rtl="0" fontAlgn="base">
              <a:spcBef>
                <a:spcPts val="0"/>
              </a:spcBef>
            </a:pPr>
            <a:endParaRPr lang="en-GB" sz="18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spcBef>
                <a:spcPts val="0"/>
              </a:spcBef>
              <a:buNone/>
            </a:pPr>
            <a:r>
              <a:rPr lang="en-GB" sz="1800" b="1" i="0" dirty="0">
                <a:solidFill>
                  <a:srgbClr val="273239"/>
                </a:solidFill>
                <a:effectLst/>
                <a:latin typeface="Times New Roman" panose="02020603050405020304" pitchFamily="18" charset="0"/>
                <a:cs typeface="Times New Roman" panose="02020603050405020304" pitchFamily="18" charset="0"/>
              </a:rPr>
              <a:t>Step 6: Present Findings and Deploy Models</a:t>
            </a:r>
          </a:p>
          <a:p>
            <a:pPr algn="l" rtl="0" fontAlgn="base">
              <a:spcBef>
                <a:spcPts val="0"/>
              </a:spcBef>
            </a:pPr>
            <a:r>
              <a:rPr lang="en-GB" sz="1800" b="0" i="0" dirty="0">
                <a:solidFill>
                  <a:srgbClr val="273239"/>
                </a:solidFill>
                <a:effectLst/>
                <a:latin typeface="Times New Roman" panose="02020603050405020304" pitchFamily="18" charset="0"/>
                <a:cs typeface="Times New Roman" panose="02020603050405020304" pitchFamily="18" charset="0"/>
              </a:rPr>
              <a:t>Once the analysis is complete, results are presented to stakeholders. </a:t>
            </a:r>
          </a:p>
          <a:p>
            <a:pPr algn="l" rtl="0" fontAlgn="base">
              <a:spcBef>
                <a:spcPts val="0"/>
              </a:spcBef>
            </a:pPr>
            <a:r>
              <a:rPr lang="en-GB" sz="1800" b="0" i="0" dirty="0">
                <a:solidFill>
                  <a:srgbClr val="273239"/>
                </a:solidFill>
                <a:effectLst/>
                <a:latin typeface="Times New Roman" panose="02020603050405020304" pitchFamily="18" charset="0"/>
                <a:cs typeface="Times New Roman" panose="02020603050405020304" pitchFamily="18" charset="0"/>
              </a:rPr>
              <a:t>Models are deployed into production systems to automate decision-making or support ongoing analysis.</a:t>
            </a: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0905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B4EFF-D2FC-47FB-5215-7B8EEFD855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B7591D-8A23-DA8A-5C74-4AA5DC65EF57}"/>
              </a:ext>
            </a:extLst>
          </p:cNvPr>
          <p:cNvSpPr>
            <a:spLocks noGrp="1"/>
          </p:cNvSpPr>
          <p:nvPr>
            <p:ph idx="1"/>
          </p:nvPr>
        </p:nvSpPr>
        <p:spPr>
          <a:xfrm>
            <a:off x="132080" y="152400"/>
            <a:ext cx="5963920" cy="6532880"/>
          </a:xfrm>
        </p:spPr>
        <p:txBody>
          <a:bodyPr>
            <a:normAutofit/>
          </a:bodyPr>
          <a:lstStyle/>
          <a:p>
            <a:pPr marL="0" indent="0" algn="l" fontAlgn="base">
              <a:buNone/>
            </a:pPr>
            <a:r>
              <a:rPr lang="en-GB" sz="1800" b="1" i="0" dirty="0">
                <a:solidFill>
                  <a:srgbClr val="273239"/>
                </a:solidFill>
                <a:effectLst/>
                <a:latin typeface="Times New Roman" panose="02020603050405020304" pitchFamily="18" charset="0"/>
                <a:cs typeface="Times New Roman" panose="02020603050405020304" pitchFamily="18" charset="0"/>
              </a:rPr>
              <a:t>Tools for Data Science Process</a:t>
            </a:r>
          </a:p>
          <a:p>
            <a:pPr marL="0" indent="0" algn="l" fontAlgn="base">
              <a:buNone/>
            </a:pPr>
            <a:r>
              <a:rPr lang="en-GB" sz="1800" i="0" dirty="0">
                <a:solidFill>
                  <a:srgbClr val="273239"/>
                </a:solidFill>
                <a:effectLst/>
                <a:latin typeface="Times New Roman" panose="02020603050405020304" pitchFamily="18" charset="0"/>
                <a:cs typeface="Times New Roman" panose="02020603050405020304" pitchFamily="18" charset="0"/>
              </a:rPr>
              <a:t>The Data Science Process involves various stages, and each stage requires specific tools. </a:t>
            </a:r>
          </a:p>
          <a:p>
            <a:pPr marL="0" indent="0" algn="l" fontAlgn="base">
              <a:buNone/>
            </a:pPr>
            <a:r>
              <a:rPr lang="en-GB" sz="1800" b="1" i="0" dirty="0">
                <a:solidFill>
                  <a:srgbClr val="273239"/>
                </a:solidFill>
                <a:effectLst/>
                <a:latin typeface="Times New Roman" panose="02020603050405020304" pitchFamily="18" charset="0"/>
                <a:cs typeface="Times New Roman" panose="02020603050405020304" pitchFamily="18" charset="0"/>
              </a:rPr>
              <a:t>1. Data Collection &amp; Acquisition  </a:t>
            </a:r>
          </a:p>
          <a:p>
            <a:pPr marL="0" indent="0" algn="l" fontAlgn="base">
              <a:buNone/>
            </a:pPr>
            <a:r>
              <a:rPr lang="en-GB" sz="1800" i="0" dirty="0">
                <a:solidFill>
                  <a:srgbClr val="273239"/>
                </a:solidFill>
                <a:effectLst/>
                <a:latin typeface="Times New Roman" panose="02020603050405020304" pitchFamily="18" charset="0"/>
                <a:cs typeface="Times New Roman" panose="02020603050405020304" pitchFamily="18" charset="0"/>
              </a:rPr>
              <a:t>🔹 APIs &amp; Web Scraping: </a:t>
            </a:r>
            <a:r>
              <a:rPr lang="en-GB" sz="1800" i="0" dirty="0" err="1">
                <a:solidFill>
                  <a:srgbClr val="273239"/>
                </a:solidFill>
                <a:effectLst/>
                <a:latin typeface="Times New Roman" panose="02020603050405020304" pitchFamily="18" charset="0"/>
                <a:cs typeface="Times New Roman" panose="02020603050405020304" pitchFamily="18" charset="0"/>
              </a:rPr>
              <a:t>BeautifulSoup</a:t>
            </a:r>
            <a:r>
              <a:rPr lang="en-GB" sz="1800" i="0" dirty="0">
                <a:solidFill>
                  <a:srgbClr val="273239"/>
                </a:solidFill>
                <a:effectLst/>
                <a:latin typeface="Times New Roman" panose="02020603050405020304" pitchFamily="18" charset="0"/>
                <a:cs typeface="Times New Roman" panose="02020603050405020304" pitchFamily="18" charset="0"/>
              </a:rPr>
              <a:t>, Scrapy, Selenium  </a:t>
            </a:r>
          </a:p>
          <a:p>
            <a:pPr marL="0" indent="0" algn="l" fontAlgn="base">
              <a:buNone/>
            </a:pPr>
            <a:r>
              <a:rPr lang="en-GB" sz="1800" i="0" dirty="0">
                <a:solidFill>
                  <a:srgbClr val="273239"/>
                </a:solidFill>
                <a:effectLst/>
                <a:latin typeface="Times New Roman" panose="02020603050405020304" pitchFamily="18" charset="0"/>
                <a:cs typeface="Times New Roman" panose="02020603050405020304" pitchFamily="18" charset="0"/>
              </a:rPr>
              <a:t>🔹 Databases &amp; Querying: MySQL, PostgreSQL, MongoDB  </a:t>
            </a:r>
          </a:p>
          <a:p>
            <a:pPr marL="0" indent="0" algn="l" fontAlgn="base">
              <a:buNone/>
            </a:pPr>
            <a:r>
              <a:rPr lang="en-GB" sz="1800" i="0" dirty="0">
                <a:solidFill>
                  <a:srgbClr val="273239"/>
                </a:solidFill>
                <a:effectLst/>
                <a:latin typeface="Times New Roman" panose="02020603050405020304" pitchFamily="18" charset="0"/>
                <a:cs typeface="Times New Roman" panose="02020603050405020304" pitchFamily="18" charset="0"/>
              </a:rPr>
              <a:t>🔹 Big Data Processing: Hadoop, Apache Spark  </a:t>
            </a:r>
          </a:p>
          <a:p>
            <a:pPr marL="0" indent="0" algn="l" fontAlgn="base">
              <a:buNone/>
            </a:pPr>
            <a:endParaRPr lang="en-GB" sz="180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GB" sz="1800" b="1" i="0" dirty="0">
                <a:solidFill>
                  <a:srgbClr val="273239"/>
                </a:solidFill>
                <a:effectLst/>
                <a:latin typeface="Times New Roman" panose="02020603050405020304" pitchFamily="18" charset="0"/>
                <a:cs typeface="Times New Roman" panose="02020603050405020304" pitchFamily="18" charset="0"/>
              </a:rPr>
              <a:t> 2. Data Cleaning &amp; Preparation  </a:t>
            </a:r>
          </a:p>
          <a:p>
            <a:pPr marL="0" indent="0" algn="l" fontAlgn="base">
              <a:buNone/>
            </a:pPr>
            <a:r>
              <a:rPr lang="en-GB" sz="1800" i="0" dirty="0">
                <a:solidFill>
                  <a:srgbClr val="273239"/>
                </a:solidFill>
                <a:effectLst/>
                <a:latin typeface="Times New Roman" panose="02020603050405020304" pitchFamily="18" charset="0"/>
                <a:cs typeface="Times New Roman" panose="02020603050405020304" pitchFamily="18" charset="0"/>
              </a:rPr>
              <a:t>🔹 Data Manipulation: Pandas, NumPy  </a:t>
            </a:r>
          </a:p>
          <a:p>
            <a:pPr marL="0" indent="0" algn="l" fontAlgn="base">
              <a:buNone/>
            </a:pPr>
            <a:r>
              <a:rPr lang="en-GB" sz="1800" i="0" dirty="0">
                <a:solidFill>
                  <a:srgbClr val="273239"/>
                </a:solidFill>
                <a:effectLst/>
                <a:latin typeface="Times New Roman" panose="02020603050405020304" pitchFamily="18" charset="0"/>
                <a:cs typeface="Times New Roman" panose="02020603050405020304" pitchFamily="18" charset="0"/>
              </a:rPr>
              <a:t>🔹 ETL (Extract, Transform, Load): Talend, Apache </a:t>
            </a:r>
            <a:r>
              <a:rPr lang="en-GB" sz="1800" i="0" dirty="0" err="1">
                <a:solidFill>
                  <a:srgbClr val="273239"/>
                </a:solidFill>
                <a:effectLst/>
                <a:latin typeface="Times New Roman" panose="02020603050405020304" pitchFamily="18" charset="0"/>
                <a:cs typeface="Times New Roman" panose="02020603050405020304" pitchFamily="18" charset="0"/>
              </a:rPr>
              <a:t>NiFi</a:t>
            </a:r>
            <a:r>
              <a:rPr lang="en-GB" sz="1800" i="0" dirty="0">
                <a:solidFill>
                  <a:srgbClr val="273239"/>
                </a:solidFill>
                <a:effectLst/>
                <a:latin typeface="Times New Roman" panose="02020603050405020304" pitchFamily="18" charset="0"/>
                <a:cs typeface="Times New Roman" panose="02020603050405020304" pitchFamily="18" charset="0"/>
              </a:rPr>
              <a:t>  </a:t>
            </a:r>
          </a:p>
          <a:p>
            <a:pPr marL="0" indent="0" algn="l" fontAlgn="base">
              <a:buNone/>
            </a:pPr>
            <a:r>
              <a:rPr lang="en-GB" sz="1800" i="0" dirty="0">
                <a:solidFill>
                  <a:srgbClr val="273239"/>
                </a:solidFill>
                <a:effectLst/>
                <a:latin typeface="Times New Roman" panose="02020603050405020304" pitchFamily="18" charset="0"/>
                <a:cs typeface="Times New Roman" panose="02020603050405020304" pitchFamily="18" charset="0"/>
              </a:rPr>
              <a:t>🔹 Data Wrangling: </a:t>
            </a:r>
            <a:r>
              <a:rPr lang="en-GB" sz="1800" i="0" dirty="0" err="1">
                <a:solidFill>
                  <a:srgbClr val="273239"/>
                </a:solidFill>
                <a:effectLst/>
                <a:latin typeface="Times New Roman" panose="02020603050405020304" pitchFamily="18" charset="0"/>
                <a:cs typeface="Times New Roman" panose="02020603050405020304" pitchFamily="18" charset="0"/>
              </a:rPr>
              <a:t>OpenRefine</a:t>
            </a:r>
            <a:r>
              <a:rPr lang="en-GB" sz="1800" i="0" dirty="0">
                <a:solidFill>
                  <a:srgbClr val="273239"/>
                </a:solidFill>
                <a:effectLst/>
                <a:latin typeface="Times New Roman" panose="02020603050405020304" pitchFamily="18" charset="0"/>
                <a:cs typeface="Times New Roman" panose="02020603050405020304" pitchFamily="18" charset="0"/>
              </a:rPr>
              <a:t>, Trifacta  </a:t>
            </a:r>
          </a:p>
          <a:p>
            <a:pPr marL="0" indent="0" algn="l" fontAlgn="base">
              <a:buNone/>
            </a:pPr>
            <a:endParaRPr lang="en-GB" sz="180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GB" sz="1800" b="1" i="0" dirty="0">
                <a:solidFill>
                  <a:srgbClr val="273239"/>
                </a:solidFill>
                <a:effectLst/>
                <a:latin typeface="Times New Roman" panose="02020603050405020304" pitchFamily="18" charset="0"/>
                <a:cs typeface="Times New Roman" panose="02020603050405020304" pitchFamily="18" charset="0"/>
              </a:rPr>
              <a:t> 3. Data Exploration &amp; Visualization  </a:t>
            </a:r>
          </a:p>
          <a:p>
            <a:pPr marL="0" indent="0" algn="l" fontAlgn="base">
              <a:buNone/>
            </a:pPr>
            <a:r>
              <a:rPr lang="en-GB" sz="1800" i="0" dirty="0">
                <a:solidFill>
                  <a:srgbClr val="273239"/>
                </a:solidFill>
                <a:effectLst/>
                <a:latin typeface="Times New Roman" panose="02020603050405020304" pitchFamily="18" charset="0"/>
                <a:cs typeface="Times New Roman" panose="02020603050405020304" pitchFamily="18" charset="0"/>
              </a:rPr>
              <a:t>🔹 Statistical Analysis: R, MATLAB, SciPy  </a:t>
            </a:r>
          </a:p>
          <a:p>
            <a:pPr marL="0" indent="0" algn="l" fontAlgn="base">
              <a:buNone/>
            </a:pPr>
            <a:r>
              <a:rPr lang="en-GB" sz="1800" i="0" dirty="0">
                <a:solidFill>
                  <a:srgbClr val="273239"/>
                </a:solidFill>
                <a:effectLst/>
                <a:latin typeface="Times New Roman" panose="02020603050405020304" pitchFamily="18" charset="0"/>
                <a:cs typeface="Times New Roman" panose="02020603050405020304" pitchFamily="18" charset="0"/>
              </a:rPr>
              <a:t>🔹 Data Visualization: Matplotlib, Seaborn, Tableau, Power BI  </a:t>
            </a:r>
          </a:p>
          <a:p>
            <a:pPr marL="0" indent="0" algn="l" fontAlgn="base">
              <a:buNone/>
            </a:pPr>
            <a:endParaRPr lang="en-GB" sz="1800" i="0" dirty="0">
              <a:solidFill>
                <a:srgbClr val="273239"/>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82874B1-5631-5065-DA04-00BD3905034C}"/>
              </a:ext>
            </a:extLst>
          </p:cNvPr>
          <p:cNvSpPr txBox="1"/>
          <p:nvPr/>
        </p:nvSpPr>
        <p:spPr>
          <a:xfrm>
            <a:off x="5862320" y="203200"/>
            <a:ext cx="6197600" cy="3970318"/>
          </a:xfrm>
          <a:prstGeom prst="rect">
            <a:avLst/>
          </a:prstGeom>
          <a:noFill/>
        </p:spPr>
        <p:txBody>
          <a:bodyPr wrap="square">
            <a:spAutoFit/>
          </a:bodyPr>
          <a:lstStyle/>
          <a:p>
            <a:pPr marL="0" indent="0" algn="just" fontAlgn="base">
              <a:buNone/>
            </a:pPr>
            <a:r>
              <a:rPr lang="en-GB" b="1" i="0" dirty="0">
                <a:solidFill>
                  <a:srgbClr val="273239"/>
                </a:solidFill>
                <a:effectLst/>
                <a:latin typeface="Times New Roman" panose="02020603050405020304" pitchFamily="18" charset="0"/>
                <a:cs typeface="Times New Roman" panose="02020603050405020304" pitchFamily="18" charset="0"/>
              </a:rPr>
              <a:t> 4. Model Building &amp; Machine Learning  </a:t>
            </a:r>
          </a:p>
          <a:p>
            <a:pPr marL="0" indent="0" algn="just" fontAlgn="base">
              <a:buNone/>
            </a:pPr>
            <a:r>
              <a:rPr lang="en-GB" i="0" dirty="0">
                <a:solidFill>
                  <a:srgbClr val="273239"/>
                </a:solidFill>
                <a:effectLst/>
                <a:latin typeface="Times New Roman" panose="02020603050405020304" pitchFamily="18" charset="0"/>
                <a:cs typeface="Times New Roman" panose="02020603050405020304" pitchFamily="18" charset="0"/>
              </a:rPr>
              <a:t>🔹 ML Libraries: Scikit-learn, TensorFlow, </a:t>
            </a:r>
            <a:r>
              <a:rPr lang="en-GB" i="0" dirty="0" err="1">
                <a:solidFill>
                  <a:srgbClr val="273239"/>
                </a:solidFill>
                <a:effectLst/>
                <a:latin typeface="Times New Roman" panose="02020603050405020304" pitchFamily="18" charset="0"/>
                <a:cs typeface="Times New Roman" panose="02020603050405020304" pitchFamily="18" charset="0"/>
              </a:rPr>
              <a:t>PyTorch</a:t>
            </a:r>
            <a:r>
              <a:rPr lang="en-GB" i="0" dirty="0">
                <a:solidFill>
                  <a:srgbClr val="273239"/>
                </a:solidFill>
                <a:effectLst/>
                <a:latin typeface="Times New Roman" panose="02020603050405020304" pitchFamily="18" charset="0"/>
                <a:cs typeface="Times New Roman" panose="02020603050405020304" pitchFamily="18" charset="0"/>
              </a:rPr>
              <a:t>, </a:t>
            </a:r>
            <a:r>
              <a:rPr lang="en-GB" i="0" dirty="0" err="1">
                <a:solidFill>
                  <a:srgbClr val="273239"/>
                </a:solidFill>
                <a:effectLst/>
                <a:latin typeface="Times New Roman" panose="02020603050405020304" pitchFamily="18" charset="0"/>
                <a:cs typeface="Times New Roman" panose="02020603050405020304" pitchFamily="18" charset="0"/>
              </a:rPr>
              <a:t>XGBoost</a:t>
            </a:r>
            <a:r>
              <a:rPr lang="en-GB" i="0" dirty="0">
                <a:solidFill>
                  <a:srgbClr val="273239"/>
                </a:solidFill>
                <a:effectLst/>
                <a:latin typeface="Times New Roman" panose="02020603050405020304" pitchFamily="18" charset="0"/>
                <a:cs typeface="Times New Roman" panose="02020603050405020304" pitchFamily="18" charset="0"/>
              </a:rPr>
              <a:t>  </a:t>
            </a:r>
          </a:p>
          <a:p>
            <a:pPr marL="0" indent="0" algn="just" fontAlgn="base">
              <a:buNone/>
            </a:pPr>
            <a:r>
              <a:rPr lang="en-GB" i="0" dirty="0">
                <a:solidFill>
                  <a:srgbClr val="273239"/>
                </a:solidFill>
                <a:effectLst/>
                <a:latin typeface="Times New Roman" panose="02020603050405020304" pitchFamily="18" charset="0"/>
                <a:cs typeface="Times New Roman" panose="02020603050405020304" pitchFamily="18" charset="0"/>
              </a:rPr>
              <a:t>🔹 </a:t>
            </a:r>
            <a:r>
              <a:rPr lang="en-GB" i="0" dirty="0" err="1">
                <a:solidFill>
                  <a:srgbClr val="273239"/>
                </a:solidFill>
                <a:effectLst/>
                <a:latin typeface="Times New Roman" panose="02020603050405020304" pitchFamily="18" charset="0"/>
                <a:cs typeface="Times New Roman" panose="02020603050405020304" pitchFamily="18" charset="0"/>
              </a:rPr>
              <a:t>AutoML</a:t>
            </a:r>
            <a:r>
              <a:rPr lang="en-GB" i="0" dirty="0">
                <a:solidFill>
                  <a:srgbClr val="273239"/>
                </a:solidFill>
                <a:effectLst/>
                <a:latin typeface="Times New Roman" panose="02020603050405020304" pitchFamily="18" charset="0"/>
                <a:cs typeface="Times New Roman" panose="02020603050405020304" pitchFamily="18" charset="0"/>
              </a:rPr>
              <a:t> Tools: H2O.ai, Google </a:t>
            </a:r>
            <a:r>
              <a:rPr lang="en-GB" i="0" dirty="0" err="1">
                <a:solidFill>
                  <a:srgbClr val="273239"/>
                </a:solidFill>
                <a:effectLst/>
                <a:latin typeface="Times New Roman" panose="02020603050405020304" pitchFamily="18" charset="0"/>
                <a:cs typeface="Times New Roman" panose="02020603050405020304" pitchFamily="18" charset="0"/>
              </a:rPr>
              <a:t>AutoML</a:t>
            </a:r>
            <a:r>
              <a:rPr lang="en-GB" i="0" dirty="0">
                <a:solidFill>
                  <a:srgbClr val="273239"/>
                </a:solidFill>
                <a:effectLst/>
                <a:latin typeface="Times New Roman" panose="02020603050405020304" pitchFamily="18" charset="0"/>
                <a:cs typeface="Times New Roman" panose="02020603050405020304" pitchFamily="18" charset="0"/>
              </a:rPr>
              <a:t>  </a:t>
            </a:r>
          </a:p>
          <a:p>
            <a:pPr marL="0" indent="0" algn="just" fontAlgn="base">
              <a:buNone/>
            </a:pPr>
            <a:r>
              <a:rPr lang="en-GB" i="0" dirty="0">
                <a:solidFill>
                  <a:srgbClr val="273239"/>
                </a:solidFill>
                <a:effectLst/>
                <a:latin typeface="Times New Roman" panose="02020603050405020304" pitchFamily="18" charset="0"/>
                <a:cs typeface="Times New Roman" panose="02020603050405020304" pitchFamily="18" charset="0"/>
              </a:rPr>
              <a:t>🔹 Deep Learning: </a:t>
            </a:r>
            <a:r>
              <a:rPr lang="en-GB" i="0" dirty="0" err="1">
                <a:solidFill>
                  <a:srgbClr val="273239"/>
                </a:solidFill>
                <a:effectLst/>
                <a:latin typeface="Times New Roman" panose="02020603050405020304" pitchFamily="18" charset="0"/>
                <a:cs typeface="Times New Roman" panose="02020603050405020304" pitchFamily="18" charset="0"/>
              </a:rPr>
              <a:t>Keras</a:t>
            </a:r>
            <a:r>
              <a:rPr lang="en-GB" i="0" dirty="0">
                <a:solidFill>
                  <a:srgbClr val="273239"/>
                </a:solidFill>
                <a:effectLst/>
                <a:latin typeface="Times New Roman" panose="02020603050405020304" pitchFamily="18" charset="0"/>
                <a:cs typeface="Times New Roman" panose="02020603050405020304" pitchFamily="18" charset="0"/>
              </a:rPr>
              <a:t>, OpenCV  </a:t>
            </a:r>
          </a:p>
          <a:p>
            <a:pPr marL="0" indent="0" algn="just" fontAlgn="base">
              <a:buNone/>
            </a:pPr>
            <a:endParaRPr lang="en-GB"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buNone/>
            </a:pPr>
            <a:r>
              <a:rPr lang="en-GB" b="1" i="0" dirty="0">
                <a:solidFill>
                  <a:srgbClr val="273239"/>
                </a:solidFill>
                <a:effectLst/>
                <a:latin typeface="Times New Roman" panose="02020603050405020304" pitchFamily="18" charset="0"/>
                <a:cs typeface="Times New Roman" panose="02020603050405020304" pitchFamily="18" charset="0"/>
              </a:rPr>
              <a:t> 5. Model Deployment &amp; Monitoring  </a:t>
            </a:r>
          </a:p>
          <a:p>
            <a:pPr marL="0" indent="0" algn="just" fontAlgn="base">
              <a:buNone/>
            </a:pPr>
            <a:r>
              <a:rPr lang="en-GB" i="0" dirty="0">
                <a:solidFill>
                  <a:srgbClr val="273239"/>
                </a:solidFill>
                <a:effectLst/>
                <a:latin typeface="Times New Roman" panose="02020603050405020304" pitchFamily="18" charset="0"/>
                <a:cs typeface="Times New Roman" panose="02020603050405020304" pitchFamily="18" charset="0"/>
              </a:rPr>
              <a:t>🔹 Deployment Frameworks: Flask, </a:t>
            </a:r>
            <a:r>
              <a:rPr lang="en-GB" i="0" dirty="0" err="1">
                <a:solidFill>
                  <a:srgbClr val="273239"/>
                </a:solidFill>
                <a:effectLst/>
                <a:latin typeface="Times New Roman" panose="02020603050405020304" pitchFamily="18" charset="0"/>
                <a:cs typeface="Times New Roman" panose="02020603050405020304" pitchFamily="18" charset="0"/>
              </a:rPr>
              <a:t>FastAPI</a:t>
            </a:r>
            <a:r>
              <a:rPr lang="en-GB" i="0" dirty="0">
                <a:solidFill>
                  <a:srgbClr val="273239"/>
                </a:solidFill>
                <a:effectLst/>
                <a:latin typeface="Times New Roman" panose="02020603050405020304" pitchFamily="18" charset="0"/>
                <a:cs typeface="Times New Roman" panose="02020603050405020304" pitchFamily="18" charset="0"/>
              </a:rPr>
              <a:t>, Docker  </a:t>
            </a:r>
          </a:p>
          <a:p>
            <a:pPr marL="0" indent="0" algn="just" fontAlgn="base">
              <a:buNone/>
            </a:pPr>
            <a:r>
              <a:rPr lang="en-GB" i="0" dirty="0">
                <a:solidFill>
                  <a:srgbClr val="273239"/>
                </a:solidFill>
                <a:effectLst/>
                <a:latin typeface="Times New Roman" panose="02020603050405020304" pitchFamily="18" charset="0"/>
                <a:cs typeface="Times New Roman" panose="02020603050405020304" pitchFamily="18" charset="0"/>
              </a:rPr>
              <a:t>🔹 Model Serving: TensorFlow Serving, </a:t>
            </a:r>
            <a:r>
              <a:rPr lang="en-GB" i="0" dirty="0" err="1">
                <a:solidFill>
                  <a:srgbClr val="273239"/>
                </a:solidFill>
                <a:effectLst/>
                <a:latin typeface="Times New Roman" panose="02020603050405020304" pitchFamily="18" charset="0"/>
                <a:cs typeface="Times New Roman" panose="02020603050405020304" pitchFamily="18" charset="0"/>
              </a:rPr>
              <a:t>MLflow</a:t>
            </a:r>
            <a:r>
              <a:rPr lang="en-GB" i="0" dirty="0">
                <a:solidFill>
                  <a:srgbClr val="273239"/>
                </a:solidFill>
                <a:effectLst/>
                <a:latin typeface="Times New Roman" panose="02020603050405020304" pitchFamily="18" charset="0"/>
                <a:cs typeface="Times New Roman" panose="02020603050405020304" pitchFamily="18" charset="0"/>
              </a:rPr>
              <a:t>, AWS </a:t>
            </a:r>
            <a:r>
              <a:rPr lang="en-GB" i="0" dirty="0" err="1">
                <a:solidFill>
                  <a:srgbClr val="273239"/>
                </a:solidFill>
                <a:effectLst/>
                <a:latin typeface="Times New Roman" panose="02020603050405020304" pitchFamily="18" charset="0"/>
                <a:cs typeface="Times New Roman" panose="02020603050405020304" pitchFamily="18" charset="0"/>
              </a:rPr>
              <a:t>SageMaker</a:t>
            </a:r>
            <a:r>
              <a:rPr lang="en-GB" i="0" dirty="0">
                <a:solidFill>
                  <a:srgbClr val="273239"/>
                </a:solidFill>
                <a:effectLst/>
                <a:latin typeface="Times New Roman" panose="02020603050405020304" pitchFamily="18" charset="0"/>
                <a:cs typeface="Times New Roman" panose="02020603050405020304" pitchFamily="18" charset="0"/>
              </a:rPr>
              <a:t>  </a:t>
            </a:r>
          </a:p>
          <a:p>
            <a:pPr marL="0" indent="0" algn="just" fontAlgn="base">
              <a:buNone/>
            </a:pPr>
            <a:r>
              <a:rPr lang="en-GB" i="0" dirty="0">
                <a:solidFill>
                  <a:srgbClr val="273239"/>
                </a:solidFill>
                <a:effectLst/>
                <a:latin typeface="Times New Roman" panose="02020603050405020304" pitchFamily="18" charset="0"/>
                <a:cs typeface="Times New Roman" panose="02020603050405020304" pitchFamily="18" charset="0"/>
              </a:rPr>
              <a:t>🔹 CI/CD for ML: Kubeflow, </a:t>
            </a:r>
            <a:r>
              <a:rPr lang="en-GB" i="0" dirty="0" err="1">
                <a:solidFill>
                  <a:srgbClr val="273239"/>
                </a:solidFill>
                <a:effectLst/>
                <a:latin typeface="Times New Roman" panose="02020603050405020304" pitchFamily="18" charset="0"/>
                <a:cs typeface="Times New Roman" panose="02020603050405020304" pitchFamily="18" charset="0"/>
              </a:rPr>
              <a:t>MLflow</a:t>
            </a:r>
            <a:r>
              <a:rPr lang="en-GB" i="0" dirty="0">
                <a:solidFill>
                  <a:srgbClr val="273239"/>
                </a:solidFill>
                <a:effectLst/>
                <a:latin typeface="Times New Roman" panose="02020603050405020304" pitchFamily="18" charset="0"/>
                <a:cs typeface="Times New Roman" panose="02020603050405020304" pitchFamily="18" charset="0"/>
              </a:rPr>
              <a:t>  </a:t>
            </a:r>
          </a:p>
          <a:p>
            <a:pPr marL="0" indent="0" algn="just" fontAlgn="base">
              <a:buNone/>
            </a:pPr>
            <a:endParaRPr lang="en-GB"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buNone/>
            </a:pPr>
            <a:r>
              <a:rPr lang="en-GB" b="1" i="0" dirty="0">
                <a:solidFill>
                  <a:srgbClr val="273239"/>
                </a:solidFill>
                <a:effectLst/>
                <a:latin typeface="Times New Roman" panose="02020603050405020304" pitchFamily="18" charset="0"/>
                <a:cs typeface="Times New Roman" panose="02020603050405020304" pitchFamily="18" charset="0"/>
              </a:rPr>
              <a:t> 6. Big Data &amp; Cloud Computing  </a:t>
            </a:r>
          </a:p>
          <a:p>
            <a:pPr marL="0" indent="0" algn="just" fontAlgn="base">
              <a:buNone/>
            </a:pPr>
            <a:r>
              <a:rPr lang="en-GB" i="0" dirty="0">
                <a:solidFill>
                  <a:srgbClr val="273239"/>
                </a:solidFill>
                <a:effectLst/>
                <a:latin typeface="Times New Roman" panose="02020603050405020304" pitchFamily="18" charset="0"/>
                <a:cs typeface="Times New Roman" panose="02020603050405020304" pitchFamily="18" charset="0"/>
              </a:rPr>
              <a:t>🔹 Cloud Platforms: AWS, Google Cloud, Microsoft Azure  </a:t>
            </a:r>
          </a:p>
          <a:p>
            <a:pPr marL="0" indent="0" algn="just" fontAlgn="base">
              <a:buNone/>
            </a:pPr>
            <a:r>
              <a:rPr lang="en-GB" i="0" dirty="0">
                <a:solidFill>
                  <a:srgbClr val="273239"/>
                </a:solidFill>
                <a:effectLst/>
                <a:latin typeface="Times New Roman" panose="02020603050405020304" pitchFamily="18" charset="0"/>
                <a:cs typeface="Times New Roman" panose="02020603050405020304" pitchFamily="18" charset="0"/>
              </a:rPr>
              <a:t>🔹 Big Data Frameworks: Apache Spark, </a:t>
            </a:r>
            <a:r>
              <a:rPr lang="en-GB" i="0" dirty="0" err="1">
                <a:solidFill>
                  <a:srgbClr val="273239"/>
                </a:solidFill>
                <a:effectLst/>
                <a:latin typeface="Times New Roman" panose="02020603050405020304" pitchFamily="18" charset="0"/>
                <a:cs typeface="Times New Roman" panose="02020603050405020304" pitchFamily="18" charset="0"/>
              </a:rPr>
              <a:t>Dask</a:t>
            </a:r>
            <a:r>
              <a:rPr lang="en-GB" i="0" dirty="0">
                <a:solidFill>
                  <a:srgbClr val="273239"/>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82400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C9EE2-3BA1-4EDE-A984-3BD68AE097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D89AEF-10C1-3253-DE44-9D6B9CD9E71C}"/>
              </a:ext>
            </a:extLst>
          </p:cNvPr>
          <p:cNvSpPr>
            <a:spLocks noGrp="1" noChangeArrowheads="1"/>
          </p:cNvSpPr>
          <p:nvPr>
            <p:ph idx="1"/>
          </p:nvPr>
        </p:nvSpPr>
        <p:spPr bwMode="auto">
          <a:xfrm>
            <a:off x="131763" y="187028"/>
            <a:ext cx="11755437"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Challenges in the Data Science Process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Science Process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involves multiple stages, each presenting unique challenges.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Data Collection &amp; Acquisition Challenges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Availability: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Finding relevant and high-quality data is difficult.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Silos: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may be spread across different departments, making integration difficult.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Unstructured Data: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large portion of data (text, images, videos) is unstructured and requires special handling.</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Data Cleaning &amp; Preparation Challenges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or Inconsistent Data: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Handling missing values, duplicate data, and inconsistencies.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Transformation Complexity: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Converting raw data into a structured format suitable for analysis.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Handling Outliers: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Identifying and dealing with anomalies without losing valuable information.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Data Exploration &amp; Feature Engineering Challenges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Dimensionality: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Too many features can lead to overfitting and increased computational costs.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Selection: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Identifying the most relevant features to improve model performance.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Bias in Data: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Imbalanced datasets can lead to biased predictions and poor generalization.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Model Building &amp; Machine Learning Challenges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Algorithm Selection: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Choosing the right machine learning model for the problem.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Hyperparameter Tuning: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Optimizing model parameters to achieve the best performance.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Computational Cost: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Some models, like deep learning, require extensive computational power.</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Overfitting &amp; Underfitting: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Balancing model complexity to generalize well on new data.</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0970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EF8E0-57D1-EFF1-1EE9-08EBA7A126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457138-72FA-14C8-B7DD-2E4755DBAFC6}"/>
              </a:ext>
            </a:extLst>
          </p:cNvPr>
          <p:cNvSpPr>
            <a:spLocks noGrp="1"/>
          </p:cNvSpPr>
          <p:nvPr>
            <p:ph idx="1"/>
          </p:nvPr>
        </p:nvSpPr>
        <p:spPr>
          <a:xfrm>
            <a:off x="132080" y="152400"/>
            <a:ext cx="11927840" cy="6532880"/>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Model Deployment &amp; Maintenance Challenges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the model can handle real-world data and increasing workloads.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Processing: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Deploying models that can make real-time predictions with low latency.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Drift: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 degrade over time as data distributions change, requiring continuous monitoring.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Version Control: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Keeping track of different model versions and updates.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Ethical &amp; Interpretability Challenges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Explainability: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AI models (especially deep learning) act as "black boxes" and are difficult to interpret.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Trust &amp; Adoption: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Convincing stakeholders to trust and adopt data-driven insights.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Big Data &amp; Cloud Infrastructure Challenges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 &amp; Processing Costs: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Managing large-scale data storage and computational expenses.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Security: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Protecting data from breaches and unauthorized access.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Existing Systems: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Deploying models within an organization's infrastructure.</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6837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D7A1C-22C8-BEFC-FF84-F0A1B7E36A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7BA7C5-C78B-3536-4C68-9A4F5C03670D}"/>
              </a:ext>
            </a:extLst>
          </p:cNvPr>
          <p:cNvSpPr>
            <a:spLocks noGrp="1"/>
          </p:cNvSpPr>
          <p:nvPr>
            <p:ph idx="1"/>
          </p:nvPr>
        </p:nvSpPr>
        <p:spPr>
          <a:xfrm>
            <a:off x="132080" y="152400"/>
            <a:ext cx="11927840" cy="6532880"/>
          </a:xfrm>
        </p:spPr>
        <p:txBody>
          <a:bodyPr>
            <a:normAutofit/>
          </a:bodyPr>
          <a:lstStyle/>
          <a:p>
            <a:pPr marL="0" indent="0">
              <a:buNone/>
            </a:pPr>
            <a:r>
              <a:rPr lang="en-US" b="1" i="0" dirty="0">
                <a:effectLst/>
                <a:latin typeface="Times New Roman" panose="02020603050405020304" pitchFamily="18" charset="0"/>
                <a:cs typeface="Times New Roman" panose="02020603050405020304" pitchFamily="18" charset="0"/>
              </a:rPr>
              <a:t>Data Mining </a:t>
            </a:r>
          </a:p>
          <a:p>
            <a:pPr algn="just"/>
            <a:r>
              <a:rPr lang="en-GB" sz="1800" b="0" i="0" dirty="0">
                <a:solidFill>
                  <a:srgbClr val="333333"/>
                </a:solidFill>
                <a:effectLst/>
                <a:latin typeface="Times New Roman" panose="02020603050405020304" pitchFamily="18" charset="0"/>
                <a:cs typeface="Times New Roman" panose="02020603050405020304" pitchFamily="18" charset="0"/>
              </a:rPr>
              <a:t>The process of extracting information to identify patterns, trends, and useful data that would allow the business to take the data-driven decision from huge sets of data is called Data Mining.</a:t>
            </a:r>
          </a:p>
          <a:p>
            <a:pPr algn="just"/>
            <a:r>
              <a:rPr lang="en-GB" sz="1800" b="0" i="0" dirty="0">
                <a:solidFill>
                  <a:srgbClr val="333333"/>
                </a:solidFill>
                <a:effectLst/>
                <a:latin typeface="Times New Roman" panose="02020603050405020304" pitchFamily="18" charset="0"/>
                <a:cs typeface="Times New Roman" panose="02020603050405020304" pitchFamily="18" charset="0"/>
              </a:rPr>
              <a:t>Data mining is one of the most useful techniques that help entrepreneurs, researchers, and individuals to extract valuable information from huge sets of data. </a:t>
            </a:r>
          </a:p>
          <a:p>
            <a:pPr algn="just"/>
            <a:r>
              <a:rPr lang="en-GB" sz="1800" b="0" i="0" dirty="0">
                <a:solidFill>
                  <a:srgbClr val="333333"/>
                </a:solidFill>
                <a:effectLst/>
                <a:latin typeface="Times New Roman" panose="02020603050405020304" pitchFamily="18" charset="0"/>
                <a:cs typeface="Times New Roman" panose="02020603050405020304" pitchFamily="18" charset="0"/>
              </a:rPr>
              <a:t>Data mining is also called </a:t>
            </a:r>
            <a:r>
              <a:rPr lang="en-GB" sz="1800" b="1" i="1" dirty="0">
                <a:solidFill>
                  <a:srgbClr val="333333"/>
                </a:solidFill>
                <a:effectLst/>
                <a:latin typeface="Times New Roman" panose="02020603050405020304" pitchFamily="18" charset="0"/>
                <a:cs typeface="Times New Roman" panose="02020603050405020304" pitchFamily="18" charset="0"/>
              </a:rPr>
              <a:t>Knowledge Discovery in Database (KDD)</a:t>
            </a:r>
            <a:r>
              <a:rPr lang="en-GB" sz="1800" b="0" i="0" dirty="0">
                <a:solidFill>
                  <a:srgbClr val="333333"/>
                </a:solidFill>
                <a:effectLst/>
                <a:latin typeface="Times New Roman" panose="02020603050405020304" pitchFamily="18" charset="0"/>
                <a:cs typeface="Times New Roman" panose="02020603050405020304" pitchFamily="18" charset="0"/>
              </a:rPr>
              <a:t>. </a:t>
            </a:r>
          </a:p>
          <a:p>
            <a:pPr algn="just"/>
            <a:r>
              <a:rPr lang="en-GB" sz="1800" b="0" i="0" dirty="0">
                <a:solidFill>
                  <a:srgbClr val="333333"/>
                </a:solidFill>
                <a:effectLst/>
                <a:latin typeface="Times New Roman" panose="02020603050405020304" pitchFamily="18" charset="0"/>
                <a:cs typeface="Times New Roman" panose="02020603050405020304" pitchFamily="18" charset="0"/>
              </a:rPr>
              <a:t>The knowledge discovery process includes Data cleaning, Data integration, Data selection, Data transformation, Data mining, Pattern </a:t>
            </a:r>
            <a:r>
              <a:rPr lang="en-GB" sz="1800" dirty="0">
                <a:solidFill>
                  <a:srgbClr val="333333"/>
                </a:solidFill>
                <a:latin typeface="Times New Roman" panose="02020603050405020304" pitchFamily="18" charset="0"/>
                <a:cs typeface="Times New Roman" panose="02020603050405020304" pitchFamily="18" charset="0"/>
              </a:rPr>
              <a:t>evaluation, and Knowledge presentation.</a:t>
            </a:r>
          </a:p>
          <a:p>
            <a:pPr algn="just"/>
            <a:r>
              <a:rPr lang="en-GB" sz="1800" dirty="0">
                <a:solidFill>
                  <a:srgbClr val="333333"/>
                </a:solidFill>
                <a:latin typeface="Times New Roman" panose="02020603050405020304" pitchFamily="18" charset="0"/>
                <a:cs typeface="Times New Roman" panose="02020603050405020304" pitchFamily="18" charset="0"/>
              </a:rPr>
              <a:t>Data mining is the act of automatically searching for large stores of information to find trends and patterns that go beyond simple analysis procedures. </a:t>
            </a:r>
          </a:p>
          <a:p>
            <a:pPr algn="just"/>
            <a:r>
              <a:rPr lang="en-GB" sz="1800" dirty="0">
                <a:solidFill>
                  <a:srgbClr val="333333"/>
                </a:solidFill>
                <a:latin typeface="Times New Roman" panose="02020603050405020304" pitchFamily="18" charset="0"/>
                <a:cs typeface="Times New Roman" panose="02020603050405020304" pitchFamily="18" charset="0"/>
              </a:rPr>
              <a:t>Data mining utilizes complex mathematical algorithms for data segments and evaluates the probability of future events. </a:t>
            </a:r>
          </a:p>
          <a:p>
            <a:pPr algn="just"/>
            <a:r>
              <a:rPr lang="en-GB" sz="1800" b="0" i="0" dirty="0">
                <a:solidFill>
                  <a:srgbClr val="333333"/>
                </a:solidFill>
                <a:effectLst/>
                <a:latin typeface="Times New Roman" panose="02020603050405020304" pitchFamily="18" charset="0"/>
                <a:cs typeface="Times New Roman" panose="02020603050405020304" pitchFamily="18" charset="0"/>
              </a:rPr>
              <a:t>Data Mining is similar to Data Science carried out by a person, in a specific situation, on a particular data set, with an objective. </a:t>
            </a:r>
          </a:p>
          <a:p>
            <a:pPr algn="just"/>
            <a:r>
              <a:rPr lang="en-GB" sz="1800" b="0" i="0" dirty="0">
                <a:solidFill>
                  <a:srgbClr val="333333"/>
                </a:solidFill>
                <a:effectLst/>
                <a:latin typeface="Times New Roman" panose="02020603050405020304" pitchFamily="18" charset="0"/>
                <a:cs typeface="Times New Roman" panose="02020603050405020304" pitchFamily="18" charset="0"/>
              </a:rPr>
              <a:t>This process includes various types of services such as text mining, web mining, audio and video mining, pictorial data mining, and social media mining. </a:t>
            </a:r>
          </a:p>
        </p:txBody>
      </p:sp>
    </p:spTree>
    <p:extLst>
      <p:ext uri="{BB962C8B-B14F-4D97-AF65-F5344CB8AC3E}">
        <p14:creationId xmlns:p14="http://schemas.microsoft.com/office/powerpoint/2010/main" val="1477199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B3D87-6E79-987D-CEAB-F93FE7EC6D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14BBC5-0E45-D88C-F813-48BE9BA90062}"/>
              </a:ext>
            </a:extLst>
          </p:cNvPr>
          <p:cNvSpPr>
            <a:spLocks noGrp="1"/>
          </p:cNvSpPr>
          <p:nvPr>
            <p:ph idx="1"/>
          </p:nvPr>
        </p:nvSpPr>
        <p:spPr>
          <a:xfrm>
            <a:off x="132080" y="152400"/>
            <a:ext cx="11927840" cy="6532880"/>
          </a:xfrm>
        </p:spPr>
        <p:txBody>
          <a:bodyPr>
            <a:normAutofit/>
          </a:bodyPr>
          <a:lstStyle/>
          <a:p>
            <a:pPr marL="0" indent="0" algn="just">
              <a:buNone/>
            </a:pPr>
            <a:r>
              <a:rPr lang="en-GB" sz="2400" b="1" dirty="0">
                <a:latin typeface="Times New Roman" panose="02020603050405020304" pitchFamily="18" charset="0"/>
                <a:cs typeface="Times New Roman" panose="02020603050405020304" pitchFamily="18" charset="0"/>
              </a:rPr>
              <a:t>T</a:t>
            </a:r>
            <a:r>
              <a:rPr lang="en-GB" sz="2400" b="1" i="0" dirty="0">
                <a:effectLst/>
                <a:latin typeface="Times New Roman" panose="02020603050405020304" pitchFamily="18" charset="0"/>
                <a:cs typeface="Times New Roman" panose="02020603050405020304" pitchFamily="18" charset="0"/>
              </a:rPr>
              <a:t>ypes of Data Mining</a:t>
            </a:r>
          </a:p>
          <a:p>
            <a:pPr marL="0" indent="0" algn="just">
              <a:buNone/>
            </a:pPr>
            <a:r>
              <a:rPr lang="en-GB" sz="2400" b="1" i="0" dirty="0">
                <a:solidFill>
                  <a:srgbClr val="333333"/>
                </a:solidFill>
                <a:effectLst/>
                <a:latin typeface="Times New Roman" panose="02020603050405020304" pitchFamily="18" charset="0"/>
                <a:cs typeface="Times New Roman" panose="02020603050405020304" pitchFamily="18" charset="0"/>
              </a:rPr>
              <a:t>Relational Database:</a:t>
            </a:r>
            <a:endParaRPr lang="en-GB" sz="2400" b="0" i="0" dirty="0">
              <a:solidFill>
                <a:srgbClr val="333333"/>
              </a:solidFill>
              <a:effectLst/>
              <a:latin typeface="Times New Roman" panose="02020603050405020304" pitchFamily="18" charset="0"/>
              <a:cs typeface="Times New Roman" panose="02020603050405020304" pitchFamily="18" charset="0"/>
            </a:endParaRPr>
          </a:p>
          <a:p>
            <a:pPr algn="just"/>
            <a:r>
              <a:rPr lang="en-GB" sz="2000" b="0" i="0" dirty="0">
                <a:solidFill>
                  <a:srgbClr val="333333"/>
                </a:solidFill>
                <a:effectLst/>
                <a:latin typeface="Times New Roman" panose="02020603050405020304" pitchFamily="18" charset="0"/>
                <a:cs typeface="Times New Roman" panose="02020603050405020304" pitchFamily="18" charset="0"/>
              </a:rPr>
              <a:t>A relational database is a collection of multiple data sets formally organized by tables, records, and columns from which data can be accessed in various ways without having to recognize the database tables. </a:t>
            </a:r>
          </a:p>
          <a:p>
            <a:pPr algn="just"/>
            <a:r>
              <a:rPr lang="en-GB" sz="2000" b="0" i="0" dirty="0">
                <a:solidFill>
                  <a:srgbClr val="333333"/>
                </a:solidFill>
                <a:effectLst/>
                <a:latin typeface="Times New Roman" panose="02020603050405020304" pitchFamily="18" charset="0"/>
                <a:cs typeface="Times New Roman" panose="02020603050405020304" pitchFamily="18" charset="0"/>
              </a:rPr>
              <a:t>Tables convey and share information, which facilitates data searchability, reporting, and organization.</a:t>
            </a:r>
          </a:p>
          <a:p>
            <a:pPr marL="0" indent="0" algn="just">
              <a:buNone/>
            </a:pPr>
            <a:r>
              <a:rPr lang="en-GB" sz="2400" b="1" i="0" dirty="0">
                <a:solidFill>
                  <a:srgbClr val="333333"/>
                </a:solidFill>
                <a:effectLst/>
                <a:latin typeface="Times New Roman" panose="02020603050405020304" pitchFamily="18" charset="0"/>
                <a:cs typeface="Times New Roman" panose="02020603050405020304" pitchFamily="18" charset="0"/>
              </a:rPr>
              <a:t>Data warehouses:</a:t>
            </a:r>
            <a:endParaRPr lang="en-GB" sz="2400" b="0" i="0" dirty="0">
              <a:solidFill>
                <a:srgbClr val="333333"/>
              </a:solidFill>
              <a:effectLst/>
              <a:latin typeface="Times New Roman" panose="02020603050405020304" pitchFamily="18" charset="0"/>
              <a:cs typeface="Times New Roman" panose="02020603050405020304" pitchFamily="18" charset="0"/>
            </a:endParaRPr>
          </a:p>
          <a:p>
            <a:pPr algn="just"/>
            <a:r>
              <a:rPr lang="en-GB" sz="2000" b="0" i="0" dirty="0">
                <a:solidFill>
                  <a:srgbClr val="333333"/>
                </a:solidFill>
                <a:effectLst/>
                <a:latin typeface="Times New Roman" panose="02020603050405020304" pitchFamily="18" charset="0"/>
                <a:cs typeface="Times New Roman" panose="02020603050405020304" pitchFamily="18" charset="0"/>
              </a:rPr>
              <a:t>A Data Warehouse is the technology that collects the data from various sources within the organization to provide meaningful business insights. </a:t>
            </a:r>
          </a:p>
          <a:p>
            <a:pPr algn="just"/>
            <a:r>
              <a:rPr lang="en-GB" sz="2000" b="0" i="0" dirty="0">
                <a:solidFill>
                  <a:srgbClr val="333333"/>
                </a:solidFill>
                <a:effectLst/>
                <a:latin typeface="Times New Roman" panose="02020603050405020304" pitchFamily="18" charset="0"/>
                <a:cs typeface="Times New Roman" panose="02020603050405020304" pitchFamily="18" charset="0"/>
              </a:rPr>
              <a:t>The huge amount of data comes from multiple places such as Marketing and Finance. </a:t>
            </a:r>
          </a:p>
          <a:p>
            <a:pPr algn="just"/>
            <a:r>
              <a:rPr lang="en-GB" sz="2000" b="0" i="0" dirty="0">
                <a:solidFill>
                  <a:srgbClr val="333333"/>
                </a:solidFill>
                <a:effectLst/>
                <a:latin typeface="Times New Roman" panose="02020603050405020304" pitchFamily="18" charset="0"/>
                <a:cs typeface="Times New Roman" panose="02020603050405020304" pitchFamily="18" charset="0"/>
              </a:rPr>
              <a:t>The extracted data is utilized for analytical purposes and helps in decision- making for a business organization. </a:t>
            </a:r>
          </a:p>
          <a:p>
            <a:pPr algn="just"/>
            <a:r>
              <a:rPr lang="en-GB" sz="2000" b="0" i="0" dirty="0">
                <a:solidFill>
                  <a:srgbClr val="333333"/>
                </a:solidFill>
                <a:effectLst/>
                <a:latin typeface="Times New Roman" panose="02020603050405020304" pitchFamily="18" charset="0"/>
                <a:cs typeface="Times New Roman" panose="02020603050405020304" pitchFamily="18" charset="0"/>
              </a:rPr>
              <a:t>The data warehouse is designed for the analysis of data rather than transaction processing.</a:t>
            </a:r>
          </a:p>
          <a:p>
            <a:pPr marL="0" indent="0" algn="just">
              <a:buNone/>
            </a:pPr>
            <a:r>
              <a:rPr lang="en-GB" sz="2400" b="1" dirty="0">
                <a:solidFill>
                  <a:srgbClr val="333333"/>
                </a:solidFill>
                <a:latin typeface="Times New Roman" panose="02020603050405020304" pitchFamily="18" charset="0"/>
                <a:cs typeface="Times New Roman" panose="02020603050405020304" pitchFamily="18" charset="0"/>
              </a:rPr>
              <a:t>Data Repositories:</a:t>
            </a:r>
          </a:p>
          <a:p>
            <a:pPr algn="just"/>
            <a:r>
              <a:rPr lang="en-GB" sz="2000" b="0" i="0" dirty="0">
                <a:solidFill>
                  <a:srgbClr val="333333"/>
                </a:solidFill>
                <a:effectLst/>
                <a:latin typeface="Times New Roman" panose="02020603050405020304" pitchFamily="18" charset="0"/>
                <a:cs typeface="Times New Roman" panose="02020603050405020304" pitchFamily="18" charset="0"/>
              </a:rPr>
              <a:t>The Data Repository generally refers to a destination for data storage. </a:t>
            </a:r>
          </a:p>
          <a:p>
            <a:pPr algn="just"/>
            <a:r>
              <a:rPr lang="en-GB" sz="2000" b="0" i="0" dirty="0">
                <a:solidFill>
                  <a:srgbClr val="333333"/>
                </a:solidFill>
                <a:effectLst/>
                <a:latin typeface="Times New Roman" panose="02020603050405020304" pitchFamily="18" charset="0"/>
                <a:cs typeface="Times New Roman" panose="02020603050405020304" pitchFamily="18" charset="0"/>
              </a:rPr>
              <a:t>However, many IT professionals utilize the term more clearly to refer to a specific kind of setup within an IT structure. </a:t>
            </a:r>
          </a:p>
          <a:p>
            <a:pPr algn="just"/>
            <a:r>
              <a:rPr lang="en-GB" sz="2000" b="0" i="0" dirty="0">
                <a:solidFill>
                  <a:srgbClr val="333333"/>
                </a:solidFill>
                <a:effectLst/>
                <a:latin typeface="Times New Roman" panose="02020603050405020304" pitchFamily="18" charset="0"/>
                <a:cs typeface="Times New Roman" panose="02020603050405020304" pitchFamily="18" charset="0"/>
              </a:rPr>
              <a:t>For example, a group of databases, where an organization has kept various kinds of information.</a:t>
            </a:r>
          </a:p>
          <a:p>
            <a:pPr marL="0" indent="0" algn="just">
              <a:buNone/>
            </a:pPr>
            <a:endParaRPr lang="en-GB" sz="2000" b="0"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57209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16099-1126-1A7D-E59A-8098F69545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974D0A-15FF-074E-BDE6-59ACB0AE24A4}"/>
              </a:ext>
            </a:extLst>
          </p:cNvPr>
          <p:cNvSpPr>
            <a:spLocks noGrp="1"/>
          </p:cNvSpPr>
          <p:nvPr>
            <p:ph idx="1"/>
          </p:nvPr>
        </p:nvSpPr>
        <p:spPr>
          <a:xfrm>
            <a:off x="132080" y="142240"/>
            <a:ext cx="11927840" cy="6532880"/>
          </a:xfrm>
        </p:spPr>
        <p:txBody>
          <a:bodyPr>
            <a:normAutofit/>
          </a:bodyPr>
          <a:lstStyle/>
          <a:p>
            <a:pPr marL="0" indent="0" algn="just">
              <a:buNone/>
            </a:pPr>
            <a:r>
              <a:rPr lang="en-GB" b="1" dirty="0">
                <a:latin typeface="Times New Roman" panose="02020603050405020304" pitchFamily="18" charset="0"/>
                <a:cs typeface="Times New Roman" panose="02020603050405020304" pitchFamily="18" charset="0"/>
              </a:rPr>
              <a:t>Object-Relational Database:</a:t>
            </a:r>
          </a:p>
          <a:p>
            <a:pPr algn="just"/>
            <a:r>
              <a:rPr lang="en-GB" sz="2400" dirty="0">
                <a:latin typeface="Times New Roman" panose="02020603050405020304" pitchFamily="18" charset="0"/>
                <a:cs typeface="Times New Roman" panose="02020603050405020304" pitchFamily="18" charset="0"/>
              </a:rPr>
              <a:t>A combination of an object-oriented database model and relational database model is called an object-relational model. </a:t>
            </a:r>
          </a:p>
          <a:p>
            <a:pPr algn="just"/>
            <a:r>
              <a:rPr lang="en-GB" sz="2400" dirty="0">
                <a:latin typeface="Times New Roman" panose="02020603050405020304" pitchFamily="18" charset="0"/>
                <a:cs typeface="Times New Roman" panose="02020603050405020304" pitchFamily="18" charset="0"/>
              </a:rPr>
              <a:t>It supports Classes, Objects, Inheritance, etc.</a:t>
            </a:r>
          </a:p>
          <a:p>
            <a:pPr algn="just"/>
            <a:r>
              <a:rPr lang="en-GB" sz="2400" dirty="0">
                <a:latin typeface="Times New Roman" panose="02020603050405020304" pitchFamily="18" charset="0"/>
                <a:cs typeface="Times New Roman" panose="02020603050405020304" pitchFamily="18" charset="0"/>
              </a:rPr>
              <a:t>One of the primary objectives of the Object-relational data model is to close the gap between the Relational database and the object-oriented model practices frequently utilized in many programming languages, for example, C++, Java, C#, and so on.</a:t>
            </a:r>
          </a:p>
          <a:p>
            <a:pPr marL="0" indent="0" algn="just">
              <a:buNone/>
            </a:pPr>
            <a:r>
              <a:rPr lang="en-GB" b="1" dirty="0">
                <a:latin typeface="Times New Roman" panose="02020603050405020304" pitchFamily="18" charset="0"/>
                <a:cs typeface="Times New Roman" panose="02020603050405020304" pitchFamily="18" charset="0"/>
              </a:rPr>
              <a:t>Transactional Database:</a:t>
            </a:r>
          </a:p>
          <a:p>
            <a:pPr algn="just"/>
            <a:r>
              <a:rPr lang="en-GB" sz="2400" dirty="0">
                <a:latin typeface="Times New Roman" panose="02020603050405020304" pitchFamily="18" charset="0"/>
                <a:cs typeface="Times New Roman" panose="02020603050405020304" pitchFamily="18" charset="0"/>
              </a:rPr>
              <a:t>A transactional database refers to a database management system (DBMS) that has the potential to undo a database transaction if it is not performed appropriately. </a:t>
            </a:r>
          </a:p>
          <a:p>
            <a:pPr algn="just"/>
            <a:r>
              <a:rPr lang="en-GB" sz="2400" dirty="0">
                <a:latin typeface="Times New Roman" panose="02020603050405020304" pitchFamily="18" charset="0"/>
                <a:cs typeface="Times New Roman" panose="02020603050405020304" pitchFamily="18" charset="0"/>
              </a:rPr>
              <a:t>Even though this was a unique capability a very long while back, today, most of the relational database systems support transactional database activities.</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7110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4E42D-E76D-A134-2489-1431FE0A603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B3C06F-84AE-3260-B182-DA43FAEAA32F}"/>
              </a:ext>
            </a:extLst>
          </p:cNvPr>
          <p:cNvSpPr>
            <a:spLocks noGrp="1"/>
          </p:cNvSpPr>
          <p:nvPr>
            <p:ph idx="1"/>
          </p:nvPr>
        </p:nvSpPr>
        <p:spPr>
          <a:xfrm>
            <a:off x="132080" y="152400"/>
            <a:ext cx="11927840" cy="6532880"/>
          </a:xfrm>
        </p:spPr>
        <p:txBody>
          <a:bodyPr>
            <a:normAutofit fontScale="92500"/>
          </a:bodyPr>
          <a:lstStyle/>
          <a:p>
            <a:pPr marL="0" indent="0" algn="just">
              <a:buNone/>
            </a:pPr>
            <a:r>
              <a:rPr lang="en-GB" b="1" dirty="0">
                <a:latin typeface="Times New Roman" panose="02020603050405020304" pitchFamily="18" charset="0"/>
                <a:cs typeface="Times New Roman" panose="02020603050405020304" pitchFamily="18" charset="0"/>
              </a:rPr>
              <a:t>Advantages of Data Mining</a:t>
            </a:r>
          </a:p>
          <a:p>
            <a:pPr algn="just"/>
            <a:r>
              <a:rPr lang="en-GB" sz="2400" dirty="0">
                <a:latin typeface="Times New Roman" panose="02020603050405020304" pitchFamily="18" charset="0"/>
                <a:cs typeface="Times New Roman" panose="02020603050405020304" pitchFamily="18" charset="0"/>
              </a:rPr>
              <a:t>The Data Mining technique enables organizations to obtain knowledge-based data.</a:t>
            </a:r>
          </a:p>
          <a:p>
            <a:pPr algn="just"/>
            <a:r>
              <a:rPr lang="en-GB" sz="2400" dirty="0">
                <a:latin typeface="Times New Roman" panose="02020603050405020304" pitchFamily="18" charset="0"/>
                <a:cs typeface="Times New Roman" panose="02020603050405020304" pitchFamily="18" charset="0"/>
              </a:rPr>
              <a:t>Data mining enables organizations to make productive modifications in operation and production.</a:t>
            </a:r>
          </a:p>
          <a:p>
            <a:pPr algn="just"/>
            <a:r>
              <a:rPr lang="en-GB" sz="2400" dirty="0">
                <a:latin typeface="Times New Roman" panose="02020603050405020304" pitchFamily="18" charset="0"/>
                <a:cs typeface="Times New Roman" panose="02020603050405020304" pitchFamily="18" charset="0"/>
              </a:rPr>
              <a:t>Compared with other statistical data applications, data mining is a cost-efficient.</a:t>
            </a:r>
          </a:p>
          <a:p>
            <a:pPr algn="just"/>
            <a:r>
              <a:rPr lang="en-GB" sz="2400" dirty="0">
                <a:latin typeface="Times New Roman" panose="02020603050405020304" pitchFamily="18" charset="0"/>
                <a:cs typeface="Times New Roman" panose="02020603050405020304" pitchFamily="18" charset="0"/>
              </a:rPr>
              <a:t>Data Mining helps the decision-making process of an organization.</a:t>
            </a:r>
          </a:p>
          <a:p>
            <a:pPr algn="just"/>
            <a:r>
              <a:rPr lang="en-GB" sz="2400" dirty="0">
                <a:latin typeface="Times New Roman" panose="02020603050405020304" pitchFamily="18" charset="0"/>
                <a:cs typeface="Times New Roman" panose="02020603050405020304" pitchFamily="18" charset="0"/>
              </a:rPr>
              <a:t>It Facilitates the automated discovery of hidden patterns as well as the prediction of trends and </a:t>
            </a:r>
            <a:r>
              <a:rPr lang="en-GB" sz="2400" dirty="0" err="1">
                <a:latin typeface="Times New Roman" panose="02020603050405020304" pitchFamily="18" charset="0"/>
                <a:cs typeface="Times New Roman" panose="02020603050405020304" pitchFamily="18" charset="0"/>
              </a:rPr>
              <a:t>behaviors</a:t>
            </a:r>
            <a:r>
              <a:rPr lang="en-GB" sz="2400" dirty="0">
                <a:latin typeface="Times New Roman" panose="02020603050405020304" pitchFamily="18" charset="0"/>
                <a:cs typeface="Times New Roman" panose="02020603050405020304" pitchFamily="18" charset="0"/>
              </a:rPr>
              <a:t>.</a:t>
            </a:r>
          </a:p>
          <a:p>
            <a:pPr algn="just"/>
            <a:r>
              <a:rPr lang="en-GB" sz="2400" dirty="0">
                <a:latin typeface="Times New Roman" panose="02020603050405020304" pitchFamily="18" charset="0"/>
                <a:cs typeface="Times New Roman" panose="02020603050405020304" pitchFamily="18" charset="0"/>
              </a:rPr>
              <a:t>It can be induced in the new system as well as the existing platforms.</a:t>
            </a:r>
          </a:p>
          <a:p>
            <a:pPr algn="just"/>
            <a:r>
              <a:rPr lang="en-GB" sz="2400" dirty="0">
                <a:latin typeface="Times New Roman" panose="02020603050405020304" pitchFamily="18" charset="0"/>
                <a:cs typeface="Times New Roman" panose="02020603050405020304" pitchFamily="18" charset="0"/>
              </a:rPr>
              <a:t>It is a quick process that makes it easy for new users to </a:t>
            </a:r>
            <a:r>
              <a:rPr lang="en-GB" sz="2400" dirty="0" err="1">
                <a:latin typeface="Times New Roman" panose="02020603050405020304" pitchFamily="18" charset="0"/>
                <a:cs typeface="Times New Roman" panose="02020603050405020304" pitchFamily="18" charset="0"/>
              </a:rPr>
              <a:t>analyze</a:t>
            </a:r>
            <a:r>
              <a:rPr lang="en-GB" sz="2400" dirty="0">
                <a:latin typeface="Times New Roman" panose="02020603050405020304" pitchFamily="18" charset="0"/>
                <a:cs typeface="Times New Roman" panose="02020603050405020304" pitchFamily="18" charset="0"/>
              </a:rPr>
              <a:t> enormous amounts of data in a short time.</a:t>
            </a:r>
          </a:p>
          <a:p>
            <a:pPr marL="0" indent="0" algn="just">
              <a:buNone/>
            </a:pPr>
            <a:r>
              <a:rPr lang="en-GB" b="1" dirty="0">
                <a:latin typeface="Times New Roman" panose="02020603050405020304" pitchFamily="18" charset="0"/>
                <a:cs typeface="Times New Roman" panose="02020603050405020304" pitchFamily="18" charset="0"/>
              </a:rPr>
              <a:t>Disadvantages of Data Mining</a:t>
            </a:r>
          </a:p>
          <a:p>
            <a:pPr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Many data mining analytics software is difficult to operate and needs advance training to work on.</a:t>
            </a:r>
          </a:p>
          <a:p>
            <a:pPr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Different data mining instruments operate in distinct ways due to the different algorithms used in their design. Therefore, the selection of the right data mining tools is a very challenging task.</a:t>
            </a:r>
          </a:p>
          <a:p>
            <a:pPr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The data mining techniques are not precise, so that it may lead to severe consequences in certain conditions.</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8318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545CD-0D30-F758-3421-6221B011FA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8B68BC-F376-3D1D-ACA4-329234952E1D}"/>
              </a:ext>
            </a:extLst>
          </p:cNvPr>
          <p:cNvSpPr>
            <a:spLocks noGrp="1"/>
          </p:cNvSpPr>
          <p:nvPr>
            <p:ph idx="1"/>
          </p:nvPr>
        </p:nvSpPr>
        <p:spPr>
          <a:xfrm>
            <a:off x="132079" y="152400"/>
            <a:ext cx="7527365" cy="6532880"/>
          </a:xfrm>
        </p:spPr>
        <p:txBody>
          <a:bodyPr>
            <a:normAutofit fontScale="92500" lnSpcReduction="20000"/>
          </a:bodyPr>
          <a:lstStyle/>
          <a:p>
            <a:pPr marL="0" indent="0" algn="just" fontAlgn="base">
              <a:spcAft>
                <a:spcPts val="750"/>
              </a:spcAft>
              <a:buNone/>
            </a:pPr>
            <a:r>
              <a:rPr lang="en-GB" sz="2000" b="1" i="0" dirty="0">
                <a:solidFill>
                  <a:srgbClr val="273239"/>
                </a:solidFill>
                <a:effectLst/>
                <a:latin typeface="Times New Roman" panose="02020603050405020304" pitchFamily="18" charset="0"/>
                <a:cs typeface="Times New Roman" panose="02020603050405020304" pitchFamily="18" charset="0"/>
              </a:rPr>
              <a:t>Knowledge Discovery From Data Consists of the Following Steps:</a:t>
            </a:r>
          </a:p>
          <a:p>
            <a:pPr algn="just" fontAlgn="base">
              <a:spcAft>
                <a:spcPts val="750"/>
              </a:spcAft>
            </a:pPr>
            <a:r>
              <a:rPr lang="en-GB" sz="2000" b="0" i="0" dirty="0">
                <a:solidFill>
                  <a:srgbClr val="273239"/>
                </a:solidFill>
                <a:effectLst/>
                <a:latin typeface="Times New Roman" panose="02020603050405020304" pitchFamily="18" charset="0"/>
                <a:cs typeface="Times New Roman" panose="02020603050405020304" pitchFamily="18" charset="0"/>
              </a:rPr>
              <a:t>Knowledge discovery from data (KDD) is a multi-step process that involves extracting useful knowledge from data.</a:t>
            </a:r>
          </a:p>
          <a:p>
            <a:pPr marL="0" indent="0" algn="just" fontAlgn="base">
              <a:spcAft>
                <a:spcPts val="750"/>
              </a:spcAft>
              <a:buNone/>
            </a:pPr>
            <a:r>
              <a:rPr lang="en-GB" sz="2000" b="1" i="0" dirty="0">
                <a:solidFill>
                  <a:srgbClr val="273239"/>
                </a:solidFill>
                <a:effectLst/>
                <a:latin typeface="Times New Roman" panose="02020603050405020304" pitchFamily="18" charset="0"/>
                <a:cs typeface="Times New Roman" panose="02020603050405020304" pitchFamily="18" charset="0"/>
              </a:rPr>
              <a:t>Data Selection: </a:t>
            </a:r>
          </a:p>
          <a:p>
            <a:pPr algn="just" fontAlgn="base">
              <a:spcAft>
                <a:spcPts val="750"/>
              </a:spcAft>
            </a:pPr>
            <a:r>
              <a:rPr lang="en-GB" sz="2000" b="0" i="0" dirty="0">
                <a:solidFill>
                  <a:srgbClr val="273239"/>
                </a:solidFill>
                <a:effectLst/>
                <a:latin typeface="Times New Roman" panose="02020603050405020304" pitchFamily="18" charset="0"/>
                <a:cs typeface="Times New Roman" panose="02020603050405020304" pitchFamily="18" charset="0"/>
              </a:rPr>
              <a:t>The first step in the KDD process is to select the relevant data for analysis. </a:t>
            </a:r>
          </a:p>
          <a:p>
            <a:pPr algn="just" fontAlgn="base">
              <a:spcAft>
                <a:spcPts val="750"/>
              </a:spcAft>
            </a:pPr>
            <a:r>
              <a:rPr lang="en-GB" sz="2000" b="0" i="0" dirty="0">
                <a:solidFill>
                  <a:srgbClr val="273239"/>
                </a:solidFill>
                <a:effectLst/>
                <a:latin typeface="Times New Roman" panose="02020603050405020304" pitchFamily="18" charset="0"/>
                <a:cs typeface="Times New Roman" panose="02020603050405020304" pitchFamily="18" charset="0"/>
              </a:rPr>
              <a:t>This involves identifying the data sources and selecting the data that is necessary for the analysis.</a:t>
            </a:r>
          </a:p>
          <a:p>
            <a:pPr marL="0" indent="0" algn="just" fontAlgn="base">
              <a:spcAft>
                <a:spcPts val="750"/>
              </a:spcAft>
              <a:buNone/>
            </a:pPr>
            <a:r>
              <a:rPr lang="en-GB" sz="2000" b="1" i="0" dirty="0">
                <a:solidFill>
                  <a:srgbClr val="273239"/>
                </a:solidFill>
                <a:effectLst/>
                <a:latin typeface="Times New Roman" panose="02020603050405020304" pitchFamily="18" charset="0"/>
                <a:cs typeface="Times New Roman" panose="02020603050405020304" pitchFamily="18" charset="0"/>
              </a:rPr>
              <a:t>Data Preprocessing: </a:t>
            </a:r>
          </a:p>
          <a:p>
            <a:pPr algn="just" fontAlgn="base">
              <a:spcAft>
                <a:spcPts val="750"/>
              </a:spcAft>
            </a:pPr>
            <a:r>
              <a:rPr lang="en-GB" sz="2000" b="0" i="0" dirty="0">
                <a:solidFill>
                  <a:srgbClr val="273239"/>
                </a:solidFill>
                <a:effectLst/>
                <a:latin typeface="Times New Roman" panose="02020603050405020304" pitchFamily="18" charset="0"/>
                <a:cs typeface="Times New Roman" panose="02020603050405020304" pitchFamily="18" charset="0"/>
              </a:rPr>
              <a:t>The data obtained from different sources may be in different formats and may have errors and inconsistencies. </a:t>
            </a:r>
          </a:p>
          <a:p>
            <a:pPr algn="just" fontAlgn="base">
              <a:spcAft>
                <a:spcPts val="750"/>
              </a:spcAft>
            </a:pPr>
            <a:r>
              <a:rPr lang="en-GB" sz="2000" b="0" i="0" dirty="0">
                <a:solidFill>
                  <a:srgbClr val="273239"/>
                </a:solidFill>
                <a:effectLst/>
                <a:latin typeface="Times New Roman" panose="02020603050405020304" pitchFamily="18" charset="0"/>
                <a:cs typeface="Times New Roman" panose="02020603050405020304" pitchFamily="18" charset="0"/>
              </a:rPr>
              <a:t>The data preprocessing step involves cleaning and transforming the data to make it suitable for analysis.</a:t>
            </a:r>
          </a:p>
          <a:p>
            <a:pPr marL="0" indent="0" algn="just" fontAlgn="base">
              <a:spcAft>
                <a:spcPts val="750"/>
              </a:spcAft>
              <a:buNone/>
            </a:pPr>
            <a:r>
              <a:rPr lang="en-GB" sz="2000" b="1" i="0" dirty="0">
                <a:solidFill>
                  <a:srgbClr val="273239"/>
                </a:solidFill>
                <a:effectLst/>
                <a:latin typeface="Times New Roman" panose="02020603050405020304" pitchFamily="18" charset="0"/>
                <a:cs typeface="Times New Roman" panose="02020603050405020304" pitchFamily="18" charset="0"/>
              </a:rPr>
              <a:t>Data Transformation: </a:t>
            </a:r>
          </a:p>
          <a:p>
            <a:pPr algn="just" fontAlgn="base">
              <a:spcAft>
                <a:spcPts val="750"/>
              </a:spcAft>
            </a:pPr>
            <a:r>
              <a:rPr lang="en-GB" sz="2000" b="0" i="0" dirty="0">
                <a:solidFill>
                  <a:srgbClr val="273239"/>
                </a:solidFill>
                <a:effectLst/>
                <a:latin typeface="Times New Roman" panose="02020603050405020304" pitchFamily="18" charset="0"/>
                <a:cs typeface="Times New Roman" panose="02020603050405020304" pitchFamily="18" charset="0"/>
              </a:rPr>
              <a:t>Once the data has been cleaned, it may need to be transformed to make it more meaningful for analysis. </a:t>
            </a:r>
          </a:p>
          <a:p>
            <a:pPr algn="just" fontAlgn="base">
              <a:spcAft>
                <a:spcPts val="750"/>
              </a:spcAft>
            </a:pPr>
            <a:r>
              <a:rPr lang="en-GB" sz="2000" b="0" i="0" dirty="0">
                <a:solidFill>
                  <a:srgbClr val="273239"/>
                </a:solidFill>
                <a:effectLst/>
                <a:latin typeface="Times New Roman" panose="02020603050405020304" pitchFamily="18" charset="0"/>
                <a:cs typeface="Times New Roman" panose="02020603050405020304" pitchFamily="18" charset="0"/>
              </a:rPr>
              <a:t>This involves converting the data into a form that is suitable for data mining algorithms. </a:t>
            </a:r>
          </a:p>
        </p:txBody>
      </p:sp>
      <p:pic>
        <p:nvPicPr>
          <p:cNvPr id="2" name="Picture 1">
            <a:extLst>
              <a:ext uri="{FF2B5EF4-FFF2-40B4-BE49-F238E27FC236}">
                <a16:creationId xmlns:a16="http://schemas.microsoft.com/office/drawing/2014/main" id="{F6DAA7D3-C43A-EF4C-61F0-F4315A1428D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3000"/>
                    </a14:imgEffect>
                  </a14:imgLayer>
                </a14:imgProps>
              </a:ext>
            </a:extLst>
          </a:blip>
          <a:stretch>
            <a:fillRect/>
          </a:stretch>
        </p:blipFill>
        <p:spPr>
          <a:xfrm>
            <a:off x="7775095" y="616474"/>
            <a:ext cx="4284825" cy="4192193"/>
          </a:xfrm>
          <a:prstGeom prst="rect">
            <a:avLst/>
          </a:prstGeom>
        </p:spPr>
      </p:pic>
    </p:spTree>
    <p:extLst>
      <p:ext uri="{BB962C8B-B14F-4D97-AF65-F5344CB8AC3E}">
        <p14:creationId xmlns:p14="http://schemas.microsoft.com/office/powerpoint/2010/main" val="463156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5C838-A732-C156-A60A-A4A495B6360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DF2D85-B073-A457-F54A-F04521347F52}"/>
              </a:ext>
            </a:extLst>
          </p:cNvPr>
          <p:cNvSpPr>
            <a:spLocks noGrp="1"/>
          </p:cNvSpPr>
          <p:nvPr>
            <p:ph idx="1"/>
          </p:nvPr>
        </p:nvSpPr>
        <p:spPr>
          <a:xfrm>
            <a:off x="132080" y="152400"/>
            <a:ext cx="11927840" cy="6532880"/>
          </a:xfrm>
        </p:spPr>
        <p:txBody>
          <a:bodyPr>
            <a:normAutofit fontScale="92500" lnSpcReduction="10000"/>
          </a:bodyPr>
          <a:lstStyle/>
          <a:p>
            <a:pPr marL="0" indent="0" algn="just">
              <a:buNone/>
            </a:pPr>
            <a:r>
              <a:rPr lang="en-GB" sz="2000" b="1" dirty="0">
                <a:latin typeface="Times New Roman" panose="02020603050405020304" pitchFamily="18" charset="0"/>
                <a:cs typeface="Times New Roman" panose="02020603050405020304" pitchFamily="18" charset="0"/>
              </a:rPr>
              <a:t>Data Mining: </a:t>
            </a:r>
          </a:p>
          <a:p>
            <a:pPr algn="just"/>
            <a:r>
              <a:rPr lang="en-GB" sz="2000" dirty="0">
                <a:latin typeface="Times New Roman" panose="02020603050405020304" pitchFamily="18" charset="0"/>
                <a:cs typeface="Times New Roman" panose="02020603050405020304" pitchFamily="18" charset="0"/>
              </a:rPr>
              <a:t>The data mining step involves applying various data mining techniques to identify patterns and relationships in the data. </a:t>
            </a:r>
          </a:p>
          <a:p>
            <a:pPr algn="just"/>
            <a:r>
              <a:rPr lang="en-GB" sz="2000" dirty="0">
                <a:latin typeface="Times New Roman" panose="02020603050405020304" pitchFamily="18" charset="0"/>
                <a:cs typeface="Times New Roman" panose="02020603050405020304" pitchFamily="18" charset="0"/>
              </a:rPr>
              <a:t>This involves selecting the appropriate algorithms and models that are suitable for the data and the problem being addressed.</a:t>
            </a:r>
          </a:p>
          <a:p>
            <a:pPr marL="0" indent="0" algn="just">
              <a:buNone/>
            </a:pPr>
            <a:r>
              <a:rPr lang="en-GB" sz="2000" b="1" dirty="0">
                <a:latin typeface="Times New Roman" panose="02020603050405020304" pitchFamily="18" charset="0"/>
                <a:cs typeface="Times New Roman" panose="02020603050405020304" pitchFamily="18" charset="0"/>
              </a:rPr>
              <a:t>Pattern Evaluation: </a:t>
            </a:r>
          </a:p>
          <a:p>
            <a:pPr algn="just"/>
            <a:r>
              <a:rPr lang="en-GB" sz="2000" dirty="0">
                <a:latin typeface="Times New Roman" panose="02020603050405020304" pitchFamily="18" charset="0"/>
                <a:cs typeface="Times New Roman" panose="02020603050405020304" pitchFamily="18" charset="0"/>
              </a:rPr>
              <a:t>After the data mining step, the patterns and relationships identified in the data need to be evaluated to determine their usefulness. </a:t>
            </a:r>
          </a:p>
          <a:p>
            <a:pPr algn="just"/>
            <a:r>
              <a:rPr lang="en-GB" sz="2000" dirty="0">
                <a:latin typeface="Times New Roman" panose="02020603050405020304" pitchFamily="18" charset="0"/>
                <a:cs typeface="Times New Roman" panose="02020603050405020304" pitchFamily="18" charset="0"/>
              </a:rPr>
              <a:t>This involves examining the patterns to determine whether they are meaningful and can be used to make predictions or decisions.</a:t>
            </a:r>
          </a:p>
          <a:p>
            <a:pPr marL="0" indent="0" algn="just">
              <a:buNone/>
            </a:pPr>
            <a:r>
              <a:rPr lang="en-GB" sz="2000" b="1" dirty="0">
                <a:latin typeface="Times New Roman" panose="02020603050405020304" pitchFamily="18" charset="0"/>
                <a:cs typeface="Times New Roman" panose="02020603050405020304" pitchFamily="18" charset="0"/>
              </a:rPr>
              <a:t>Knowledge Representation: </a:t>
            </a:r>
          </a:p>
          <a:p>
            <a:pPr algn="just"/>
            <a:r>
              <a:rPr lang="en-GB" sz="2000" dirty="0">
                <a:latin typeface="Times New Roman" panose="02020603050405020304" pitchFamily="18" charset="0"/>
                <a:cs typeface="Times New Roman" panose="02020603050405020304" pitchFamily="18" charset="0"/>
              </a:rPr>
              <a:t>The patterns and relationships identified in the data need to be represented in a form that is understandable and useful to the end-user. </a:t>
            </a:r>
          </a:p>
          <a:p>
            <a:pPr algn="just"/>
            <a:r>
              <a:rPr lang="en-GB" sz="2000" dirty="0">
                <a:latin typeface="Times New Roman" panose="02020603050405020304" pitchFamily="18" charset="0"/>
                <a:cs typeface="Times New Roman" panose="02020603050405020304" pitchFamily="18" charset="0"/>
              </a:rPr>
              <a:t>This involves presenting the results in a way that is meaningful and can be used to make decisions.</a:t>
            </a:r>
          </a:p>
          <a:p>
            <a:pPr marL="0" indent="0" algn="just">
              <a:buNone/>
            </a:pPr>
            <a:r>
              <a:rPr lang="en-GB" sz="2000" b="1" dirty="0">
                <a:latin typeface="Times New Roman" panose="02020603050405020304" pitchFamily="18" charset="0"/>
                <a:cs typeface="Times New Roman" panose="02020603050405020304" pitchFamily="18" charset="0"/>
              </a:rPr>
              <a:t>Knowledge Refinement: </a:t>
            </a:r>
          </a:p>
          <a:p>
            <a:pPr algn="just"/>
            <a:r>
              <a:rPr lang="en-GB" sz="2000" dirty="0">
                <a:latin typeface="Times New Roman" panose="02020603050405020304" pitchFamily="18" charset="0"/>
                <a:cs typeface="Times New Roman" panose="02020603050405020304" pitchFamily="18" charset="0"/>
              </a:rPr>
              <a:t>The knowledge obtained from the data mining process may need to be refined further to improve its usefulness. </a:t>
            </a:r>
          </a:p>
          <a:p>
            <a:pPr algn="just"/>
            <a:r>
              <a:rPr lang="en-GB" sz="2000" dirty="0">
                <a:latin typeface="Times New Roman" panose="02020603050405020304" pitchFamily="18" charset="0"/>
                <a:cs typeface="Times New Roman" panose="02020603050405020304" pitchFamily="18" charset="0"/>
              </a:rPr>
              <a:t>This involves using feedback from the end-users to improve the accuracy and usefulness of the results.</a:t>
            </a:r>
          </a:p>
          <a:p>
            <a:pPr marL="0" indent="0" algn="just">
              <a:buNone/>
            </a:pPr>
            <a:r>
              <a:rPr lang="en-GB" sz="2000" b="1" dirty="0">
                <a:latin typeface="Times New Roman" panose="02020603050405020304" pitchFamily="18" charset="0"/>
                <a:cs typeface="Times New Roman" panose="02020603050405020304" pitchFamily="18" charset="0"/>
              </a:rPr>
              <a:t>Knowledge Dissemination: </a:t>
            </a:r>
          </a:p>
          <a:p>
            <a:pPr algn="just"/>
            <a:r>
              <a:rPr lang="en-GB" sz="2000" dirty="0">
                <a:latin typeface="Times New Roman" panose="02020603050405020304" pitchFamily="18" charset="0"/>
                <a:cs typeface="Times New Roman" panose="02020603050405020304" pitchFamily="18" charset="0"/>
              </a:rPr>
              <a:t>The final step in the KDD process involves disseminating the knowledge obtained from the analysis to the end-users. </a:t>
            </a:r>
          </a:p>
          <a:p>
            <a:pPr algn="just"/>
            <a:r>
              <a:rPr lang="en-GB" sz="2000" dirty="0">
                <a:latin typeface="Times New Roman" panose="02020603050405020304" pitchFamily="18" charset="0"/>
                <a:cs typeface="Times New Roman" panose="02020603050405020304" pitchFamily="18" charset="0"/>
              </a:rPr>
              <a:t>This involves presenting the results in a way that is easy to understand and can be used to make decisions.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62947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03F86-2B47-5012-14AA-EFF3068608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56EDEC-4DBE-D920-D6A2-F932123E09B8}"/>
              </a:ext>
            </a:extLst>
          </p:cNvPr>
          <p:cNvSpPr>
            <a:spLocks noGrp="1"/>
          </p:cNvSpPr>
          <p:nvPr>
            <p:ph idx="1"/>
          </p:nvPr>
        </p:nvSpPr>
        <p:spPr>
          <a:xfrm>
            <a:off x="132080" y="152400"/>
            <a:ext cx="7484334" cy="6532880"/>
          </a:xfrm>
        </p:spPr>
        <p:txBody>
          <a:bodyPr>
            <a:noAutofit/>
          </a:bodyPr>
          <a:lstStyle/>
          <a:p>
            <a:pPr marL="0" indent="0" algn="just">
              <a:buNone/>
            </a:pPr>
            <a:r>
              <a:rPr lang="en-GB" sz="1800" b="1" dirty="0">
                <a:latin typeface="Times New Roman" panose="02020603050405020304" pitchFamily="18" charset="0"/>
                <a:cs typeface="Times New Roman" panose="02020603050405020304" pitchFamily="18" charset="0"/>
              </a:rPr>
              <a:t>Data Mining Techniques</a:t>
            </a:r>
          </a:p>
          <a:p>
            <a:pPr algn="just"/>
            <a:r>
              <a:rPr lang="en-GB" sz="1800" dirty="0">
                <a:latin typeface="Times New Roman" panose="02020603050405020304" pitchFamily="18" charset="0"/>
                <a:cs typeface="Times New Roman" panose="02020603050405020304" pitchFamily="18" charset="0"/>
              </a:rPr>
              <a:t>Data mining includes the utilization of refined data analysis tools to find previously unknown, valid patterns and relationships in huge data sets. </a:t>
            </a:r>
          </a:p>
          <a:p>
            <a:pPr algn="just"/>
            <a:r>
              <a:rPr lang="en-GB" sz="1800" dirty="0">
                <a:latin typeface="Times New Roman" panose="02020603050405020304" pitchFamily="18" charset="0"/>
                <a:cs typeface="Times New Roman" panose="02020603050405020304" pitchFamily="18" charset="0"/>
              </a:rPr>
              <a:t>These tools can incorporate statistical models, machine learning techniques, and mathematical algorithms, such as neural networks or decision trees. </a:t>
            </a:r>
          </a:p>
          <a:p>
            <a:pPr algn="just"/>
            <a:r>
              <a:rPr lang="en-GB" sz="1800" dirty="0">
                <a:latin typeface="Times New Roman" panose="02020603050405020304" pitchFamily="18" charset="0"/>
                <a:cs typeface="Times New Roman" panose="02020603050405020304" pitchFamily="18" charset="0"/>
              </a:rPr>
              <a:t>Thus, data mining incorporates analysis and prediction.</a:t>
            </a:r>
          </a:p>
          <a:p>
            <a:pPr marL="0" indent="0" algn="l">
              <a:buNone/>
            </a:pPr>
            <a:r>
              <a:rPr lang="en-GB" sz="1800" b="1" i="0" dirty="0">
                <a:solidFill>
                  <a:srgbClr val="404040"/>
                </a:solidFill>
                <a:effectLst/>
                <a:latin typeface="Times New Roman" panose="02020603050405020304" pitchFamily="18" charset="0"/>
                <a:cs typeface="Times New Roman" panose="02020603050405020304" pitchFamily="18" charset="0"/>
              </a:rPr>
              <a:t>Classification</a:t>
            </a:r>
            <a:r>
              <a:rPr lang="en-GB" sz="1800" b="0" i="0" dirty="0">
                <a:solidFill>
                  <a:srgbClr val="404040"/>
                </a:solidFill>
                <a:effectLst/>
                <a:latin typeface="Times New Roman" panose="02020603050405020304" pitchFamily="18" charset="0"/>
                <a:cs typeface="Times New Roman" panose="02020603050405020304" pitchFamily="18" charset="0"/>
              </a:rPr>
              <a:t>:</a:t>
            </a:r>
          </a:p>
          <a:p>
            <a:pPr algn="just"/>
            <a:r>
              <a:rPr lang="en-GB" sz="1800" b="0" i="0" dirty="0">
                <a:solidFill>
                  <a:srgbClr val="404040"/>
                </a:solidFill>
                <a:effectLst/>
                <a:latin typeface="Times New Roman" panose="02020603050405020304" pitchFamily="18" charset="0"/>
                <a:cs typeface="Times New Roman" panose="02020603050405020304" pitchFamily="18" charset="0"/>
              </a:rPr>
              <a:t>This technique is used to categorize data into predefined classes. It uses algorithms such as decision trees, neural networks, and support vector machines. </a:t>
            </a:r>
          </a:p>
          <a:p>
            <a:pPr algn="just"/>
            <a:r>
              <a:rPr lang="en-GB" sz="1800" b="0" i="0" dirty="0">
                <a:solidFill>
                  <a:srgbClr val="404040"/>
                </a:solidFill>
                <a:effectLst/>
                <a:latin typeface="Times New Roman" panose="02020603050405020304" pitchFamily="18" charset="0"/>
                <a:cs typeface="Times New Roman" panose="02020603050405020304" pitchFamily="18" charset="0"/>
              </a:rPr>
              <a:t>Classification is often used in applications like email filtering (spam or not spam), bank loan approval (approve or not approve), and medical diagnosis (disease or no disease).</a:t>
            </a:r>
          </a:p>
          <a:p>
            <a:pPr marL="0" indent="0" algn="l">
              <a:spcBef>
                <a:spcPts val="300"/>
              </a:spcBef>
              <a:buNone/>
            </a:pPr>
            <a:r>
              <a:rPr lang="en-GB" sz="1800" b="1" i="0" dirty="0">
                <a:solidFill>
                  <a:srgbClr val="404040"/>
                </a:solidFill>
                <a:effectLst/>
                <a:latin typeface="Times New Roman" panose="02020603050405020304" pitchFamily="18" charset="0"/>
                <a:cs typeface="Times New Roman" panose="02020603050405020304" pitchFamily="18" charset="0"/>
              </a:rPr>
              <a:t>Regression</a:t>
            </a:r>
            <a:r>
              <a:rPr lang="en-GB" sz="1800" b="0" i="0" dirty="0">
                <a:solidFill>
                  <a:srgbClr val="404040"/>
                </a:solidFill>
                <a:effectLst/>
                <a:latin typeface="Times New Roman" panose="02020603050405020304" pitchFamily="18" charset="0"/>
                <a:cs typeface="Times New Roman" panose="02020603050405020304" pitchFamily="18" charset="0"/>
              </a:rPr>
              <a:t>:</a:t>
            </a:r>
          </a:p>
          <a:p>
            <a:pPr algn="just">
              <a:spcBef>
                <a:spcPts val="300"/>
              </a:spcBef>
            </a:pPr>
            <a:r>
              <a:rPr lang="en-GB" sz="1800" b="0" i="0" dirty="0">
                <a:solidFill>
                  <a:srgbClr val="404040"/>
                </a:solidFill>
                <a:effectLst/>
                <a:latin typeface="Times New Roman" panose="02020603050405020304" pitchFamily="18" charset="0"/>
                <a:cs typeface="Times New Roman" panose="02020603050405020304" pitchFamily="18" charset="0"/>
              </a:rPr>
              <a:t>Regression analysis is used to identify and </a:t>
            </a:r>
            <a:r>
              <a:rPr lang="en-GB" sz="1800" b="0" i="0" dirty="0" err="1">
                <a:solidFill>
                  <a:srgbClr val="404040"/>
                </a:solidFill>
                <a:effectLst/>
                <a:latin typeface="Times New Roman" panose="02020603050405020304" pitchFamily="18" charset="0"/>
                <a:cs typeface="Times New Roman" panose="02020603050405020304" pitchFamily="18" charset="0"/>
              </a:rPr>
              <a:t>analyze</a:t>
            </a:r>
            <a:r>
              <a:rPr lang="en-GB" sz="1800" b="0" i="0" dirty="0">
                <a:solidFill>
                  <a:srgbClr val="404040"/>
                </a:solidFill>
                <a:effectLst/>
                <a:latin typeface="Times New Roman" panose="02020603050405020304" pitchFamily="18" charset="0"/>
                <a:cs typeface="Times New Roman" panose="02020603050405020304" pitchFamily="18" charset="0"/>
              </a:rPr>
              <a:t> the relationship between variables. </a:t>
            </a:r>
          </a:p>
          <a:p>
            <a:pPr algn="just">
              <a:spcBef>
                <a:spcPts val="300"/>
              </a:spcBef>
            </a:pPr>
            <a:r>
              <a:rPr lang="en-GB" sz="1800" b="0" i="0" dirty="0">
                <a:solidFill>
                  <a:srgbClr val="404040"/>
                </a:solidFill>
                <a:effectLst/>
                <a:latin typeface="Times New Roman" panose="02020603050405020304" pitchFamily="18" charset="0"/>
                <a:cs typeface="Times New Roman" panose="02020603050405020304" pitchFamily="18" charset="0"/>
              </a:rPr>
              <a:t>It is often used for prediction and forecasting, where the focus is on the relationship between a dependent variable and one or more independent variables. </a:t>
            </a:r>
          </a:p>
          <a:p>
            <a:pPr algn="just">
              <a:spcBef>
                <a:spcPts val="300"/>
              </a:spcBef>
            </a:pPr>
            <a:r>
              <a:rPr lang="en-GB" sz="1800" b="0" i="0" dirty="0">
                <a:solidFill>
                  <a:srgbClr val="404040"/>
                </a:solidFill>
                <a:effectLst/>
                <a:latin typeface="Times New Roman" panose="02020603050405020304" pitchFamily="18" charset="0"/>
                <a:cs typeface="Times New Roman" panose="02020603050405020304" pitchFamily="18" charset="0"/>
              </a:rPr>
              <a:t>Linear regression and logistic regression are two common methods.</a:t>
            </a:r>
          </a:p>
        </p:txBody>
      </p:sp>
      <p:pic>
        <p:nvPicPr>
          <p:cNvPr id="1026" name="Picture 2" descr="Data Mining Techniques">
            <a:extLst>
              <a:ext uri="{FF2B5EF4-FFF2-40B4-BE49-F238E27FC236}">
                <a16:creationId xmlns:a16="http://schemas.microsoft.com/office/drawing/2014/main" id="{B5D57E6B-89DB-F569-FA08-F2FC3AD415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8450" y="843355"/>
            <a:ext cx="3810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9279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E4196-039D-B552-7DB8-90FAC665267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B89D6B-A308-7494-BF2D-2331082073D8}"/>
              </a:ext>
            </a:extLst>
          </p:cNvPr>
          <p:cNvSpPr>
            <a:spLocks noGrp="1"/>
          </p:cNvSpPr>
          <p:nvPr>
            <p:ph idx="1"/>
          </p:nvPr>
        </p:nvSpPr>
        <p:spPr>
          <a:xfrm>
            <a:off x="132080" y="152400"/>
            <a:ext cx="11927840" cy="6532880"/>
          </a:xfrm>
        </p:spPr>
        <p:txBody>
          <a:bodyPr>
            <a:normAutofit fontScale="92500" lnSpcReduction="20000"/>
          </a:bodyPr>
          <a:lstStyle/>
          <a:p>
            <a:pPr marL="0" indent="0" algn="just">
              <a:spcBef>
                <a:spcPts val="300"/>
              </a:spcBef>
              <a:buNone/>
            </a:pPr>
            <a:r>
              <a:rPr lang="en-GB" sz="2000" b="1" i="0" dirty="0">
                <a:solidFill>
                  <a:srgbClr val="404040"/>
                </a:solidFill>
                <a:effectLst/>
                <a:latin typeface="Times New Roman" panose="02020603050405020304" pitchFamily="18" charset="0"/>
                <a:cs typeface="Times New Roman" panose="02020603050405020304" pitchFamily="18" charset="0"/>
              </a:rPr>
              <a:t>Clustering</a:t>
            </a:r>
            <a:r>
              <a:rPr lang="en-GB" sz="2000" b="0" i="0" dirty="0">
                <a:solidFill>
                  <a:srgbClr val="404040"/>
                </a:solidFill>
                <a:effectLst/>
                <a:latin typeface="Times New Roman" panose="02020603050405020304" pitchFamily="18" charset="0"/>
                <a:cs typeface="Times New Roman" panose="02020603050405020304" pitchFamily="18" charset="0"/>
              </a:rPr>
              <a:t>:</a:t>
            </a:r>
          </a:p>
          <a:p>
            <a:pPr algn="just">
              <a:lnSpc>
                <a:spcPct val="110000"/>
              </a:lnSpc>
            </a:pPr>
            <a:r>
              <a:rPr lang="en-GB" sz="2000" b="0" i="0" dirty="0">
                <a:solidFill>
                  <a:srgbClr val="404040"/>
                </a:solidFill>
                <a:effectLst/>
                <a:latin typeface="Times New Roman" panose="02020603050405020304" pitchFamily="18" charset="0"/>
                <a:cs typeface="Times New Roman" panose="02020603050405020304" pitchFamily="18" charset="0"/>
              </a:rPr>
              <a:t>Clustering involves grouping a set of objects in </a:t>
            </a:r>
            <a:r>
              <a:rPr lang="en-GB" sz="2100" dirty="0">
                <a:solidFill>
                  <a:srgbClr val="404040"/>
                </a:solidFill>
                <a:latin typeface="Times New Roman" panose="02020603050405020304" pitchFamily="18" charset="0"/>
                <a:cs typeface="Times New Roman" panose="02020603050405020304" pitchFamily="18" charset="0"/>
              </a:rPr>
              <a:t>such a way that objects in the same group (called a cluster) are more similar to each other than to those in other groups. </a:t>
            </a:r>
          </a:p>
          <a:p>
            <a:pPr algn="just">
              <a:lnSpc>
                <a:spcPct val="110000"/>
              </a:lnSpc>
            </a:pPr>
            <a:r>
              <a:rPr lang="en-GB" sz="2100" dirty="0">
                <a:solidFill>
                  <a:srgbClr val="404040"/>
                </a:solidFill>
                <a:latin typeface="Times New Roman" panose="02020603050405020304" pitchFamily="18" charset="0"/>
                <a:cs typeface="Times New Roman" panose="02020603050405020304" pitchFamily="18" charset="0"/>
              </a:rPr>
              <a:t>It is a main task of exploratory data mining, and a common technique </a:t>
            </a:r>
            <a:r>
              <a:rPr lang="en-GB" sz="2000" b="0" i="0" dirty="0">
                <a:solidFill>
                  <a:srgbClr val="404040"/>
                </a:solidFill>
                <a:effectLst/>
                <a:latin typeface="Times New Roman" panose="02020603050405020304" pitchFamily="18" charset="0"/>
                <a:cs typeface="Times New Roman" panose="02020603050405020304" pitchFamily="18" charset="0"/>
              </a:rPr>
              <a:t>for statistical data analysis. K-means, hierarchical clustering, and DBSCAN are popular clustering algorithms.</a:t>
            </a:r>
            <a:endParaRPr lang="en-US" sz="2000" dirty="0">
              <a:latin typeface="Times New Roman" panose="02020603050405020304" pitchFamily="18" charset="0"/>
              <a:cs typeface="Times New Roman" panose="02020603050405020304" pitchFamily="18" charset="0"/>
            </a:endParaRPr>
          </a:p>
          <a:p>
            <a:pPr marL="0" indent="0" algn="just">
              <a:spcBef>
                <a:spcPts val="300"/>
              </a:spcBef>
              <a:buNone/>
            </a:pPr>
            <a:r>
              <a:rPr lang="en-GB" sz="2000" b="1" i="0" dirty="0">
                <a:solidFill>
                  <a:srgbClr val="404040"/>
                </a:solidFill>
                <a:effectLst/>
                <a:latin typeface="Times New Roman" panose="02020603050405020304" pitchFamily="18" charset="0"/>
                <a:cs typeface="Times New Roman" panose="02020603050405020304" pitchFamily="18" charset="0"/>
              </a:rPr>
              <a:t>Association Rule Learning</a:t>
            </a:r>
            <a:r>
              <a:rPr lang="en-GB" sz="2000" b="0" i="0" dirty="0">
                <a:solidFill>
                  <a:srgbClr val="404040"/>
                </a:solidFill>
                <a:effectLst/>
                <a:latin typeface="Times New Roman" panose="02020603050405020304" pitchFamily="18" charset="0"/>
                <a:cs typeface="Times New Roman" panose="02020603050405020304" pitchFamily="18" charset="0"/>
              </a:rPr>
              <a:t>:</a:t>
            </a:r>
          </a:p>
          <a:p>
            <a:pPr algn="just">
              <a:lnSpc>
                <a:spcPct val="110000"/>
              </a:lnSpc>
            </a:pPr>
            <a:r>
              <a:rPr lang="en-GB" sz="2000" b="0" i="0" dirty="0">
                <a:solidFill>
                  <a:srgbClr val="404040"/>
                </a:solidFill>
                <a:effectLst/>
                <a:latin typeface="Times New Roman" panose="02020603050405020304" pitchFamily="18" charset="0"/>
                <a:cs typeface="Times New Roman" panose="02020603050405020304" pitchFamily="18" charset="0"/>
              </a:rPr>
              <a:t>This technique is used to discover interesting relations between variables in large </a:t>
            </a:r>
            <a:r>
              <a:rPr lang="en-GB" sz="2000" dirty="0">
                <a:solidFill>
                  <a:srgbClr val="404040"/>
                </a:solidFill>
                <a:latin typeface="Times New Roman" panose="02020603050405020304" pitchFamily="18" charset="0"/>
                <a:cs typeface="Times New Roman" panose="02020603050405020304" pitchFamily="18" charset="0"/>
              </a:rPr>
              <a:t>databases. </a:t>
            </a:r>
          </a:p>
          <a:p>
            <a:pPr algn="just">
              <a:lnSpc>
                <a:spcPct val="110000"/>
              </a:lnSpc>
            </a:pPr>
            <a:r>
              <a:rPr lang="en-GB" sz="2000" dirty="0">
                <a:solidFill>
                  <a:srgbClr val="404040"/>
                </a:solidFill>
                <a:latin typeface="Times New Roman" panose="02020603050405020304" pitchFamily="18" charset="0"/>
                <a:cs typeface="Times New Roman" panose="02020603050405020304" pitchFamily="18" charset="0"/>
              </a:rPr>
              <a:t>It is intended to identify strong rules discovered in databases using different measures of interestingness. </a:t>
            </a:r>
          </a:p>
          <a:p>
            <a:pPr algn="just">
              <a:lnSpc>
                <a:spcPct val="110000"/>
              </a:lnSpc>
            </a:pPr>
            <a:r>
              <a:rPr lang="en-GB" sz="2000" dirty="0" err="1">
                <a:solidFill>
                  <a:srgbClr val="404040"/>
                </a:solidFill>
                <a:latin typeface="Times New Roman" panose="02020603050405020304" pitchFamily="18" charset="0"/>
                <a:cs typeface="Times New Roman" panose="02020603050405020304" pitchFamily="18" charset="0"/>
              </a:rPr>
              <a:t>Apriori</a:t>
            </a:r>
            <a:r>
              <a:rPr lang="en-GB" sz="2000" dirty="0">
                <a:solidFill>
                  <a:srgbClr val="404040"/>
                </a:solidFill>
                <a:latin typeface="Times New Roman" panose="02020603050405020304" pitchFamily="18" charset="0"/>
                <a:cs typeface="Times New Roman" panose="02020603050405020304" pitchFamily="18" charset="0"/>
              </a:rPr>
              <a:t> and Eclat are algorithms used for association rule learning, often applied in market basket analysis.</a:t>
            </a:r>
          </a:p>
          <a:p>
            <a:pPr marL="0" indent="0" algn="just">
              <a:spcBef>
                <a:spcPts val="300"/>
              </a:spcBef>
              <a:buNone/>
            </a:pPr>
            <a:r>
              <a:rPr lang="en-GB" sz="2000" b="1" i="0" dirty="0">
                <a:solidFill>
                  <a:srgbClr val="404040"/>
                </a:solidFill>
                <a:effectLst/>
                <a:latin typeface="Times New Roman" panose="02020603050405020304" pitchFamily="18" charset="0"/>
                <a:cs typeface="Times New Roman" panose="02020603050405020304" pitchFamily="18" charset="0"/>
              </a:rPr>
              <a:t>Anomaly Detection (Outlier/Change/Deviation Detection)</a:t>
            </a:r>
            <a:r>
              <a:rPr lang="en-GB" sz="2000" b="0" i="0" dirty="0">
                <a:solidFill>
                  <a:srgbClr val="404040"/>
                </a:solidFill>
                <a:effectLst/>
                <a:latin typeface="Times New Roman" panose="02020603050405020304" pitchFamily="18" charset="0"/>
                <a:cs typeface="Times New Roman" panose="02020603050405020304" pitchFamily="18" charset="0"/>
              </a:rPr>
              <a:t>:</a:t>
            </a:r>
            <a:endParaRPr lang="en-GB" sz="2000" dirty="0">
              <a:solidFill>
                <a:srgbClr val="404040"/>
              </a:solidFill>
              <a:latin typeface="Times New Roman" panose="02020603050405020304" pitchFamily="18" charset="0"/>
              <a:cs typeface="Times New Roman" panose="02020603050405020304" pitchFamily="18" charset="0"/>
            </a:endParaRPr>
          </a:p>
          <a:p>
            <a:pPr algn="just">
              <a:lnSpc>
                <a:spcPct val="100000"/>
              </a:lnSpc>
            </a:pPr>
            <a:r>
              <a:rPr lang="en-GB" sz="2000" b="0" i="0" dirty="0">
                <a:solidFill>
                  <a:srgbClr val="404040"/>
                </a:solidFill>
                <a:effectLst/>
                <a:latin typeface="Times New Roman" panose="02020603050405020304" pitchFamily="18" charset="0"/>
                <a:cs typeface="Times New Roman" panose="02020603050405020304" pitchFamily="18" charset="0"/>
              </a:rPr>
              <a:t>The objective of anomaly detection is to identify unusual data points, which </a:t>
            </a:r>
            <a:r>
              <a:rPr lang="en-GB" sz="2000" dirty="0">
                <a:solidFill>
                  <a:srgbClr val="404040"/>
                </a:solidFill>
                <a:latin typeface="Times New Roman" panose="02020603050405020304" pitchFamily="18" charset="0"/>
                <a:cs typeface="Times New Roman" panose="02020603050405020304" pitchFamily="18" charset="0"/>
              </a:rPr>
              <a:t>differ significantly from the majority of the data. </a:t>
            </a:r>
          </a:p>
          <a:p>
            <a:pPr algn="just">
              <a:lnSpc>
                <a:spcPct val="100000"/>
              </a:lnSpc>
            </a:pPr>
            <a:r>
              <a:rPr lang="en-GB" sz="2000" dirty="0">
                <a:solidFill>
                  <a:srgbClr val="404040"/>
                </a:solidFill>
                <a:latin typeface="Times New Roman" panose="02020603050405020304" pitchFamily="18" charset="0"/>
                <a:cs typeface="Times New Roman" panose="02020603050405020304" pitchFamily="18" charset="0"/>
              </a:rPr>
              <a:t>This technique is widely used in fraud detection, system health monitoring, and intrusion detection.</a:t>
            </a:r>
          </a:p>
          <a:p>
            <a:pPr marL="0" indent="0" algn="just">
              <a:buNone/>
            </a:pPr>
            <a:r>
              <a:rPr lang="en-GB" sz="2000" b="1" dirty="0">
                <a:solidFill>
                  <a:srgbClr val="404040"/>
                </a:solidFill>
                <a:latin typeface="Times New Roman" panose="02020603050405020304" pitchFamily="18" charset="0"/>
                <a:cs typeface="Times New Roman" panose="02020603050405020304" pitchFamily="18" charset="0"/>
              </a:rPr>
              <a:t>Sequential Pattern Mining:</a:t>
            </a:r>
          </a:p>
          <a:p>
            <a:pPr algn="just"/>
            <a:r>
              <a:rPr lang="en-GB" sz="2000" dirty="0">
                <a:solidFill>
                  <a:srgbClr val="404040"/>
                </a:solidFill>
                <a:latin typeface="Times New Roman" panose="02020603050405020304" pitchFamily="18" charset="0"/>
                <a:cs typeface="Times New Roman" panose="02020603050405020304" pitchFamily="18" charset="0"/>
              </a:rPr>
              <a:t>This technique is used to identify regular sequences of events or patterns over time. </a:t>
            </a:r>
          </a:p>
          <a:p>
            <a:pPr algn="just"/>
            <a:r>
              <a:rPr lang="en-GB" sz="2000" dirty="0">
                <a:solidFill>
                  <a:srgbClr val="404040"/>
                </a:solidFill>
                <a:latin typeface="Times New Roman" panose="02020603050405020304" pitchFamily="18" charset="0"/>
                <a:cs typeface="Times New Roman" panose="02020603050405020304" pitchFamily="18" charset="0"/>
              </a:rPr>
              <a:t>It is useful in applications like customer shopping </a:t>
            </a:r>
            <a:r>
              <a:rPr lang="en-GB" sz="2000" dirty="0" err="1">
                <a:solidFill>
                  <a:srgbClr val="404040"/>
                </a:solidFill>
                <a:latin typeface="Times New Roman" panose="02020603050405020304" pitchFamily="18" charset="0"/>
                <a:cs typeface="Times New Roman" panose="02020603050405020304" pitchFamily="18" charset="0"/>
              </a:rPr>
              <a:t>behavior</a:t>
            </a:r>
            <a:r>
              <a:rPr lang="en-GB" sz="2000" dirty="0">
                <a:solidFill>
                  <a:srgbClr val="404040"/>
                </a:solidFill>
                <a:latin typeface="Times New Roman" panose="02020603050405020304" pitchFamily="18" charset="0"/>
                <a:cs typeface="Times New Roman" panose="02020603050405020304" pitchFamily="18" charset="0"/>
              </a:rPr>
              <a:t> analysis, web clickstream analysis, and biological sequence analysis.</a:t>
            </a:r>
          </a:p>
          <a:p>
            <a:pPr marL="0" indent="0" algn="just">
              <a:buNone/>
            </a:pPr>
            <a:r>
              <a:rPr lang="en-GB" sz="2000" b="1" dirty="0">
                <a:solidFill>
                  <a:srgbClr val="404040"/>
                </a:solidFill>
                <a:latin typeface="Times New Roman" panose="02020603050405020304" pitchFamily="18" charset="0"/>
                <a:cs typeface="Times New Roman" panose="02020603050405020304" pitchFamily="18" charset="0"/>
              </a:rPr>
              <a:t>Prediction:</a:t>
            </a:r>
          </a:p>
          <a:p>
            <a:pPr algn="just"/>
            <a:r>
              <a:rPr lang="en-GB" sz="2000" dirty="0">
                <a:solidFill>
                  <a:srgbClr val="404040"/>
                </a:solidFill>
                <a:latin typeface="Times New Roman" panose="02020603050405020304" pitchFamily="18" charset="0"/>
                <a:cs typeface="Times New Roman" panose="02020603050405020304" pitchFamily="18" charset="0"/>
              </a:rPr>
              <a:t>Prediction used a combination of other data mining techniques such as trends, clustering, classification, etc. </a:t>
            </a:r>
          </a:p>
          <a:p>
            <a:pPr algn="just"/>
            <a:r>
              <a:rPr lang="en-GB" sz="2000" dirty="0">
                <a:solidFill>
                  <a:srgbClr val="404040"/>
                </a:solidFill>
                <a:latin typeface="Times New Roman" panose="02020603050405020304" pitchFamily="18" charset="0"/>
                <a:cs typeface="Times New Roman" panose="02020603050405020304" pitchFamily="18" charset="0"/>
              </a:rPr>
              <a:t>It </a:t>
            </a:r>
            <a:r>
              <a:rPr lang="en-GB" sz="2000" dirty="0" err="1">
                <a:solidFill>
                  <a:srgbClr val="404040"/>
                </a:solidFill>
                <a:latin typeface="Times New Roman" panose="02020603050405020304" pitchFamily="18" charset="0"/>
                <a:cs typeface="Times New Roman" panose="02020603050405020304" pitchFamily="18" charset="0"/>
              </a:rPr>
              <a:t>analyzes</a:t>
            </a:r>
            <a:r>
              <a:rPr lang="en-GB" sz="2000" dirty="0">
                <a:solidFill>
                  <a:srgbClr val="404040"/>
                </a:solidFill>
                <a:latin typeface="Times New Roman" panose="02020603050405020304" pitchFamily="18" charset="0"/>
                <a:cs typeface="Times New Roman" panose="02020603050405020304" pitchFamily="18" charset="0"/>
              </a:rPr>
              <a:t> past events or instances in the right sequence to predict a future event.</a:t>
            </a:r>
          </a:p>
        </p:txBody>
      </p:sp>
    </p:spTree>
    <p:extLst>
      <p:ext uri="{BB962C8B-B14F-4D97-AF65-F5344CB8AC3E}">
        <p14:creationId xmlns:p14="http://schemas.microsoft.com/office/powerpoint/2010/main" val="744049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D5E60-A5EA-5F16-4F51-6758296F990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6508B8-4D95-8F47-9301-281A70EC03BD}"/>
              </a:ext>
            </a:extLst>
          </p:cNvPr>
          <p:cNvSpPr>
            <a:spLocks noGrp="1"/>
          </p:cNvSpPr>
          <p:nvPr>
            <p:ph idx="1"/>
          </p:nvPr>
        </p:nvSpPr>
        <p:spPr>
          <a:xfrm>
            <a:off x="132080" y="152400"/>
            <a:ext cx="11927840" cy="6532880"/>
          </a:xfrm>
        </p:spPr>
        <p:txBody>
          <a:bodyPr>
            <a:normAutofit/>
          </a:bodyPr>
          <a:lstStyle/>
          <a:p>
            <a:pPr marL="0" indent="0" algn="l">
              <a:lnSpc>
                <a:spcPts val="1650"/>
              </a:lnSpc>
              <a:spcAft>
                <a:spcPts val="900"/>
              </a:spcAft>
              <a:buNone/>
            </a:pPr>
            <a:r>
              <a:rPr lang="en-GB" sz="2400" b="1" i="0" dirty="0">
                <a:solidFill>
                  <a:srgbClr val="111111"/>
                </a:solidFill>
                <a:effectLst/>
                <a:latin typeface="Times New Roman" panose="02020603050405020304" pitchFamily="18" charset="0"/>
                <a:cs typeface="Times New Roman" panose="02020603050405020304" pitchFamily="18" charset="0"/>
              </a:rPr>
              <a:t>Applications of Data Mining</a:t>
            </a:r>
          </a:p>
          <a:p>
            <a:pPr algn="l">
              <a:lnSpc>
                <a:spcPts val="1650"/>
              </a:lnSpc>
              <a:spcAft>
                <a:spcPts val="600"/>
              </a:spcAft>
            </a:pPr>
            <a:r>
              <a:rPr lang="en-GB" sz="1800" b="0" i="0" dirty="0">
                <a:solidFill>
                  <a:srgbClr val="111111"/>
                </a:solidFill>
                <a:effectLst/>
                <a:latin typeface="Times New Roman" panose="02020603050405020304" pitchFamily="18" charset="0"/>
                <a:cs typeface="Times New Roman" panose="02020603050405020304" pitchFamily="18" charset="0"/>
              </a:rPr>
              <a:t>Data mining has a wide range of applications across various industries, including:</a:t>
            </a:r>
          </a:p>
          <a:p>
            <a:pPr algn="l">
              <a:lnSpc>
                <a:spcPts val="1650"/>
              </a:lnSpc>
              <a:spcAft>
                <a:spcPts val="600"/>
              </a:spcAft>
              <a:buFont typeface="Arial" panose="020B0604020202020204" pitchFamily="34" charset="0"/>
              <a:buChar char="•"/>
            </a:pPr>
            <a:r>
              <a:rPr lang="en-GB" sz="1800" b="1" i="0" dirty="0">
                <a:solidFill>
                  <a:srgbClr val="111111"/>
                </a:solidFill>
                <a:effectLst/>
                <a:latin typeface="Times New Roman" panose="02020603050405020304" pitchFamily="18" charset="0"/>
                <a:cs typeface="Times New Roman" panose="02020603050405020304" pitchFamily="18" charset="0"/>
              </a:rPr>
              <a:t>Marketing</a:t>
            </a:r>
            <a:r>
              <a:rPr lang="en-GB" sz="1800" b="0" i="0" dirty="0">
                <a:solidFill>
                  <a:srgbClr val="111111"/>
                </a:solidFill>
                <a:effectLst/>
                <a:latin typeface="Times New Roman" panose="02020603050405020304" pitchFamily="18" charset="0"/>
                <a:cs typeface="Times New Roman" panose="02020603050405020304" pitchFamily="18" charset="0"/>
              </a:rPr>
              <a:t>: Identifying customer segments and targeting marketing campaigns.</a:t>
            </a:r>
          </a:p>
          <a:p>
            <a:pPr algn="l">
              <a:lnSpc>
                <a:spcPts val="1650"/>
              </a:lnSpc>
              <a:spcAft>
                <a:spcPts val="600"/>
              </a:spcAft>
              <a:buFont typeface="Arial" panose="020B0604020202020204" pitchFamily="34" charset="0"/>
              <a:buChar char="•"/>
            </a:pPr>
            <a:r>
              <a:rPr lang="en-GB" sz="1800" b="1" i="0" dirty="0">
                <a:solidFill>
                  <a:srgbClr val="111111"/>
                </a:solidFill>
                <a:effectLst/>
                <a:latin typeface="Times New Roman" panose="02020603050405020304" pitchFamily="18" charset="0"/>
                <a:cs typeface="Times New Roman" panose="02020603050405020304" pitchFamily="18" charset="0"/>
              </a:rPr>
              <a:t>Finance</a:t>
            </a:r>
            <a:r>
              <a:rPr lang="en-GB" sz="1800" b="0" i="0" dirty="0">
                <a:solidFill>
                  <a:srgbClr val="111111"/>
                </a:solidFill>
                <a:effectLst/>
                <a:latin typeface="Times New Roman" panose="02020603050405020304" pitchFamily="18" charset="0"/>
                <a:cs typeface="Times New Roman" panose="02020603050405020304" pitchFamily="18" charset="0"/>
              </a:rPr>
              <a:t>: Detecting fraud and assessing risk.</a:t>
            </a:r>
          </a:p>
          <a:p>
            <a:pPr algn="l">
              <a:lnSpc>
                <a:spcPts val="1650"/>
              </a:lnSpc>
              <a:spcAft>
                <a:spcPts val="600"/>
              </a:spcAft>
              <a:buFont typeface="Arial" panose="020B0604020202020204" pitchFamily="34" charset="0"/>
              <a:buChar char="•"/>
            </a:pPr>
            <a:r>
              <a:rPr lang="en-GB" sz="1800" b="1" i="0" dirty="0">
                <a:solidFill>
                  <a:srgbClr val="111111"/>
                </a:solidFill>
                <a:effectLst/>
                <a:latin typeface="Times New Roman" panose="02020603050405020304" pitchFamily="18" charset="0"/>
                <a:cs typeface="Times New Roman" panose="02020603050405020304" pitchFamily="18" charset="0"/>
              </a:rPr>
              <a:t>Healthcare</a:t>
            </a:r>
            <a:r>
              <a:rPr lang="en-GB" sz="1800" b="0" i="0" dirty="0">
                <a:solidFill>
                  <a:srgbClr val="111111"/>
                </a:solidFill>
                <a:effectLst/>
                <a:latin typeface="Times New Roman" panose="02020603050405020304" pitchFamily="18" charset="0"/>
                <a:cs typeface="Times New Roman" panose="02020603050405020304" pitchFamily="18" charset="0"/>
              </a:rPr>
              <a:t>: Identifying risk factors for diseases and developing personalized treatment plans.</a:t>
            </a:r>
          </a:p>
          <a:p>
            <a:pPr algn="l">
              <a:lnSpc>
                <a:spcPts val="1650"/>
              </a:lnSpc>
              <a:spcAft>
                <a:spcPts val="600"/>
              </a:spcAft>
              <a:buFont typeface="Arial" panose="020B0604020202020204" pitchFamily="34" charset="0"/>
              <a:buChar char="•"/>
            </a:pPr>
            <a:r>
              <a:rPr lang="en-GB" sz="1800" b="1" i="0" dirty="0">
                <a:solidFill>
                  <a:srgbClr val="111111"/>
                </a:solidFill>
                <a:effectLst/>
                <a:latin typeface="Times New Roman" panose="02020603050405020304" pitchFamily="18" charset="0"/>
                <a:cs typeface="Times New Roman" panose="02020603050405020304" pitchFamily="18" charset="0"/>
              </a:rPr>
              <a:t>Retail</a:t>
            </a:r>
            <a:r>
              <a:rPr lang="en-GB" sz="1800" b="0" i="0" dirty="0">
                <a:solidFill>
                  <a:srgbClr val="111111"/>
                </a:solidFill>
                <a:effectLst/>
                <a:latin typeface="Times New Roman" panose="02020603050405020304" pitchFamily="18" charset="0"/>
                <a:cs typeface="Times New Roman" panose="02020603050405020304" pitchFamily="18" charset="0"/>
              </a:rPr>
              <a:t>: </a:t>
            </a:r>
            <a:r>
              <a:rPr lang="en-GB" sz="1800" b="0" i="0" dirty="0" err="1">
                <a:solidFill>
                  <a:srgbClr val="111111"/>
                </a:solidFill>
                <a:effectLst/>
                <a:latin typeface="Times New Roman" panose="02020603050405020304" pitchFamily="18" charset="0"/>
                <a:cs typeface="Times New Roman" panose="02020603050405020304" pitchFamily="18" charset="0"/>
              </a:rPr>
              <a:t>Analyzing</a:t>
            </a:r>
            <a:r>
              <a:rPr lang="en-GB" sz="1800" b="0" i="0" dirty="0">
                <a:solidFill>
                  <a:srgbClr val="111111"/>
                </a:solidFill>
                <a:effectLst/>
                <a:latin typeface="Times New Roman" panose="02020603050405020304" pitchFamily="18" charset="0"/>
                <a:cs typeface="Times New Roman" panose="02020603050405020304" pitchFamily="18" charset="0"/>
              </a:rPr>
              <a:t> customer </a:t>
            </a:r>
            <a:r>
              <a:rPr lang="en-GB" sz="1800" b="0" i="0" dirty="0" err="1">
                <a:solidFill>
                  <a:srgbClr val="111111"/>
                </a:solidFill>
                <a:effectLst/>
                <a:latin typeface="Times New Roman" panose="02020603050405020304" pitchFamily="18" charset="0"/>
                <a:cs typeface="Times New Roman" panose="02020603050405020304" pitchFamily="18" charset="0"/>
              </a:rPr>
              <a:t>behavior</a:t>
            </a:r>
            <a:r>
              <a:rPr lang="en-GB" sz="1800" b="0" i="0" dirty="0">
                <a:solidFill>
                  <a:srgbClr val="111111"/>
                </a:solidFill>
                <a:effectLst/>
                <a:latin typeface="Times New Roman" panose="02020603050405020304" pitchFamily="18" charset="0"/>
                <a:cs typeface="Times New Roman" panose="02020603050405020304" pitchFamily="18" charset="0"/>
              </a:rPr>
              <a:t> and optimizing product placement</a:t>
            </a:r>
            <a:r>
              <a:rPr lang="en-GB" sz="1800" b="0" i="0" u="none" strike="noStrike" baseline="30000" dirty="0">
                <a:solidFill>
                  <a:srgbClr val="174AE4"/>
                </a:solidFill>
                <a:effectLst/>
                <a:latin typeface="Times New Roman" panose="02020603050405020304" pitchFamily="18" charset="0"/>
                <a:cs typeface="Times New Roman" panose="02020603050405020304" pitchFamily="18" charset="0"/>
                <a:hlinkClick r:id="rId2"/>
              </a:rPr>
              <a:t>2</a:t>
            </a:r>
            <a:r>
              <a:rPr lang="en-GB" sz="1800" b="0" i="0" dirty="0">
                <a:solidFill>
                  <a:srgbClr val="111111"/>
                </a:solidFill>
                <a:effectLst/>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12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4A50D-FA00-024C-3942-4AD826B196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0F7051-114C-0054-20FF-7D3E4BB1BFB9}"/>
              </a:ext>
            </a:extLst>
          </p:cNvPr>
          <p:cNvSpPr>
            <a:spLocks noGrp="1"/>
          </p:cNvSpPr>
          <p:nvPr>
            <p:ph idx="1"/>
          </p:nvPr>
        </p:nvSpPr>
        <p:spPr>
          <a:xfrm>
            <a:off x="132080" y="152400"/>
            <a:ext cx="11927840" cy="6532880"/>
          </a:xfrm>
        </p:spPr>
        <p:txBody>
          <a:bodyPr>
            <a:normAutofit fontScale="92500" lnSpcReduction="10000"/>
          </a:bodyPr>
          <a:lstStyle/>
          <a:p>
            <a:pPr marL="0" indent="0" algn="just" fontAlgn="base">
              <a:lnSpc>
                <a:spcPct val="100000"/>
              </a:lnSpc>
              <a:spcBef>
                <a:spcPts val="975"/>
              </a:spcBef>
              <a:buNone/>
            </a:pPr>
            <a:r>
              <a:rPr lang="en-US" sz="1800" b="1" i="0" dirty="0">
                <a:effectLst/>
                <a:latin typeface="Times New Roman" panose="02020603050405020304" pitchFamily="18" charset="0"/>
                <a:cs typeface="Times New Roman" panose="02020603050405020304" pitchFamily="18" charset="0"/>
              </a:rPr>
              <a:t>Data Warehousing</a:t>
            </a:r>
          </a:p>
          <a:p>
            <a:pPr algn="just" rtl="0" fontAlgn="base">
              <a:lnSpc>
                <a:spcPct val="100000"/>
              </a:lnSpc>
              <a:spcBef>
                <a:spcPts val="600"/>
              </a:spcBef>
              <a:spcAft>
                <a:spcPts val="600"/>
              </a:spcAft>
            </a:pPr>
            <a:r>
              <a:rPr lang="en-GB" sz="1800" b="0" i="0" dirty="0">
                <a:effectLst/>
                <a:latin typeface="Times New Roman" panose="02020603050405020304" pitchFamily="18" charset="0"/>
                <a:cs typeface="Times New Roman" panose="02020603050405020304" pitchFamily="18" charset="0"/>
              </a:rPr>
              <a:t>A data warehouse is a centralized system used for storing and managing large volumes of data from various sources. </a:t>
            </a:r>
          </a:p>
          <a:p>
            <a:pPr algn="just" rtl="0" fontAlgn="base">
              <a:lnSpc>
                <a:spcPct val="100000"/>
              </a:lnSpc>
              <a:spcBef>
                <a:spcPts val="600"/>
              </a:spcBef>
              <a:spcAft>
                <a:spcPts val="600"/>
              </a:spcAft>
            </a:pPr>
            <a:r>
              <a:rPr lang="en-GB" sz="1800" b="0" i="0" dirty="0">
                <a:effectLst/>
                <a:latin typeface="Times New Roman" panose="02020603050405020304" pitchFamily="18" charset="0"/>
                <a:cs typeface="Times New Roman" panose="02020603050405020304" pitchFamily="18" charset="0"/>
              </a:rPr>
              <a:t>It is designed to help businesses </a:t>
            </a:r>
            <a:r>
              <a:rPr lang="en-GB" sz="1800" b="0" i="0" dirty="0" err="1">
                <a:effectLst/>
                <a:latin typeface="Times New Roman" panose="02020603050405020304" pitchFamily="18" charset="0"/>
                <a:cs typeface="Times New Roman" panose="02020603050405020304" pitchFamily="18" charset="0"/>
              </a:rPr>
              <a:t>analyze</a:t>
            </a:r>
            <a:r>
              <a:rPr lang="en-GB" sz="1800" b="0" i="0" dirty="0">
                <a:effectLst/>
                <a:latin typeface="Times New Roman" panose="02020603050405020304" pitchFamily="18" charset="0"/>
                <a:cs typeface="Times New Roman" panose="02020603050405020304" pitchFamily="18" charset="0"/>
              </a:rPr>
              <a:t> historical data and make informed decisions. </a:t>
            </a:r>
          </a:p>
          <a:p>
            <a:pPr algn="just" rtl="0" fontAlgn="base">
              <a:lnSpc>
                <a:spcPct val="100000"/>
              </a:lnSpc>
              <a:spcBef>
                <a:spcPts val="600"/>
              </a:spcBef>
              <a:spcAft>
                <a:spcPts val="600"/>
              </a:spcAft>
            </a:pPr>
            <a:r>
              <a:rPr lang="en-GB" sz="1800" b="0" i="0" dirty="0">
                <a:effectLst/>
                <a:latin typeface="Times New Roman" panose="02020603050405020304" pitchFamily="18" charset="0"/>
                <a:cs typeface="Times New Roman" panose="02020603050405020304" pitchFamily="18" charset="0"/>
              </a:rPr>
              <a:t>Data from different operational systems is collected, cleaned, and stored in a structured way, enabling efficient querying and reporting.</a:t>
            </a:r>
          </a:p>
          <a:p>
            <a:pPr lvl="1" algn="just" fontAlgn="base">
              <a:lnSpc>
                <a:spcPct val="100000"/>
              </a:lnSpc>
              <a:spcBef>
                <a:spcPts val="600"/>
              </a:spcBef>
              <a:spcAft>
                <a:spcPts val="600"/>
              </a:spcAft>
            </a:pPr>
            <a:r>
              <a:rPr lang="en-GB" sz="1800" b="0" i="0" dirty="0">
                <a:effectLst/>
                <a:latin typeface="Times New Roman" panose="02020603050405020304" pitchFamily="18" charset="0"/>
                <a:cs typeface="Times New Roman" panose="02020603050405020304" pitchFamily="18" charset="0"/>
              </a:rPr>
              <a:t>Goal is to produce statistical results that may help in decision-making.</a:t>
            </a:r>
          </a:p>
          <a:p>
            <a:pPr lvl="1" algn="just" fontAlgn="base">
              <a:lnSpc>
                <a:spcPct val="100000"/>
              </a:lnSpc>
              <a:spcBef>
                <a:spcPts val="600"/>
              </a:spcBef>
              <a:spcAft>
                <a:spcPts val="600"/>
              </a:spcAft>
            </a:pPr>
            <a:r>
              <a:rPr lang="en-GB" sz="1800" b="0" i="0" dirty="0">
                <a:effectLst/>
                <a:latin typeface="Times New Roman" panose="02020603050405020304" pitchFamily="18" charset="0"/>
                <a:cs typeface="Times New Roman" panose="02020603050405020304" pitchFamily="18" charset="0"/>
              </a:rPr>
              <a:t>Ensures fast data retrieval even with the vast datasets.</a:t>
            </a:r>
          </a:p>
          <a:p>
            <a:pPr marL="0" lvl="1" indent="0" algn="just" fontAlgn="base">
              <a:lnSpc>
                <a:spcPct val="100000"/>
              </a:lnSpc>
              <a:spcBef>
                <a:spcPts val="600"/>
              </a:spcBef>
              <a:spcAft>
                <a:spcPts val="600"/>
              </a:spcAft>
              <a:buNone/>
            </a:pPr>
            <a:r>
              <a:rPr lang="en-GB" sz="1800" b="1" i="0" dirty="0">
                <a:effectLst/>
                <a:latin typeface="Times New Roman" panose="02020603050405020304" pitchFamily="18" charset="0"/>
                <a:cs typeface="Times New Roman" panose="02020603050405020304" pitchFamily="18" charset="0"/>
              </a:rPr>
              <a:t>Need for Data Warehousing</a:t>
            </a:r>
          </a:p>
          <a:p>
            <a:pPr marL="0" lvl="1" indent="0" algn="just" fontAlgn="base">
              <a:lnSpc>
                <a:spcPct val="100000"/>
              </a:lnSpc>
              <a:spcBef>
                <a:spcPts val="600"/>
              </a:spcBef>
              <a:spcAft>
                <a:spcPts val="600"/>
              </a:spcAft>
              <a:buNone/>
            </a:pPr>
            <a:r>
              <a:rPr lang="en-GB" sz="1800" b="1" i="0" dirty="0">
                <a:effectLst/>
                <a:latin typeface="Times New Roman" panose="02020603050405020304" pitchFamily="18" charset="0"/>
                <a:cs typeface="Times New Roman" panose="02020603050405020304" pitchFamily="18" charset="0"/>
              </a:rPr>
              <a:t>Handling Large Volumes of Data: </a:t>
            </a:r>
            <a:r>
              <a:rPr lang="en-GB" sz="1800" b="0" i="0" dirty="0">
                <a:effectLst/>
                <a:latin typeface="Times New Roman" panose="02020603050405020304" pitchFamily="18" charset="0"/>
                <a:cs typeface="Times New Roman" panose="02020603050405020304" pitchFamily="18" charset="0"/>
              </a:rPr>
              <a:t>Traditional databases can only store a limited amount of data (MBs to GBs), whereas a data warehouse is designed to handle much larger datasets (TBs), allowing businesses to store and manage massive amounts of historical data.</a:t>
            </a:r>
          </a:p>
          <a:p>
            <a:pPr marL="0" lvl="1" indent="0" algn="just" fontAlgn="base">
              <a:lnSpc>
                <a:spcPct val="100000"/>
              </a:lnSpc>
              <a:spcBef>
                <a:spcPts val="600"/>
              </a:spcBef>
              <a:spcAft>
                <a:spcPts val="600"/>
              </a:spcAft>
              <a:buNone/>
            </a:pPr>
            <a:r>
              <a:rPr lang="en-GB" sz="1800" b="1" i="0" dirty="0">
                <a:effectLst/>
                <a:latin typeface="Times New Roman" panose="02020603050405020304" pitchFamily="18" charset="0"/>
                <a:cs typeface="Times New Roman" panose="02020603050405020304" pitchFamily="18" charset="0"/>
              </a:rPr>
              <a:t> Enhanced Analytics: </a:t>
            </a:r>
            <a:r>
              <a:rPr lang="en-GB" sz="1800" b="0" i="0" dirty="0">
                <a:effectLst/>
                <a:latin typeface="Times New Roman" panose="02020603050405020304" pitchFamily="18" charset="0"/>
                <a:cs typeface="Times New Roman" panose="02020603050405020304" pitchFamily="18" charset="0"/>
              </a:rPr>
              <a:t>Transactional databases are not optimized for analytical purposes. A data warehouse is built specifically for data analysis, enabling businesses to perform complex queries and gain insights from historical data.</a:t>
            </a:r>
          </a:p>
          <a:p>
            <a:pPr marL="0" lvl="1" indent="0" algn="just" fontAlgn="base">
              <a:lnSpc>
                <a:spcPct val="100000"/>
              </a:lnSpc>
              <a:spcBef>
                <a:spcPts val="600"/>
              </a:spcBef>
              <a:spcAft>
                <a:spcPts val="600"/>
              </a:spcAft>
              <a:buNone/>
            </a:pPr>
            <a:r>
              <a:rPr lang="en-GB" sz="1800" b="1" i="0" dirty="0">
                <a:effectLst/>
                <a:latin typeface="Times New Roman" panose="02020603050405020304" pitchFamily="18" charset="0"/>
                <a:cs typeface="Times New Roman" panose="02020603050405020304" pitchFamily="18" charset="0"/>
              </a:rPr>
              <a:t>Centralized Data Storage: </a:t>
            </a:r>
            <a:r>
              <a:rPr lang="en-GB" sz="1800" b="0" i="0" dirty="0">
                <a:effectLst/>
                <a:latin typeface="Times New Roman" panose="02020603050405020304" pitchFamily="18" charset="0"/>
                <a:cs typeface="Times New Roman" panose="02020603050405020304" pitchFamily="18" charset="0"/>
              </a:rPr>
              <a:t>A data warehouse acts as a central repository for all organizational data, helping businesses to integrate data from multiple sources and have a unified view of their operations for better decision-making.</a:t>
            </a:r>
          </a:p>
          <a:p>
            <a:pPr marL="0" lvl="1" indent="0" algn="just" fontAlgn="base">
              <a:lnSpc>
                <a:spcPct val="100000"/>
              </a:lnSpc>
              <a:spcBef>
                <a:spcPts val="600"/>
              </a:spcBef>
              <a:spcAft>
                <a:spcPts val="600"/>
              </a:spcAft>
              <a:buNone/>
            </a:pPr>
            <a:r>
              <a:rPr lang="en-GB" sz="1800" b="1" i="0" dirty="0">
                <a:effectLst/>
                <a:latin typeface="Times New Roman" panose="02020603050405020304" pitchFamily="18" charset="0"/>
                <a:cs typeface="Times New Roman" panose="02020603050405020304" pitchFamily="18" charset="0"/>
              </a:rPr>
              <a:t>Trend Analysis: </a:t>
            </a:r>
            <a:r>
              <a:rPr lang="en-GB" sz="1800" b="0" i="0" dirty="0">
                <a:effectLst/>
                <a:latin typeface="Times New Roman" panose="02020603050405020304" pitchFamily="18" charset="0"/>
                <a:cs typeface="Times New Roman" panose="02020603050405020304" pitchFamily="18" charset="0"/>
              </a:rPr>
              <a:t>By storing historical data, a data warehouse allows businesses to </a:t>
            </a:r>
            <a:r>
              <a:rPr lang="en-GB" sz="1800" b="0" i="0" dirty="0" err="1">
                <a:effectLst/>
                <a:latin typeface="Times New Roman" panose="02020603050405020304" pitchFamily="18" charset="0"/>
                <a:cs typeface="Times New Roman" panose="02020603050405020304" pitchFamily="18" charset="0"/>
              </a:rPr>
              <a:t>analyze</a:t>
            </a:r>
            <a:r>
              <a:rPr lang="en-GB" sz="1800" b="0" i="0" dirty="0">
                <a:effectLst/>
                <a:latin typeface="Times New Roman" panose="02020603050405020304" pitchFamily="18" charset="0"/>
                <a:cs typeface="Times New Roman" panose="02020603050405020304" pitchFamily="18" charset="0"/>
              </a:rPr>
              <a:t> trends over time, enabling them to make strategic decisions based on past performance and predict future outcomes.</a:t>
            </a:r>
          </a:p>
          <a:p>
            <a:pPr marL="0" lvl="1" indent="0" algn="just" fontAlgn="base">
              <a:lnSpc>
                <a:spcPct val="100000"/>
              </a:lnSpc>
              <a:spcBef>
                <a:spcPts val="600"/>
              </a:spcBef>
              <a:spcAft>
                <a:spcPts val="600"/>
              </a:spcAft>
              <a:buNone/>
            </a:pPr>
            <a:r>
              <a:rPr lang="en-GB" sz="1800" b="1" i="0" dirty="0">
                <a:effectLst/>
                <a:latin typeface="Times New Roman" panose="02020603050405020304" pitchFamily="18" charset="0"/>
                <a:cs typeface="Times New Roman" panose="02020603050405020304" pitchFamily="18" charset="0"/>
              </a:rPr>
              <a:t>Support for Business Intelligence: </a:t>
            </a:r>
            <a:r>
              <a:rPr lang="en-GB" sz="1800" b="0" i="0" dirty="0">
                <a:effectLst/>
                <a:latin typeface="Times New Roman" panose="02020603050405020304" pitchFamily="18" charset="0"/>
                <a:cs typeface="Times New Roman" panose="02020603050405020304" pitchFamily="18" charset="0"/>
              </a:rPr>
              <a:t>Data warehouses support business intelligence tools and reporting systems, providing decision-makers with easy access to critical information, which enhances operational efficiency and supports data-driven strategies.</a:t>
            </a:r>
          </a:p>
        </p:txBody>
      </p:sp>
    </p:spTree>
    <p:extLst>
      <p:ext uri="{BB962C8B-B14F-4D97-AF65-F5344CB8AC3E}">
        <p14:creationId xmlns:p14="http://schemas.microsoft.com/office/powerpoint/2010/main" val="1127466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6E870-FEF7-0CFE-B422-C88056AC639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02C8188-C0A8-84AC-27B8-A5A7B8D4DC9C}"/>
              </a:ext>
            </a:extLst>
          </p:cNvPr>
          <p:cNvPicPr>
            <a:picLocks noGrp="1" noChangeAspect="1"/>
          </p:cNvPicPr>
          <p:nvPr>
            <p:ph idx="1"/>
          </p:nvPr>
        </p:nvPicPr>
        <p:blipFill>
          <a:blip r:embed="rId2"/>
          <a:stretch>
            <a:fillRect/>
          </a:stretch>
        </p:blipFill>
        <p:spPr>
          <a:xfrm>
            <a:off x="8270240" y="1171658"/>
            <a:ext cx="3840480" cy="2746526"/>
          </a:xfrm>
          <a:prstGeom prst="rect">
            <a:avLst/>
          </a:prstGeom>
        </p:spPr>
      </p:pic>
      <p:sp>
        <p:nvSpPr>
          <p:cNvPr id="5" name="TextBox 4">
            <a:extLst>
              <a:ext uri="{FF2B5EF4-FFF2-40B4-BE49-F238E27FC236}">
                <a16:creationId xmlns:a16="http://schemas.microsoft.com/office/drawing/2014/main" id="{EE405DBB-A351-3688-9960-AC5794DE8701}"/>
              </a:ext>
            </a:extLst>
          </p:cNvPr>
          <p:cNvSpPr txBox="1"/>
          <p:nvPr/>
        </p:nvSpPr>
        <p:spPr>
          <a:xfrm>
            <a:off x="40640" y="196298"/>
            <a:ext cx="8128000" cy="6555641"/>
          </a:xfrm>
          <a:prstGeom prst="rect">
            <a:avLst/>
          </a:prstGeom>
          <a:noFill/>
        </p:spPr>
        <p:txBody>
          <a:bodyPr wrap="square">
            <a:spAutoFit/>
          </a:bodyPr>
          <a:lstStyle/>
          <a:p>
            <a:pPr algn="just" fontAlgn="base"/>
            <a:r>
              <a:rPr lang="en-GB" b="1" i="0" dirty="0">
                <a:solidFill>
                  <a:srgbClr val="273239"/>
                </a:solidFill>
                <a:effectLst/>
                <a:latin typeface="Times New Roman" panose="02020603050405020304" pitchFamily="18" charset="0"/>
                <a:cs typeface="Times New Roman" panose="02020603050405020304" pitchFamily="18" charset="0"/>
              </a:rPr>
              <a:t>Components of Data Warehouse</a:t>
            </a:r>
          </a:p>
          <a:p>
            <a:pPr algn="just" fontAlgn="base">
              <a:spcAft>
                <a:spcPts val="1200"/>
              </a:spcAft>
            </a:pPr>
            <a:r>
              <a:rPr lang="en-GB" b="1" i="0" dirty="0">
                <a:solidFill>
                  <a:srgbClr val="273239"/>
                </a:solidFill>
                <a:effectLst/>
                <a:latin typeface="Times New Roman" panose="02020603050405020304" pitchFamily="18" charset="0"/>
                <a:cs typeface="Times New Roman" panose="02020603050405020304" pitchFamily="18" charset="0"/>
              </a:rPr>
              <a:t>Data Sources</a:t>
            </a:r>
            <a:r>
              <a:rPr lang="en-GB" b="0" i="0" dirty="0">
                <a:solidFill>
                  <a:srgbClr val="273239"/>
                </a:solidFill>
                <a:effectLst/>
                <a:latin typeface="Times New Roman" panose="02020603050405020304" pitchFamily="18" charset="0"/>
                <a:cs typeface="Times New Roman" panose="02020603050405020304" pitchFamily="18" charset="0"/>
              </a:rPr>
              <a:t>: These are the various </a:t>
            </a:r>
            <a:r>
              <a:rPr lang="en-GB" b="0" i="0" u="sng" dirty="0">
                <a:solidFill>
                  <a:srgbClr val="273239"/>
                </a:solidFill>
                <a:effectLst/>
                <a:latin typeface="Times New Roman" panose="02020603050405020304" pitchFamily="18" charset="0"/>
                <a:cs typeface="Times New Roman" panose="02020603050405020304" pitchFamily="18" charset="0"/>
              </a:rPr>
              <a:t>operational systems,</a:t>
            </a:r>
            <a:r>
              <a:rPr lang="en-GB" b="0" i="0" dirty="0">
                <a:solidFill>
                  <a:srgbClr val="273239"/>
                </a:solidFill>
                <a:effectLst/>
                <a:latin typeface="Times New Roman" panose="02020603050405020304" pitchFamily="18" charset="0"/>
                <a:cs typeface="Times New Roman" panose="02020603050405020304" pitchFamily="18" charset="0"/>
              </a:rPr>
              <a:t> databases, and external data feeds that provide raw data to be stored in the warehouse.</a:t>
            </a:r>
          </a:p>
          <a:p>
            <a:pPr algn="just" fontAlgn="base">
              <a:spcAft>
                <a:spcPts val="1200"/>
              </a:spcAft>
            </a:pPr>
            <a:r>
              <a:rPr lang="en-GB" b="1" i="0" dirty="0">
                <a:solidFill>
                  <a:srgbClr val="273239"/>
                </a:solidFill>
                <a:effectLst/>
                <a:latin typeface="Times New Roman" panose="02020603050405020304" pitchFamily="18" charset="0"/>
                <a:cs typeface="Times New Roman" panose="02020603050405020304" pitchFamily="18" charset="0"/>
              </a:rPr>
              <a:t>ETL (Extract, Transform, Load) Process</a:t>
            </a:r>
            <a:r>
              <a:rPr lang="en-GB" b="0" i="0" dirty="0">
                <a:solidFill>
                  <a:srgbClr val="273239"/>
                </a:solidFill>
                <a:effectLst/>
                <a:latin typeface="Times New Roman" panose="02020603050405020304" pitchFamily="18" charset="0"/>
                <a:cs typeface="Times New Roman" panose="02020603050405020304" pitchFamily="18" charset="0"/>
              </a:rPr>
              <a:t>: The </a:t>
            </a:r>
            <a:r>
              <a:rPr lang="en-GB" b="0" i="0" u="sng" dirty="0">
                <a:solidFill>
                  <a:srgbClr val="273239"/>
                </a:solidFill>
                <a:effectLst/>
                <a:latin typeface="Times New Roman" panose="02020603050405020304" pitchFamily="18" charset="0"/>
                <a:cs typeface="Times New Roman" panose="02020603050405020304" pitchFamily="18" charset="0"/>
              </a:rPr>
              <a:t>ETL process</a:t>
            </a:r>
            <a:r>
              <a:rPr lang="en-GB" b="0" i="0" dirty="0">
                <a:solidFill>
                  <a:srgbClr val="273239"/>
                </a:solidFill>
                <a:effectLst/>
                <a:latin typeface="Times New Roman" panose="02020603050405020304" pitchFamily="18" charset="0"/>
                <a:cs typeface="Times New Roman" panose="02020603050405020304" pitchFamily="18" charset="0"/>
              </a:rPr>
              <a:t> is responsible for extracting data from different sources, transforming it into a suitable format, and loading it into the data warehouse.</a:t>
            </a:r>
          </a:p>
          <a:p>
            <a:pPr algn="just" fontAlgn="base">
              <a:spcAft>
                <a:spcPts val="1200"/>
              </a:spcAft>
            </a:pPr>
            <a:r>
              <a:rPr lang="en-GB" b="1" i="0" dirty="0">
                <a:solidFill>
                  <a:srgbClr val="273239"/>
                </a:solidFill>
                <a:effectLst/>
                <a:latin typeface="Times New Roman" panose="02020603050405020304" pitchFamily="18" charset="0"/>
                <a:cs typeface="Times New Roman" panose="02020603050405020304" pitchFamily="18" charset="0"/>
              </a:rPr>
              <a:t>Data Warehouse Database</a:t>
            </a:r>
            <a:r>
              <a:rPr lang="en-GB" b="0" i="0" dirty="0">
                <a:solidFill>
                  <a:srgbClr val="273239"/>
                </a:solidFill>
                <a:effectLst/>
                <a:latin typeface="Times New Roman" panose="02020603050405020304" pitchFamily="18" charset="0"/>
                <a:cs typeface="Times New Roman" panose="02020603050405020304" pitchFamily="18" charset="0"/>
              </a:rPr>
              <a:t>: This is the central repository where cleaned and transformed data is stored. It is typically organized in a multidimensional format for efficient querying and reporting.</a:t>
            </a:r>
          </a:p>
          <a:p>
            <a:pPr algn="just" fontAlgn="base">
              <a:spcAft>
                <a:spcPts val="1200"/>
              </a:spcAft>
            </a:pPr>
            <a:r>
              <a:rPr lang="en-GB" b="1" i="0" dirty="0">
                <a:solidFill>
                  <a:srgbClr val="273239"/>
                </a:solidFill>
                <a:effectLst/>
                <a:latin typeface="Times New Roman" panose="02020603050405020304" pitchFamily="18" charset="0"/>
                <a:cs typeface="Times New Roman" panose="02020603050405020304" pitchFamily="18" charset="0"/>
              </a:rPr>
              <a:t>Metadata</a:t>
            </a:r>
            <a:r>
              <a:rPr lang="en-GB" b="0" i="0" dirty="0">
                <a:solidFill>
                  <a:srgbClr val="273239"/>
                </a:solidFill>
                <a:effectLst/>
                <a:latin typeface="Times New Roman" panose="02020603050405020304" pitchFamily="18" charset="0"/>
                <a:cs typeface="Times New Roman" panose="02020603050405020304" pitchFamily="18" charset="0"/>
              </a:rPr>
              <a:t>: </a:t>
            </a:r>
            <a:r>
              <a:rPr lang="en-GB" b="0" i="0" u="sng" dirty="0">
                <a:solidFill>
                  <a:srgbClr val="273239"/>
                </a:solidFill>
                <a:effectLst/>
                <a:latin typeface="Times New Roman" panose="02020603050405020304" pitchFamily="18" charset="0"/>
                <a:cs typeface="Times New Roman" panose="02020603050405020304" pitchFamily="18" charset="0"/>
              </a:rPr>
              <a:t>Metadata </a:t>
            </a:r>
            <a:r>
              <a:rPr lang="en-GB" b="0" i="0" dirty="0">
                <a:solidFill>
                  <a:srgbClr val="273239"/>
                </a:solidFill>
                <a:effectLst/>
                <a:latin typeface="Times New Roman" panose="02020603050405020304" pitchFamily="18" charset="0"/>
                <a:cs typeface="Times New Roman" panose="02020603050405020304" pitchFamily="18" charset="0"/>
              </a:rPr>
              <a:t>describes the structure, source, and usage of data within the warehouse, making it easier for users and systems to understand and work with the data.</a:t>
            </a:r>
          </a:p>
          <a:p>
            <a:pPr algn="just" fontAlgn="base">
              <a:spcAft>
                <a:spcPts val="1200"/>
              </a:spcAft>
            </a:pPr>
            <a:r>
              <a:rPr lang="en-GB" b="1" i="0" dirty="0">
                <a:solidFill>
                  <a:srgbClr val="273239"/>
                </a:solidFill>
                <a:effectLst/>
                <a:latin typeface="Times New Roman" panose="02020603050405020304" pitchFamily="18" charset="0"/>
                <a:cs typeface="Times New Roman" panose="02020603050405020304" pitchFamily="18" charset="0"/>
              </a:rPr>
              <a:t>Data Marts</a:t>
            </a:r>
            <a:r>
              <a:rPr lang="en-GB" b="0" i="0" dirty="0">
                <a:solidFill>
                  <a:srgbClr val="273239"/>
                </a:solidFill>
                <a:effectLst/>
                <a:latin typeface="Times New Roman" panose="02020603050405020304" pitchFamily="18" charset="0"/>
                <a:cs typeface="Times New Roman" panose="02020603050405020304" pitchFamily="18" charset="0"/>
              </a:rPr>
              <a:t>: These are smaller, more focused data repositories derived from the data warehouse, designed to meet the needs of specific business departments or functions.</a:t>
            </a:r>
          </a:p>
          <a:p>
            <a:pPr algn="just" fontAlgn="base">
              <a:spcAft>
                <a:spcPts val="1200"/>
              </a:spcAft>
            </a:pPr>
            <a:r>
              <a:rPr lang="en-GB" b="1" i="0" dirty="0">
                <a:solidFill>
                  <a:srgbClr val="273239"/>
                </a:solidFill>
                <a:effectLst/>
                <a:latin typeface="Times New Roman" panose="02020603050405020304" pitchFamily="18" charset="0"/>
                <a:cs typeface="Times New Roman" panose="02020603050405020304" pitchFamily="18" charset="0"/>
              </a:rPr>
              <a:t>OLAP (Online Analytical Processing) Tools</a:t>
            </a:r>
            <a:r>
              <a:rPr lang="en-GB" b="0" i="0" dirty="0">
                <a:solidFill>
                  <a:srgbClr val="273239"/>
                </a:solidFill>
                <a:effectLst/>
                <a:latin typeface="Times New Roman" panose="02020603050405020304" pitchFamily="18" charset="0"/>
                <a:cs typeface="Times New Roman" panose="02020603050405020304" pitchFamily="18" charset="0"/>
              </a:rPr>
              <a:t>: </a:t>
            </a:r>
            <a:r>
              <a:rPr lang="en-GB" b="0" i="0" u="sng" dirty="0">
                <a:solidFill>
                  <a:srgbClr val="273239"/>
                </a:solidFill>
                <a:effectLst/>
                <a:latin typeface="Times New Roman" panose="02020603050405020304" pitchFamily="18" charset="0"/>
                <a:cs typeface="Times New Roman" panose="02020603050405020304" pitchFamily="18" charset="0"/>
              </a:rPr>
              <a:t>OLAP tools</a:t>
            </a:r>
            <a:r>
              <a:rPr lang="en-GB" b="0" i="0" dirty="0">
                <a:solidFill>
                  <a:srgbClr val="273239"/>
                </a:solidFill>
                <a:effectLst/>
                <a:latin typeface="Times New Roman" panose="02020603050405020304" pitchFamily="18" charset="0"/>
                <a:cs typeface="Times New Roman" panose="02020603050405020304" pitchFamily="18" charset="0"/>
              </a:rPr>
              <a:t> allow users to </a:t>
            </a:r>
            <a:r>
              <a:rPr lang="en-GB" b="0" i="0" dirty="0" err="1">
                <a:solidFill>
                  <a:srgbClr val="273239"/>
                </a:solidFill>
                <a:effectLst/>
                <a:latin typeface="Times New Roman" panose="02020603050405020304" pitchFamily="18" charset="0"/>
                <a:cs typeface="Times New Roman" panose="02020603050405020304" pitchFamily="18" charset="0"/>
              </a:rPr>
              <a:t>analyze</a:t>
            </a:r>
            <a:r>
              <a:rPr lang="en-GB" b="0" i="0" dirty="0">
                <a:solidFill>
                  <a:srgbClr val="273239"/>
                </a:solidFill>
                <a:effectLst/>
                <a:latin typeface="Times New Roman" panose="02020603050405020304" pitchFamily="18" charset="0"/>
                <a:cs typeface="Times New Roman" panose="02020603050405020304" pitchFamily="18" charset="0"/>
              </a:rPr>
              <a:t> data in multiple dimensions, providing deeper insights and supporting complex analytical queries.</a:t>
            </a:r>
          </a:p>
          <a:p>
            <a:pPr algn="just" fontAlgn="base">
              <a:spcAft>
                <a:spcPts val="1200"/>
              </a:spcAft>
            </a:pPr>
            <a:r>
              <a:rPr lang="en-GB" b="1" i="0" dirty="0">
                <a:solidFill>
                  <a:srgbClr val="273239"/>
                </a:solidFill>
                <a:effectLst/>
                <a:latin typeface="Times New Roman" panose="02020603050405020304" pitchFamily="18" charset="0"/>
                <a:cs typeface="Times New Roman" panose="02020603050405020304" pitchFamily="18" charset="0"/>
              </a:rPr>
              <a:t>End-User Access Tools</a:t>
            </a:r>
            <a:r>
              <a:rPr lang="en-GB" b="0" i="0" dirty="0">
                <a:solidFill>
                  <a:srgbClr val="273239"/>
                </a:solidFill>
                <a:effectLst/>
                <a:latin typeface="Times New Roman" panose="02020603050405020304" pitchFamily="18" charset="0"/>
                <a:cs typeface="Times New Roman" panose="02020603050405020304" pitchFamily="18" charset="0"/>
              </a:rPr>
              <a:t>: These are reporting and analysis tools, such as dashboards or </a:t>
            </a:r>
            <a:r>
              <a:rPr lang="en-GB" b="0" i="0" u="sng" dirty="0">
                <a:solidFill>
                  <a:srgbClr val="273239"/>
                </a:solidFill>
                <a:effectLst/>
                <a:latin typeface="Times New Roman" panose="02020603050405020304" pitchFamily="18" charset="0"/>
                <a:cs typeface="Times New Roman" panose="02020603050405020304" pitchFamily="18" charset="0"/>
              </a:rPr>
              <a:t>Business Intelligence (BI) tools</a:t>
            </a:r>
            <a:r>
              <a:rPr lang="en-GB" b="0" i="0" dirty="0">
                <a:solidFill>
                  <a:srgbClr val="273239"/>
                </a:solidFill>
                <a:effectLst/>
                <a:latin typeface="Times New Roman" panose="02020603050405020304" pitchFamily="18" charset="0"/>
                <a:cs typeface="Times New Roman" panose="02020603050405020304" pitchFamily="18" charset="0"/>
              </a:rPr>
              <a:t>, that enable business users to query the data warehouse and generate reports.</a:t>
            </a:r>
          </a:p>
        </p:txBody>
      </p:sp>
    </p:spTree>
    <p:extLst>
      <p:ext uri="{BB962C8B-B14F-4D97-AF65-F5344CB8AC3E}">
        <p14:creationId xmlns:p14="http://schemas.microsoft.com/office/powerpoint/2010/main" val="2535871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51528-7466-6A9D-4A2B-67440D9567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85163B-B2A4-A8CD-31FB-A9EFC1A252BE}"/>
              </a:ext>
            </a:extLst>
          </p:cNvPr>
          <p:cNvSpPr>
            <a:spLocks noGrp="1"/>
          </p:cNvSpPr>
          <p:nvPr>
            <p:ph idx="1"/>
          </p:nvPr>
        </p:nvSpPr>
        <p:spPr>
          <a:xfrm>
            <a:off x="132080" y="152400"/>
            <a:ext cx="11927840" cy="6532880"/>
          </a:xfrm>
        </p:spPr>
        <p:txBody>
          <a:bodyPr>
            <a:noAutofit/>
          </a:bodyPr>
          <a:lstStyle/>
          <a:p>
            <a:pPr marL="0" indent="0" algn="l" fontAlgn="base">
              <a:buNone/>
            </a:pPr>
            <a:r>
              <a:rPr lang="en-GB" sz="2400" b="1" i="0" dirty="0">
                <a:solidFill>
                  <a:srgbClr val="273239"/>
                </a:solidFill>
                <a:effectLst/>
                <a:latin typeface="Times New Roman" panose="02020603050405020304" pitchFamily="18" charset="0"/>
                <a:cs typeface="Times New Roman" panose="02020603050405020304" pitchFamily="18" charset="0"/>
              </a:rPr>
              <a:t>Types of Data Warehouses</a:t>
            </a:r>
          </a:p>
          <a:p>
            <a:pPr marL="0" indent="0" algn="l" fontAlgn="base">
              <a:buNone/>
            </a:pPr>
            <a:r>
              <a:rPr lang="en-GB" sz="2000" b="1" i="0" dirty="0">
                <a:solidFill>
                  <a:srgbClr val="273239"/>
                </a:solidFill>
                <a:effectLst/>
                <a:latin typeface="Times New Roman" panose="02020603050405020304" pitchFamily="18" charset="0"/>
                <a:cs typeface="Times New Roman" panose="02020603050405020304" pitchFamily="18" charset="0"/>
              </a:rPr>
              <a:t>Enterprise Data Warehouse (EDW)</a:t>
            </a:r>
            <a:r>
              <a:rPr lang="en-GB" sz="2000" b="0" i="0" dirty="0">
                <a:solidFill>
                  <a:srgbClr val="273239"/>
                </a:solidFill>
                <a:effectLst/>
                <a:latin typeface="Times New Roman" panose="02020603050405020304" pitchFamily="18" charset="0"/>
                <a:cs typeface="Times New Roman" panose="02020603050405020304" pitchFamily="18" charset="0"/>
              </a:rPr>
              <a:t>: A centralized warehouse that stores data from across the organization for analysis and reporting.</a:t>
            </a:r>
          </a:p>
          <a:p>
            <a:pPr marL="0" indent="0" algn="l" fontAlgn="base">
              <a:spcAft>
                <a:spcPts val="1800"/>
              </a:spcAft>
              <a:buNone/>
            </a:pPr>
            <a:r>
              <a:rPr lang="en-GB" sz="2000" b="1" i="0" dirty="0">
                <a:solidFill>
                  <a:srgbClr val="273239"/>
                </a:solidFill>
                <a:effectLst/>
                <a:latin typeface="Times New Roman" panose="02020603050405020304" pitchFamily="18" charset="0"/>
                <a:cs typeface="Times New Roman" panose="02020603050405020304" pitchFamily="18" charset="0"/>
              </a:rPr>
              <a:t>Operational Data Store (ODS)</a:t>
            </a:r>
            <a:r>
              <a:rPr lang="en-GB" sz="2000" b="0" i="0" dirty="0">
                <a:solidFill>
                  <a:srgbClr val="273239"/>
                </a:solidFill>
                <a:effectLst/>
                <a:latin typeface="Times New Roman" panose="02020603050405020304" pitchFamily="18" charset="0"/>
                <a:cs typeface="Times New Roman" panose="02020603050405020304" pitchFamily="18" charset="0"/>
              </a:rPr>
              <a:t>: Stores real-time operational data used for day-to-day operations, not for deep analytics.</a:t>
            </a:r>
          </a:p>
          <a:p>
            <a:pPr marL="0" indent="0" algn="l" fontAlgn="base">
              <a:spcAft>
                <a:spcPts val="1800"/>
              </a:spcAft>
              <a:buNone/>
            </a:pPr>
            <a:r>
              <a:rPr lang="en-GB" sz="2000" b="1" i="0" dirty="0">
                <a:solidFill>
                  <a:srgbClr val="273239"/>
                </a:solidFill>
                <a:effectLst/>
                <a:latin typeface="Times New Roman" panose="02020603050405020304" pitchFamily="18" charset="0"/>
                <a:cs typeface="Times New Roman" panose="02020603050405020304" pitchFamily="18" charset="0"/>
              </a:rPr>
              <a:t>Data Mart</a:t>
            </a:r>
            <a:r>
              <a:rPr lang="en-GB" sz="2000" b="0" i="0" dirty="0">
                <a:solidFill>
                  <a:srgbClr val="273239"/>
                </a:solidFill>
                <a:effectLst/>
                <a:latin typeface="Times New Roman" panose="02020603050405020304" pitchFamily="18" charset="0"/>
                <a:cs typeface="Times New Roman" panose="02020603050405020304" pitchFamily="18" charset="0"/>
              </a:rPr>
              <a:t>: A</a:t>
            </a:r>
            <a:r>
              <a:rPr lang="en-GB" sz="2000" dirty="0">
                <a:solidFill>
                  <a:srgbClr val="273239"/>
                </a:solidFill>
                <a:latin typeface="Times New Roman" panose="02020603050405020304" pitchFamily="18" charset="0"/>
                <a:cs typeface="Times New Roman" panose="02020603050405020304" pitchFamily="18" charset="0"/>
              </a:rPr>
              <a:t> subset </a:t>
            </a:r>
            <a:r>
              <a:rPr lang="en-GB" sz="2000" b="0" i="0" dirty="0">
                <a:solidFill>
                  <a:srgbClr val="273239"/>
                </a:solidFill>
                <a:effectLst/>
                <a:latin typeface="Times New Roman" panose="02020603050405020304" pitchFamily="18" charset="0"/>
                <a:cs typeface="Times New Roman" panose="02020603050405020304" pitchFamily="18" charset="0"/>
              </a:rPr>
              <a:t>of a data warehouse, focusing on a specific business area or department.</a:t>
            </a:r>
          </a:p>
          <a:p>
            <a:pPr marL="0" indent="0" algn="l" fontAlgn="base">
              <a:spcAft>
                <a:spcPts val="1800"/>
              </a:spcAft>
              <a:buNone/>
            </a:pPr>
            <a:r>
              <a:rPr lang="en-GB" sz="2000" b="1" i="0" dirty="0">
                <a:solidFill>
                  <a:srgbClr val="273239"/>
                </a:solidFill>
                <a:effectLst/>
                <a:latin typeface="Times New Roman" panose="02020603050405020304" pitchFamily="18" charset="0"/>
                <a:cs typeface="Times New Roman" panose="02020603050405020304" pitchFamily="18" charset="0"/>
              </a:rPr>
              <a:t>Cloud Data Warehouse</a:t>
            </a:r>
            <a:r>
              <a:rPr lang="en-GB" sz="2000" b="0" i="0" dirty="0">
                <a:solidFill>
                  <a:srgbClr val="273239"/>
                </a:solidFill>
                <a:effectLst/>
                <a:latin typeface="Times New Roman" panose="02020603050405020304" pitchFamily="18" charset="0"/>
                <a:cs typeface="Times New Roman" panose="02020603050405020304" pitchFamily="18" charset="0"/>
              </a:rPr>
              <a:t>: A data warehouse hosted in the cloud, offering scalability and flexibility.</a:t>
            </a:r>
          </a:p>
          <a:p>
            <a:pPr marL="0" indent="0" algn="l" fontAlgn="base">
              <a:spcAft>
                <a:spcPts val="1800"/>
              </a:spcAft>
              <a:buNone/>
            </a:pPr>
            <a:r>
              <a:rPr lang="en-GB" sz="2000" b="1" i="0" dirty="0">
                <a:solidFill>
                  <a:srgbClr val="273239"/>
                </a:solidFill>
                <a:effectLst/>
                <a:latin typeface="Times New Roman" panose="02020603050405020304" pitchFamily="18" charset="0"/>
                <a:cs typeface="Times New Roman" panose="02020603050405020304" pitchFamily="18" charset="0"/>
              </a:rPr>
              <a:t>Big Data Warehouse</a:t>
            </a:r>
            <a:r>
              <a:rPr lang="en-GB" sz="2000" b="0" i="0" dirty="0">
                <a:solidFill>
                  <a:srgbClr val="273239"/>
                </a:solidFill>
                <a:effectLst/>
                <a:latin typeface="Times New Roman" panose="02020603050405020304" pitchFamily="18" charset="0"/>
                <a:cs typeface="Times New Roman" panose="02020603050405020304" pitchFamily="18" charset="0"/>
              </a:rPr>
              <a:t>: Designed to store vast amounts of unstructured and structured data for big data analysis.</a:t>
            </a:r>
          </a:p>
          <a:p>
            <a:pPr marL="0" indent="0" algn="l" fontAlgn="base">
              <a:spcAft>
                <a:spcPts val="1800"/>
              </a:spcAft>
              <a:buNone/>
            </a:pPr>
            <a:r>
              <a:rPr lang="en-GB" sz="2000" b="1" i="0" dirty="0">
                <a:solidFill>
                  <a:srgbClr val="273239"/>
                </a:solidFill>
                <a:effectLst/>
                <a:latin typeface="Times New Roman" panose="02020603050405020304" pitchFamily="18" charset="0"/>
                <a:cs typeface="Times New Roman" panose="02020603050405020304" pitchFamily="18" charset="0"/>
              </a:rPr>
              <a:t>Virtual Data Warehouse</a:t>
            </a:r>
            <a:r>
              <a:rPr lang="en-GB" sz="2000" b="0" i="0" dirty="0">
                <a:solidFill>
                  <a:srgbClr val="273239"/>
                </a:solidFill>
                <a:effectLst/>
                <a:latin typeface="Times New Roman" panose="02020603050405020304" pitchFamily="18" charset="0"/>
                <a:cs typeface="Times New Roman" panose="02020603050405020304" pitchFamily="18" charset="0"/>
              </a:rPr>
              <a:t>: Provides access to data from multiple sources without physically storing it.</a:t>
            </a:r>
          </a:p>
          <a:p>
            <a:pPr marL="0" indent="0" algn="l" fontAlgn="base">
              <a:spcAft>
                <a:spcPts val="1800"/>
              </a:spcAft>
              <a:buNone/>
            </a:pPr>
            <a:r>
              <a:rPr lang="en-GB" sz="2000" b="1" i="0" dirty="0">
                <a:solidFill>
                  <a:srgbClr val="273239"/>
                </a:solidFill>
                <a:effectLst/>
                <a:latin typeface="Times New Roman" panose="02020603050405020304" pitchFamily="18" charset="0"/>
                <a:cs typeface="Times New Roman" panose="02020603050405020304" pitchFamily="18" charset="0"/>
              </a:rPr>
              <a:t>Hybrid Data Warehouse</a:t>
            </a:r>
            <a:r>
              <a:rPr lang="en-GB" sz="2000" b="0" i="0" dirty="0">
                <a:solidFill>
                  <a:srgbClr val="273239"/>
                </a:solidFill>
                <a:effectLst/>
                <a:latin typeface="Times New Roman" panose="02020603050405020304" pitchFamily="18" charset="0"/>
                <a:cs typeface="Times New Roman" panose="02020603050405020304" pitchFamily="18" charset="0"/>
              </a:rPr>
              <a:t>: Combines on-premises and cloud-based storage to offer flexibility.</a:t>
            </a:r>
          </a:p>
          <a:p>
            <a:pPr marL="0" indent="0" algn="l" fontAlgn="base">
              <a:spcAft>
                <a:spcPts val="1800"/>
              </a:spcAft>
              <a:buNone/>
            </a:pPr>
            <a:r>
              <a:rPr lang="en-GB" sz="2000" b="1" i="0" dirty="0">
                <a:solidFill>
                  <a:srgbClr val="273239"/>
                </a:solidFill>
                <a:effectLst/>
                <a:latin typeface="Times New Roman" panose="02020603050405020304" pitchFamily="18" charset="0"/>
                <a:cs typeface="Times New Roman" panose="02020603050405020304" pitchFamily="18" charset="0"/>
              </a:rPr>
              <a:t>Real-time Data Warehouse</a:t>
            </a:r>
            <a:r>
              <a:rPr lang="en-GB" sz="2000" b="0" i="0" dirty="0">
                <a:solidFill>
                  <a:srgbClr val="273239"/>
                </a:solidFill>
                <a:effectLst/>
                <a:latin typeface="Times New Roman" panose="02020603050405020304" pitchFamily="18" charset="0"/>
                <a:cs typeface="Times New Roman" panose="02020603050405020304" pitchFamily="18" charset="0"/>
              </a:rPr>
              <a:t>: Designed to handle real-time data streaming and analysis for immediate insights.</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3988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EA878-CB47-11E8-E892-79871E650F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FB5F7F-BB27-9141-A5CE-95D7C1DEE665}"/>
              </a:ext>
            </a:extLst>
          </p:cNvPr>
          <p:cNvSpPr>
            <a:spLocks noGrp="1"/>
          </p:cNvSpPr>
          <p:nvPr>
            <p:ph idx="1"/>
          </p:nvPr>
        </p:nvSpPr>
        <p:spPr>
          <a:xfrm>
            <a:off x="132080" y="152400"/>
            <a:ext cx="11927840" cy="6532880"/>
          </a:xfrm>
        </p:spPr>
        <p:txBody>
          <a:bodyPr>
            <a:normAutofit lnSpcReduction="10000"/>
          </a:bodyPr>
          <a:lstStyle/>
          <a:p>
            <a:pPr marL="0" indent="0" algn="l">
              <a:buNone/>
            </a:pPr>
            <a:r>
              <a:rPr lang="en-GB" sz="1800" b="1" i="0" dirty="0">
                <a:solidFill>
                  <a:srgbClr val="404040"/>
                </a:solidFill>
                <a:effectLst/>
                <a:latin typeface="Times New Roman" panose="02020603050405020304" pitchFamily="18" charset="0"/>
                <a:cs typeface="Times New Roman" panose="02020603050405020304" pitchFamily="18" charset="0"/>
              </a:rPr>
              <a:t>Benefits of Data Warehousing</a:t>
            </a:r>
          </a:p>
          <a:p>
            <a:pPr algn="l">
              <a:lnSpc>
                <a:spcPct val="110000"/>
              </a:lnSpc>
              <a:buFont typeface="+mj-lt"/>
              <a:buAutoNum type="arabicPeriod"/>
            </a:pPr>
            <a:r>
              <a:rPr lang="en-GB" sz="1800" b="1" i="0" dirty="0">
                <a:solidFill>
                  <a:srgbClr val="404040"/>
                </a:solidFill>
                <a:effectLst/>
                <a:latin typeface="Times New Roman" panose="02020603050405020304" pitchFamily="18" charset="0"/>
                <a:cs typeface="Times New Roman" panose="02020603050405020304" pitchFamily="18" charset="0"/>
              </a:rPr>
              <a:t>Improved Decision-Making</a:t>
            </a:r>
            <a:r>
              <a:rPr lang="en-GB" sz="1800" b="0" i="0" dirty="0">
                <a:solidFill>
                  <a:srgbClr val="404040"/>
                </a:solidFill>
                <a:effectLst/>
                <a:latin typeface="Times New Roman" panose="02020603050405020304" pitchFamily="18" charset="0"/>
                <a:cs typeface="Times New Roman" panose="02020603050405020304" pitchFamily="18" charset="0"/>
              </a:rPr>
              <a:t>:</a:t>
            </a:r>
            <a:br>
              <a:rPr lang="en-GB" sz="1800" b="0" i="0" dirty="0">
                <a:solidFill>
                  <a:srgbClr val="404040"/>
                </a:solidFill>
                <a:effectLst/>
                <a:latin typeface="Times New Roman" panose="02020603050405020304" pitchFamily="18" charset="0"/>
                <a:cs typeface="Times New Roman" panose="02020603050405020304" pitchFamily="18" charset="0"/>
              </a:rPr>
            </a:br>
            <a:r>
              <a:rPr lang="en-GB" sz="1800" b="0" i="0" dirty="0">
                <a:solidFill>
                  <a:srgbClr val="404040"/>
                </a:solidFill>
                <a:effectLst/>
                <a:latin typeface="Times New Roman" panose="02020603050405020304" pitchFamily="18" charset="0"/>
                <a:cs typeface="Times New Roman" panose="02020603050405020304" pitchFamily="18" charset="0"/>
              </a:rPr>
              <a:t>By providing a consolidated view of data, data warehouses enable better and faster decision-making.</a:t>
            </a:r>
          </a:p>
          <a:p>
            <a:pPr algn="l">
              <a:lnSpc>
                <a:spcPct val="110000"/>
              </a:lnSpc>
              <a:spcBef>
                <a:spcPts val="300"/>
              </a:spcBef>
              <a:buFont typeface="+mj-lt"/>
              <a:buAutoNum type="arabicPeriod"/>
            </a:pPr>
            <a:r>
              <a:rPr lang="en-GB" sz="1800" b="1" i="0" dirty="0">
                <a:solidFill>
                  <a:srgbClr val="404040"/>
                </a:solidFill>
                <a:effectLst/>
                <a:latin typeface="Times New Roman" panose="02020603050405020304" pitchFamily="18" charset="0"/>
                <a:cs typeface="Times New Roman" panose="02020603050405020304" pitchFamily="18" charset="0"/>
              </a:rPr>
              <a:t>Historical Intelligence</a:t>
            </a:r>
            <a:r>
              <a:rPr lang="en-GB" sz="1800" b="0" i="0" dirty="0">
                <a:solidFill>
                  <a:srgbClr val="404040"/>
                </a:solidFill>
                <a:effectLst/>
                <a:latin typeface="Times New Roman" panose="02020603050405020304" pitchFamily="18" charset="0"/>
                <a:cs typeface="Times New Roman" panose="02020603050405020304" pitchFamily="18" charset="0"/>
              </a:rPr>
              <a:t>:</a:t>
            </a:r>
            <a:br>
              <a:rPr lang="en-GB" sz="1800" b="0" i="0" dirty="0">
                <a:solidFill>
                  <a:srgbClr val="404040"/>
                </a:solidFill>
                <a:effectLst/>
                <a:latin typeface="Times New Roman" panose="02020603050405020304" pitchFamily="18" charset="0"/>
                <a:cs typeface="Times New Roman" panose="02020603050405020304" pitchFamily="18" charset="0"/>
              </a:rPr>
            </a:br>
            <a:r>
              <a:rPr lang="en-GB" sz="1800" b="0" i="0" dirty="0">
                <a:solidFill>
                  <a:srgbClr val="404040"/>
                </a:solidFill>
                <a:effectLst/>
                <a:latin typeface="Times New Roman" panose="02020603050405020304" pitchFamily="18" charset="0"/>
                <a:cs typeface="Times New Roman" panose="02020603050405020304" pitchFamily="18" charset="0"/>
              </a:rPr>
              <a:t>Data warehouses store historical data, allowing organizations to </a:t>
            </a:r>
            <a:r>
              <a:rPr lang="en-GB" sz="1800" b="0" i="0" dirty="0" err="1">
                <a:solidFill>
                  <a:srgbClr val="404040"/>
                </a:solidFill>
                <a:effectLst/>
                <a:latin typeface="Times New Roman" panose="02020603050405020304" pitchFamily="18" charset="0"/>
                <a:cs typeface="Times New Roman" panose="02020603050405020304" pitchFamily="18" charset="0"/>
              </a:rPr>
              <a:t>analyze</a:t>
            </a:r>
            <a:r>
              <a:rPr lang="en-GB" sz="1800" b="0" i="0" dirty="0">
                <a:solidFill>
                  <a:srgbClr val="404040"/>
                </a:solidFill>
                <a:effectLst/>
                <a:latin typeface="Times New Roman" panose="02020603050405020304" pitchFamily="18" charset="0"/>
                <a:cs typeface="Times New Roman" panose="02020603050405020304" pitchFamily="18" charset="0"/>
              </a:rPr>
              <a:t> trends and make informed predictions.</a:t>
            </a:r>
          </a:p>
          <a:p>
            <a:pPr algn="l">
              <a:lnSpc>
                <a:spcPct val="110000"/>
              </a:lnSpc>
              <a:spcBef>
                <a:spcPts val="300"/>
              </a:spcBef>
              <a:buFont typeface="+mj-lt"/>
              <a:buAutoNum type="arabicPeriod"/>
            </a:pPr>
            <a:r>
              <a:rPr lang="en-GB" sz="1800" b="1" i="0" dirty="0">
                <a:solidFill>
                  <a:srgbClr val="404040"/>
                </a:solidFill>
                <a:effectLst/>
                <a:latin typeface="Times New Roman" panose="02020603050405020304" pitchFamily="18" charset="0"/>
                <a:cs typeface="Times New Roman" panose="02020603050405020304" pitchFamily="18" charset="0"/>
              </a:rPr>
              <a:t>Data Consistency</a:t>
            </a:r>
            <a:r>
              <a:rPr lang="en-GB" sz="1800" b="0" i="0" dirty="0">
                <a:solidFill>
                  <a:srgbClr val="404040"/>
                </a:solidFill>
                <a:effectLst/>
                <a:latin typeface="Times New Roman" panose="02020603050405020304" pitchFamily="18" charset="0"/>
                <a:cs typeface="Times New Roman" panose="02020603050405020304" pitchFamily="18" charset="0"/>
              </a:rPr>
              <a:t>:</a:t>
            </a:r>
            <a:br>
              <a:rPr lang="en-GB" sz="1800" b="0" i="0" dirty="0">
                <a:solidFill>
                  <a:srgbClr val="404040"/>
                </a:solidFill>
                <a:effectLst/>
                <a:latin typeface="Times New Roman" panose="02020603050405020304" pitchFamily="18" charset="0"/>
                <a:cs typeface="Times New Roman" panose="02020603050405020304" pitchFamily="18" charset="0"/>
              </a:rPr>
            </a:br>
            <a:r>
              <a:rPr lang="en-GB" sz="1800" b="0" i="0" dirty="0">
                <a:solidFill>
                  <a:srgbClr val="404040"/>
                </a:solidFill>
                <a:effectLst/>
                <a:latin typeface="Times New Roman" panose="02020603050405020304" pitchFamily="18" charset="0"/>
                <a:cs typeface="Times New Roman" panose="02020603050405020304" pitchFamily="18" charset="0"/>
              </a:rPr>
              <a:t>Data from various sources is integrated and transformed into a consistent format, ensuring accuracy and reliability.</a:t>
            </a:r>
          </a:p>
          <a:p>
            <a:pPr algn="l">
              <a:lnSpc>
                <a:spcPct val="110000"/>
              </a:lnSpc>
              <a:spcBef>
                <a:spcPts val="300"/>
              </a:spcBef>
              <a:buFont typeface="+mj-lt"/>
              <a:buAutoNum type="arabicPeriod"/>
            </a:pPr>
            <a:r>
              <a:rPr lang="en-GB" sz="1800" b="1" i="0" dirty="0">
                <a:solidFill>
                  <a:srgbClr val="404040"/>
                </a:solidFill>
                <a:effectLst/>
                <a:latin typeface="Times New Roman" panose="02020603050405020304" pitchFamily="18" charset="0"/>
                <a:cs typeface="Times New Roman" panose="02020603050405020304" pitchFamily="18" charset="0"/>
              </a:rPr>
              <a:t>Enhanced Performance</a:t>
            </a:r>
            <a:r>
              <a:rPr lang="en-GB" sz="1800" b="0" i="0" dirty="0">
                <a:solidFill>
                  <a:srgbClr val="404040"/>
                </a:solidFill>
                <a:effectLst/>
                <a:latin typeface="Times New Roman" panose="02020603050405020304" pitchFamily="18" charset="0"/>
                <a:cs typeface="Times New Roman" panose="02020603050405020304" pitchFamily="18" charset="0"/>
              </a:rPr>
              <a:t>:</a:t>
            </a:r>
            <a:br>
              <a:rPr lang="en-GB" sz="1800" b="0" i="0" dirty="0">
                <a:solidFill>
                  <a:srgbClr val="404040"/>
                </a:solidFill>
                <a:effectLst/>
                <a:latin typeface="Times New Roman" panose="02020603050405020304" pitchFamily="18" charset="0"/>
                <a:cs typeface="Times New Roman" panose="02020603050405020304" pitchFamily="18" charset="0"/>
              </a:rPr>
            </a:br>
            <a:r>
              <a:rPr lang="en-GB" sz="1800" b="0" i="0" dirty="0">
                <a:solidFill>
                  <a:srgbClr val="404040"/>
                </a:solidFill>
                <a:effectLst/>
                <a:latin typeface="Times New Roman" panose="02020603050405020304" pitchFamily="18" charset="0"/>
                <a:cs typeface="Times New Roman" panose="02020603050405020304" pitchFamily="18" charset="0"/>
              </a:rPr>
              <a:t>Data warehouses are optimized for read-heavy operations, providing fast query performance and reducing the load on transactional systems.</a:t>
            </a:r>
          </a:p>
          <a:p>
            <a:pPr algn="l">
              <a:lnSpc>
                <a:spcPct val="110000"/>
              </a:lnSpc>
              <a:spcBef>
                <a:spcPts val="300"/>
              </a:spcBef>
              <a:buFont typeface="+mj-lt"/>
              <a:buAutoNum type="arabicPeriod"/>
            </a:pPr>
            <a:r>
              <a:rPr lang="en-GB" sz="1800" b="1" i="0" dirty="0">
                <a:solidFill>
                  <a:srgbClr val="404040"/>
                </a:solidFill>
                <a:effectLst/>
                <a:latin typeface="Times New Roman" panose="02020603050405020304" pitchFamily="18" charset="0"/>
                <a:cs typeface="Times New Roman" panose="02020603050405020304" pitchFamily="18" charset="0"/>
              </a:rPr>
              <a:t>Scalability</a:t>
            </a:r>
            <a:r>
              <a:rPr lang="en-GB" sz="1800" b="0" i="0" dirty="0">
                <a:solidFill>
                  <a:srgbClr val="404040"/>
                </a:solidFill>
                <a:effectLst/>
                <a:latin typeface="Times New Roman" panose="02020603050405020304" pitchFamily="18" charset="0"/>
                <a:cs typeface="Times New Roman" panose="02020603050405020304" pitchFamily="18" charset="0"/>
              </a:rPr>
              <a:t>:</a:t>
            </a:r>
            <a:br>
              <a:rPr lang="en-GB" sz="1800" b="0" i="0" dirty="0">
                <a:solidFill>
                  <a:srgbClr val="404040"/>
                </a:solidFill>
                <a:effectLst/>
                <a:latin typeface="Times New Roman" panose="02020603050405020304" pitchFamily="18" charset="0"/>
                <a:cs typeface="Times New Roman" panose="02020603050405020304" pitchFamily="18" charset="0"/>
              </a:rPr>
            </a:br>
            <a:r>
              <a:rPr lang="en-GB" sz="1800" b="0" i="0" dirty="0">
                <a:solidFill>
                  <a:srgbClr val="404040"/>
                </a:solidFill>
                <a:effectLst/>
                <a:latin typeface="Times New Roman" panose="02020603050405020304" pitchFamily="18" charset="0"/>
                <a:cs typeface="Times New Roman" panose="02020603050405020304" pitchFamily="18" charset="0"/>
              </a:rPr>
              <a:t>Data warehouses can handle large volumes of data and can be scaled to meet the growing needs of an organization.</a:t>
            </a:r>
          </a:p>
          <a:p>
            <a:pPr marL="0" indent="0" algn="l">
              <a:spcBef>
                <a:spcPts val="300"/>
              </a:spcBef>
              <a:buNone/>
            </a:pPr>
            <a:endParaRPr lang="en-GB" sz="1800" b="1" i="0" dirty="0">
              <a:solidFill>
                <a:srgbClr val="404040"/>
              </a:solidFill>
              <a:effectLst/>
              <a:latin typeface="Times New Roman" panose="02020603050405020304" pitchFamily="18" charset="0"/>
              <a:cs typeface="Times New Roman" panose="02020603050405020304" pitchFamily="18" charset="0"/>
            </a:endParaRPr>
          </a:p>
          <a:p>
            <a:pPr marL="0" indent="0" algn="l">
              <a:lnSpc>
                <a:spcPct val="150000"/>
              </a:lnSpc>
              <a:spcBef>
                <a:spcPts val="300"/>
              </a:spcBef>
              <a:buNone/>
            </a:pPr>
            <a:r>
              <a:rPr lang="en-GB" sz="1800" b="1" i="0" dirty="0">
                <a:solidFill>
                  <a:srgbClr val="404040"/>
                </a:solidFill>
                <a:effectLst/>
                <a:latin typeface="Times New Roman" panose="02020603050405020304" pitchFamily="18" charset="0"/>
                <a:cs typeface="Times New Roman" panose="02020603050405020304" pitchFamily="18" charset="0"/>
              </a:rPr>
              <a:t>Popular Data Warehousing Solutions</a:t>
            </a:r>
          </a:p>
          <a:p>
            <a:pPr marL="342900" indent="-342900" algn="l">
              <a:lnSpc>
                <a:spcPct val="150000"/>
              </a:lnSpc>
              <a:spcBef>
                <a:spcPts val="300"/>
              </a:spcBef>
              <a:buFont typeface="+mj-lt"/>
              <a:buAutoNum type="arabicPeriod"/>
            </a:pPr>
            <a:r>
              <a:rPr lang="en-GB" sz="1800" b="1" i="0" dirty="0">
                <a:solidFill>
                  <a:srgbClr val="404040"/>
                </a:solidFill>
                <a:effectLst/>
                <a:latin typeface="Times New Roman" panose="02020603050405020304" pitchFamily="18" charset="0"/>
                <a:cs typeface="Times New Roman" panose="02020603050405020304" pitchFamily="18" charset="0"/>
              </a:rPr>
              <a:t>Amazon Redshift: </a:t>
            </a:r>
            <a:r>
              <a:rPr lang="en-GB" sz="1800" b="0" i="0" dirty="0">
                <a:solidFill>
                  <a:srgbClr val="404040"/>
                </a:solidFill>
                <a:effectLst/>
                <a:latin typeface="Times New Roman" panose="02020603050405020304" pitchFamily="18" charset="0"/>
                <a:cs typeface="Times New Roman" panose="02020603050405020304" pitchFamily="18" charset="0"/>
              </a:rPr>
              <a:t>A fully managed data warehouse service provided by AWS.</a:t>
            </a:r>
          </a:p>
          <a:p>
            <a:pPr marL="342900" indent="-342900" algn="l">
              <a:lnSpc>
                <a:spcPct val="150000"/>
              </a:lnSpc>
              <a:spcBef>
                <a:spcPts val="300"/>
              </a:spcBef>
              <a:buFont typeface="+mj-lt"/>
              <a:buAutoNum type="arabicPeriod"/>
            </a:pPr>
            <a:r>
              <a:rPr lang="en-GB" sz="1800" b="1" i="0" dirty="0">
                <a:solidFill>
                  <a:srgbClr val="404040"/>
                </a:solidFill>
                <a:effectLst/>
                <a:latin typeface="Times New Roman" panose="02020603050405020304" pitchFamily="18" charset="0"/>
                <a:cs typeface="Times New Roman" panose="02020603050405020304" pitchFamily="18" charset="0"/>
              </a:rPr>
              <a:t>Google BigQuery: </a:t>
            </a:r>
            <a:r>
              <a:rPr lang="en-GB" sz="1800" b="0" i="0" dirty="0">
                <a:solidFill>
                  <a:srgbClr val="404040"/>
                </a:solidFill>
                <a:effectLst/>
                <a:latin typeface="Times New Roman" panose="02020603050405020304" pitchFamily="18" charset="0"/>
                <a:cs typeface="Times New Roman" panose="02020603050405020304" pitchFamily="18" charset="0"/>
              </a:rPr>
              <a:t>A serverless, highly scalable, and cost-effective multi-cloud data warehouse.</a:t>
            </a:r>
          </a:p>
          <a:p>
            <a:pPr marL="342900" indent="-342900" algn="l">
              <a:lnSpc>
                <a:spcPct val="150000"/>
              </a:lnSpc>
              <a:spcBef>
                <a:spcPts val="300"/>
              </a:spcBef>
              <a:buFont typeface="+mj-lt"/>
              <a:buAutoNum type="arabicPeriod"/>
            </a:pPr>
            <a:r>
              <a:rPr lang="en-GB" sz="1800" b="1" i="0" dirty="0">
                <a:solidFill>
                  <a:srgbClr val="404040"/>
                </a:solidFill>
                <a:effectLst/>
                <a:latin typeface="Times New Roman" panose="02020603050405020304" pitchFamily="18" charset="0"/>
                <a:cs typeface="Times New Roman" panose="02020603050405020304" pitchFamily="18" charset="0"/>
              </a:rPr>
              <a:t>Snowflake</a:t>
            </a:r>
            <a:r>
              <a:rPr lang="en-GB" sz="1800" b="0" i="0" dirty="0">
                <a:solidFill>
                  <a:srgbClr val="404040"/>
                </a:solidFill>
                <a:effectLst/>
                <a:latin typeface="Times New Roman" panose="02020603050405020304" pitchFamily="18" charset="0"/>
                <a:cs typeface="Times New Roman" panose="02020603050405020304" pitchFamily="18" charset="0"/>
              </a:rPr>
              <a:t>: A cloud-based data warehousing solution known for its performance and scalability.</a:t>
            </a:r>
          </a:p>
          <a:p>
            <a:pPr marL="342900" indent="-342900" algn="l">
              <a:lnSpc>
                <a:spcPct val="150000"/>
              </a:lnSpc>
              <a:spcBef>
                <a:spcPts val="300"/>
              </a:spcBef>
              <a:buFont typeface="+mj-lt"/>
              <a:buAutoNum type="arabicPeriod"/>
            </a:pPr>
            <a:r>
              <a:rPr lang="en-GB" sz="1800" b="1" i="0" dirty="0">
                <a:solidFill>
                  <a:srgbClr val="404040"/>
                </a:solidFill>
                <a:effectLst/>
                <a:latin typeface="Times New Roman" panose="02020603050405020304" pitchFamily="18" charset="0"/>
                <a:cs typeface="Times New Roman" panose="02020603050405020304" pitchFamily="18" charset="0"/>
              </a:rPr>
              <a:t>Microsoft Azure Synapse Analytics:</a:t>
            </a:r>
            <a:r>
              <a:rPr lang="en-GB" sz="1800" b="0" i="0" dirty="0">
                <a:solidFill>
                  <a:srgbClr val="404040"/>
                </a:solidFill>
                <a:effectLst/>
                <a:latin typeface="Times New Roman" panose="02020603050405020304" pitchFamily="18" charset="0"/>
                <a:cs typeface="Times New Roman" panose="02020603050405020304" pitchFamily="18" charset="0"/>
              </a:rPr>
              <a:t> An analytics service that brings together big data and data warehousing.</a:t>
            </a:r>
          </a:p>
          <a:p>
            <a:pPr marL="342900" indent="-342900" algn="l">
              <a:lnSpc>
                <a:spcPct val="150000"/>
              </a:lnSpc>
              <a:spcBef>
                <a:spcPts val="300"/>
              </a:spcBef>
              <a:buFont typeface="+mj-lt"/>
              <a:buAutoNum type="arabicPeriod"/>
            </a:pPr>
            <a:r>
              <a:rPr lang="en-GB" sz="1800" b="1" i="0" dirty="0">
                <a:solidFill>
                  <a:srgbClr val="404040"/>
                </a:solidFill>
                <a:effectLst/>
                <a:latin typeface="Times New Roman" panose="02020603050405020304" pitchFamily="18" charset="0"/>
                <a:cs typeface="Times New Roman" panose="02020603050405020304" pitchFamily="18" charset="0"/>
              </a:rPr>
              <a:t>Oracle Exadata: </a:t>
            </a:r>
            <a:r>
              <a:rPr lang="en-GB" sz="1800" b="0" i="0" dirty="0">
                <a:solidFill>
                  <a:srgbClr val="404040"/>
                </a:solidFill>
                <a:effectLst/>
                <a:latin typeface="Times New Roman" panose="02020603050405020304" pitchFamily="18" charset="0"/>
                <a:cs typeface="Times New Roman" panose="02020603050405020304" pitchFamily="18" charset="0"/>
              </a:rPr>
              <a:t>A high-performance database machine optimized for running Oracle databases.</a:t>
            </a:r>
          </a:p>
        </p:txBody>
      </p:sp>
    </p:spTree>
    <p:extLst>
      <p:ext uri="{BB962C8B-B14F-4D97-AF65-F5344CB8AC3E}">
        <p14:creationId xmlns:p14="http://schemas.microsoft.com/office/powerpoint/2010/main" val="29089948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51F39-54AE-A38D-EA9D-A12BE8651673}"/>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4C877DBC-BF13-A962-05F1-F3A6ED5F6DD8}"/>
              </a:ext>
            </a:extLst>
          </p:cNvPr>
          <p:cNvSpPr>
            <a:spLocks noChangeArrowheads="1"/>
          </p:cNvSpPr>
          <p:nvPr/>
        </p:nvSpPr>
        <p:spPr bwMode="auto">
          <a:xfrm>
            <a:off x="81280" y="235784"/>
            <a:ext cx="2969403"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Data Warehouse vs DBMS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04E9D25D-B0C9-96B5-0E31-866209329EF5}"/>
              </a:ext>
            </a:extLst>
          </p:cNvPr>
          <p:cNvGraphicFramePr>
            <a:graphicFrameLocks noGrp="1"/>
          </p:cNvGraphicFramePr>
          <p:nvPr>
            <p:extLst>
              <p:ext uri="{D42A27DB-BD31-4B8C-83A1-F6EECF244321}">
                <p14:modId xmlns:p14="http://schemas.microsoft.com/office/powerpoint/2010/main" val="1369522318"/>
              </p:ext>
            </p:extLst>
          </p:nvPr>
        </p:nvGraphicFramePr>
        <p:xfrm>
          <a:off x="264160" y="1258146"/>
          <a:ext cx="11775440" cy="4399280"/>
        </p:xfrm>
        <a:graphic>
          <a:graphicData uri="http://schemas.openxmlformats.org/drawingml/2006/table">
            <a:tbl>
              <a:tblPr firstRow="1" bandRow="1">
                <a:tableStyleId>{5C22544A-7EE6-4342-B048-85BDC9FD1C3A}</a:tableStyleId>
              </a:tblPr>
              <a:tblGrid>
                <a:gridCol w="5887720">
                  <a:extLst>
                    <a:ext uri="{9D8B030D-6E8A-4147-A177-3AD203B41FA5}">
                      <a16:colId xmlns:a16="http://schemas.microsoft.com/office/drawing/2014/main" val="2704505252"/>
                    </a:ext>
                  </a:extLst>
                </a:gridCol>
                <a:gridCol w="5887720">
                  <a:extLst>
                    <a:ext uri="{9D8B030D-6E8A-4147-A177-3AD203B41FA5}">
                      <a16:colId xmlns:a16="http://schemas.microsoft.com/office/drawing/2014/main" val="104073342"/>
                    </a:ext>
                  </a:extLst>
                </a:gridCol>
              </a:tblGrid>
              <a:tr h="370840">
                <a:tc>
                  <a:txBody>
                    <a:bodyPr/>
                    <a:lstStyle/>
                    <a:p>
                      <a:pPr algn="ctr" rtl="0" fontAlgn="base">
                        <a:spcAft>
                          <a:spcPts val="750"/>
                        </a:spcAft>
                      </a:pPr>
                      <a:r>
                        <a:rPr lang="en-US" sz="1800" b="1" dirty="0">
                          <a:effectLst/>
                          <a:latin typeface="Times New Roman" panose="02020603050405020304" pitchFamily="18" charset="0"/>
                          <a:cs typeface="Times New Roman" panose="02020603050405020304" pitchFamily="18" charset="0"/>
                        </a:rPr>
                        <a:t>Database</a:t>
                      </a:r>
                    </a:p>
                  </a:txBody>
                  <a:tcPr marL="38100" marR="38100" marT="76200" marB="76200" anchor="ctr"/>
                </a:tc>
                <a:tc>
                  <a:txBody>
                    <a:bodyPr/>
                    <a:lstStyle/>
                    <a:p>
                      <a:pPr algn="ctr" rtl="0" fontAlgn="base">
                        <a:spcAft>
                          <a:spcPts val="750"/>
                        </a:spcAft>
                      </a:pPr>
                      <a:r>
                        <a:rPr lang="en-US" sz="1800" b="1" dirty="0">
                          <a:effectLst/>
                          <a:latin typeface="Times New Roman" panose="02020603050405020304" pitchFamily="18" charset="0"/>
                          <a:cs typeface="Times New Roman" panose="02020603050405020304" pitchFamily="18" charset="0"/>
                        </a:rPr>
                        <a:t>Data Warehouse</a:t>
                      </a:r>
                    </a:p>
                  </a:txBody>
                  <a:tcPr marL="76200" marR="76200" marT="76200" marB="76200" anchor="ctr"/>
                </a:tc>
                <a:extLst>
                  <a:ext uri="{0D108BD9-81ED-4DB2-BD59-A6C34878D82A}">
                    <a16:rowId xmlns:a16="http://schemas.microsoft.com/office/drawing/2014/main" val="4007692089"/>
                  </a:ext>
                </a:extLst>
              </a:tr>
              <a:tr h="370840">
                <a:tc>
                  <a:txBody>
                    <a:bodyPr/>
                    <a:lstStyle/>
                    <a:p>
                      <a:pPr algn="just" rtl="0" fontAlgn="base">
                        <a:spcAft>
                          <a:spcPts val="750"/>
                        </a:spcAft>
                      </a:pPr>
                      <a:r>
                        <a:rPr lang="en-GB" sz="1800" b="0" dirty="0">
                          <a:effectLst/>
                          <a:latin typeface="Times New Roman" panose="02020603050405020304" pitchFamily="18" charset="0"/>
                          <a:cs typeface="Times New Roman" panose="02020603050405020304" pitchFamily="18" charset="0"/>
                        </a:rPr>
                        <a:t>A common Database is based on operational or transactional processing. Each operation is an indivisible transaction.</a:t>
                      </a:r>
                    </a:p>
                  </a:txBody>
                  <a:tcPr marL="76200" marR="76200" marT="106680" marB="106680" anchor="ctr"/>
                </a:tc>
                <a:tc>
                  <a:txBody>
                    <a:bodyPr/>
                    <a:lstStyle/>
                    <a:p>
                      <a:pPr algn="just" rtl="0" fontAlgn="base">
                        <a:spcAft>
                          <a:spcPts val="750"/>
                        </a:spcAft>
                      </a:pPr>
                      <a:r>
                        <a:rPr lang="en-GB" sz="1800" b="0" dirty="0">
                          <a:effectLst/>
                          <a:latin typeface="Times New Roman" panose="02020603050405020304" pitchFamily="18" charset="0"/>
                          <a:cs typeface="Times New Roman" panose="02020603050405020304" pitchFamily="18" charset="0"/>
                        </a:rPr>
                        <a:t>A data Warehouse is based on analytical processing.</a:t>
                      </a:r>
                    </a:p>
                  </a:txBody>
                  <a:tcPr marL="76200" marR="76200" marT="106680" marB="106680" anchor="ctr"/>
                </a:tc>
                <a:extLst>
                  <a:ext uri="{0D108BD9-81ED-4DB2-BD59-A6C34878D82A}">
                    <a16:rowId xmlns:a16="http://schemas.microsoft.com/office/drawing/2014/main" val="104692036"/>
                  </a:ext>
                </a:extLst>
              </a:tr>
              <a:tr h="370840">
                <a:tc>
                  <a:txBody>
                    <a:bodyPr/>
                    <a:lstStyle/>
                    <a:p>
                      <a:pPr algn="just" rtl="0" fontAlgn="base">
                        <a:spcAft>
                          <a:spcPts val="750"/>
                        </a:spcAft>
                      </a:pPr>
                      <a:r>
                        <a:rPr lang="en-GB" sz="1800" b="0" dirty="0">
                          <a:effectLst/>
                          <a:latin typeface="Times New Roman" panose="02020603050405020304" pitchFamily="18" charset="0"/>
                          <a:cs typeface="Times New Roman" panose="02020603050405020304" pitchFamily="18" charset="0"/>
                        </a:rPr>
                        <a:t>Generally, a Database stores current and up-to-date data which is used for daily operations.</a:t>
                      </a:r>
                    </a:p>
                  </a:txBody>
                  <a:tcPr marL="76200" marR="76200" marT="106680" marB="106680" anchor="ctr"/>
                </a:tc>
                <a:tc>
                  <a:txBody>
                    <a:bodyPr/>
                    <a:lstStyle/>
                    <a:p>
                      <a:pPr algn="just" rtl="0" fontAlgn="base">
                        <a:spcAft>
                          <a:spcPts val="750"/>
                        </a:spcAft>
                      </a:pPr>
                      <a:r>
                        <a:rPr lang="en-GB" sz="1800" b="0">
                          <a:effectLst/>
                          <a:latin typeface="Times New Roman" panose="02020603050405020304" pitchFamily="18" charset="0"/>
                          <a:cs typeface="Times New Roman" panose="02020603050405020304" pitchFamily="18" charset="0"/>
                        </a:rPr>
                        <a:t>A Data Warehouse maintains historical data over time. Historical data is the data kept over years and can used for trend analysis, make future predictions and decision support.</a:t>
                      </a:r>
                    </a:p>
                  </a:txBody>
                  <a:tcPr marL="76200" marR="76200" marT="106680" marB="106680" anchor="ctr"/>
                </a:tc>
                <a:extLst>
                  <a:ext uri="{0D108BD9-81ED-4DB2-BD59-A6C34878D82A}">
                    <a16:rowId xmlns:a16="http://schemas.microsoft.com/office/drawing/2014/main" val="2842564984"/>
                  </a:ext>
                </a:extLst>
              </a:tr>
              <a:tr h="370840">
                <a:tc>
                  <a:txBody>
                    <a:bodyPr/>
                    <a:lstStyle/>
                    <a:p>
                      <a:pPr algn="just" rtl="0" fontAlgn="base">
                        <a:spcAft>
                          <a:spcPts val="750"/>
                        </a:spcAft>
                      </a:pPr>
                      <a:r>
                        <a:rPr lang="en-GB" sz="1800" b="0" dirty="0">
                          <a:effectLst/>
                          <a:latin typeface="Times New Roman" panose="02020603050405020304" pitchFamily="18" charset="0"/>
                          <a:cs typeface="Times New Roman" panose="02020603050405020304" pitchFamily="18" charset="0"/>
                        </a:rPr>
                        <a:t>A database is generally application specific.</a:t>
                      </a:r>
                    </a:p>
                    <a:p>
                      <a:pPr algn="just" rtl="0" fontAlgn="base">
                        <a:spcAft>
                          <a:spcPts val="750"/>
                        </a:spcAft>
                      </a:pPr>
                      <a:r>
                        <a:rPr lang="en-GB" sz="1800" b="1" dirty="0">
                          <a:effectLst/>
                          <a:latin typeface="Times New Roman" panose="02020603050405020304" pitchFamily="18" charset="0"/>
                          <a:cs typeface="Times New Roman" panose="02020603050405020304" pitchFamily="18" charset="0"/>
                        </a:rPr>
                        <a:t>Example – </a:t>
                      </a:r>
                      <a:r>
                        <a:rPr lang="en-GB" sz="1800" b="0" dirty="0">
                          <a:effectLst/>
                          <a:latin typeface="Times New Roman" panose="02020603050405020304" pitchFamily="18" charset="0"/>
                          <a:cs typeface="Times New Roman" panose="02020603050405020304" pitchFamily="18" charset="0"/>
                        </a:rPr>
                        <a:t>A </a:t>
                      </a:r>
                      <a:r>
                        <a:rPr lang="en-GB" sz="1800" b="0" u="sng" dirty="0">
                          <a:effectLst/>
                          <a:latin typeface="Times New Roman" panose="02020603050405020304" pitchFamily="18" charset="0"/>
                          <a:cs typeface="Times New Roman" panose="02020603050405020304" pitchFamily="18" charset="0"/>
                          <a:hlinkClick r:id="rId2"/>
                        </a:rPr>
                        <a:t>database</a:t>
                      </a:r>
                      <a:r>
                        <a:rPr lang="en-GB" sz="1800" b="0" dirty="0">
                          <a:effectLst/>
                          <a:latin typeface="Times New Roman" panose="02020603050405020304" pitchFamily="18" charset="0"/>
                          <a:cs typeface="Times New Roman" panose="02020603050405020304" pitchFamily="18" charset="0"/>
                        </a:rPr>
                        <a:t> stores related data, such as the student details in a school.</a:t>
                      </a:r>
                    </a:p>
                  </a:txBody>
                  <a:tcPr marL="76200" marR="76200" marT="106680" marB="106680" anchor="ctr"/>
                </a:tc>
                <a:tc>
                  <a:txBody>
                    <a:bodyPr/>
                    <a:lstStyle/>
                    <a:p>
                      <a:pPr algn="just" rtl="0" fontAlgn="base">
                        <a:spcAft>
                          <a:spcPts val="750"/>
                        </a:spcAft>
                      </a:pPr>
                      <a:r>
                        <a:rPr lang="en-GB" sz="1800" b="0">
                          <a:effectLst/>
                          <a:latin typeface="Times New Roman" panose="02020603050405020304" pitchFamily="18" charset="0"/>
                          <a:cs typeface="Times New Roman" panose="02020603050405020304" pitchFamily="18" charset="0"/>
                        </a:rPr>
                        <a:t>A Data Warehouse is integrated generally at the organization level, by combining data from different databases.</a:t>
                      </a:r>
                    </a:p>
                    <a:p>
                      <a:pPr algn="just" rtl="0" fontAlgn="base">
                        <a:spcAft>
                          <a:spcPts val="750"/>
                        </a:spcAft>
                      </a:pPr>
                      <a:r>
                        <a:rPr lang="en-GB" sz="1800" b="1">
                          <a:effectLst/>
                          <a:latin typeface="Times New Roman" panose="02020603050405020304" pitchFamily="18" charset="0"/>
                          <a:cs typeface="Times New Roman" panose="02020603050405020304" pitchFamily="18" charset="0"/>
                        </a:rPr>
                        <a:t>Example – </a:t>
                      </a:r>
                      <a:r>
                        <a:rPr lang="en-GB" sz="1800" b="0">
                          <a:effectLst/>
                          <a:latin typeface="Times New Roman" panose="02020603050405020304" pitchFamily="18" charset="0"/>
                          <a:cs typeface="Times New Roman" panose="02020603050405020304" pitchFamily="18" charset="0"/>
                        </a:rPr>
                        <a:t>A data warehouse integrates the data from one or more databases , so that analysis can be done to get results , such as the best performing school in a city.</a:t>
                      </a:r>
                    </a:p>
                  </a:txBody>
                  <a:tcPr marL="76200" marR="76200" marT="106680" marB="106680" anchor="ctr"/>
                </a:tc>
                <a:extLst>
                  <a:ext uri="{0D108BD9-81ED-4DB2-BD59-A6C34878D82A}">
                    <a16:rowId xmlns:a16="http://schemas.microsoft.com/office/drawing/2014/main" val="3595018865"/>
                  </a:ext>
                </a:extLst>
              </a:tr>
              <a:tr h="370840">
                <a:tc>
                  <a:txBody>
                    <a:bodyPr/>
                    <a:lstStyle/>
                    <a:p>
                      <a:pPr algn="just" rtl="0" fontAlgn="base">
                        <a:spcAft>
                          <a:spcPts val="750"/>
                        </a:spcAft>
                      </a:pPr>
                      <a:r>
                        <a:rPr lang="en-GB" sz="1800" b="0">
                          <a:effectLst/>
                          <a:latin typeface="Times New Roman" panose="02020603050405020304" pitchFamily="18" charset="0"/>
                          <a:cs typeface="Times New Roman" panose="02020603050405020304" pitchFamily="18" charset="0"/>
                        </a:rPr>
                        <a:t>Constructing a Database is not so expensive.</a:t>
                      </a:r>
                    </a:p>
                  </a:txBody>
                  <a:tcPr marL="76200" marR="76200" marT="106680" marB="106680" anchor="ctr"/>
                </a:tc>
                <a:tc>
                  <a:txBody>
                    <a:bodyPr/>
                    <a:lstStyle/>
                    <a:p>
                      <a:pPr algn="just" rtl="0" fontAlgn="base">
                        <a:spcAft>
                          <a:spcPts val="750"/>
                        </a:spcAft>
                      </a:pPr>
                      <a:r>
                        <a:rPr lang="en-GB" sz="1800" b="0" dirty="0">
                          <a:effectLst/>
                          <a:latin typeface="Times New Roman" panose="02020603050405020304" pitchFamily="18" charset="0"/>
                          <a:cs typeface="Times New Roman" panose="02020603050405020304" pitchFamily="18" charset="0"/>
                        </a:rPr>
                        <a:t>Constructing a Data Warehouse can be expensive.</a:t>
                      </a:r>
                    </a:p>
                  </a:txBody>
                  <a:tcPr marL="76200" marR="76200" marT="106680" marB="106680" anchor="ctr"/>
                </a:tc>
                <a:extLst>
                  <a:ext uri="{0D108BD9-81ED-4DB2-BD59-A6C34878D82A}">
                    <a16:rowId xmlns:a16="http://schemas.microsoft.com/office/drawing/2014/main" val="1299879172"/>
                  </a:ext>
                </a:extLst>
              </a:tr>
            </a:tbl>
          </a:graphicData>
        </a:graphic>
      </p:graphicFrame>
    </p:spTree>
    <p:extLst>
      <p:ext uri="{BB962C8B-B14F-4D97-AF65-F5344CB8AC3E}">
        <p14:creationId xmlns:p14="http://schemas.microsoft.com/office/powerpoint/2010/main" val="25441539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75917-A9E5-0D32-635C-6EE9275ADFD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3F4644-CC3C-F43C-479A-25514FC0AA6A}"/>
              </a:ext>
            </a:extLst>
          </p:cNvPr>
          <p:cNvSpPr>
            <a:spLocks noGrp="1"/>
          </p:cNvSpPr>
          <p:nvPr>
            <p:ph idx="1"/>
          </p:nvPr>
        </p:nvSpPr>
        <p:spPr>
          <a:xfrm>
            <a:off x="132080" y="152400"/>
            <a:ext cx="11927840" cy="6532880"/>
          </a:xfrm>
        </p:spPr>
        <p:txBody>
          <a:bodyPr>
            <a:noAutofit/>
          </a:bodyPr>
          <a:lstStyle/>
          <a:p>
            <a:pPr marL="0" indent="0" algn="just">
              <a:buNone/>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Basic Statistical descriptions of Data.</a:t>
            </a:r>
            <a:endParaRPr lang="en-US" sz="1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fontAlgn="base">
              <a:buNone/>
            </a:pPr>
            <a:r>
              <a:rPr lang="en-GB" sz="1800" b="1" i="0" dirty="0">
                <a:solidFill>
                  <a:srgbClr val="273239"/>
                </a:solidFill>
                <a:effectLst/>
                <a:latin typeface="Times New Roman" panose="02020603050405020304" pitchFamily="18" charset="0"/>
                <a:cs typeface="Times New Roman" panose="02020603050405020304" pitchFamily="18" charset="0"/>
              </a:rPr>
              <a:t>Statistics</a:t>
            </a:r>
          </a:p>
          <a:p>
            <a:pPr algn="just" rtl="0" fontAlgn="base">
              <a:spcAft>
                <a:spcPts val="750"/>
              </a:spcAft>
            </a:pPr>
            <a:r>
              <a:rPr lang="en-GB" sz="1800" b="0" i="0" dirty="0">
                <a:solidFill>
                  <a:srgbClr val="273239"/>
                </a:solidFill>
                <a:effectLst/>
                <a:latin typeface="Times New Roman" panose="02020603050405020304" pitchFamily="18" charset="0"/>
                <a:cs typeface="Times New Roman" panose="02020603050405020304" pitchFamily="18" charset="0"/>
              </a:rPr>
              <a:t>Statistics is the branch of mathematics that deals with </a:t>
            </a:r>
            <a:r>
              <a:rPr lang="en-GB" sz="1800" b="1" i="0" dirty="0">
                <a:solidFill>
                  <a:srgbClr val="273239"/>
                </a:solidFill>
                <a:effectLst/>
                <a:latin typeface="Times New Roman" panose="02020603050405020304" pitchFamily="18" charset="0"/>
                <a:cs typeface="Times New Roman" panose="02020603050405020304" pitchFamily="18" charset="0"/>
              </a:rPr>
              <a:t>collecting, </a:t>
            </a:r>
            <a:r>
              <a:rPr lang="en-GB" sz="1800" b="1" i="0" dirty="0" err="1">
                <a:solidFill>
                  <a:srgbClr val="273239"/>
                </a:solidFill>
                <a:effectLst/>
                <a:latin typeface="Times New Roman" panose="02020603050405020304" pitchFamily="18" charset="0"/>
                <a:cs typeface="Times New Roman" panose="02020603050405020304" pitchFamily="18" charset="0"/>
              </a:rPr>
              <a:t>analyzing</a:t>
            </a:r>
            <a:r>
              <a:rPr lang="en-GB" sz="1800" b="1" i="0" dirty="0">
                <a:solidFill>
                  <a:srgbClr val="273239"/>
                </a:solidFill>
                <a:effectLst/>
                <a:latin typeface="Times New Roman" panose="02020603050405020304" pitchFamily="18" charset="0"/>
                <a:cs typeface="Times New Roman" panose="02020603050405020304" pitchFamily="18" charset="0"/>
              </a:rPr>
              <a:t>, interpreting, presenting, and organizing</a:t>
            </a:r>
            <a:r>
              <a:rPr lang="en-GB" sz="1800" b="0" i="0" dirty="0">
                <a:solidFill>
                  <a:srgbClr val="273239"/>
                </a:solidFill>
                <a:effectLst/>
                <a:latin typeface="Times New Roman" panose="02020603050405020304" pitchFamily="18" charset="0"/>
                <a:cs typeface="Times New Roman" panose="02020603050405020304" pitchFamily="18" charset="0"/>
              </a:rPr>
              <a:t> data. </a:t>
            </a:r>
          </a:p>
          <a:p>
            <a:pPr algn="just" rtl="0" fontAlgn="base">
              <a:spcAft>
                <a:spcPts val="750"/>
              </a:spcAft>
            </a:pPr>
            <a:r>
              <a:rPr lang="en-GB" sz="1800" b="0" i="0" dirty="0">
                <a:solidFill>
                  <a:srgbClr val="273239"/>
                </a:solidFill>
                <a:effectLst/>
                <a:latin typeface="Times New Roman" panose="02020603050405020304" pitchFamily="18" charset="0"/>
                <a:cs typeface="Times New Roman" panose="02020603050405020304" pitchFamily="18" charset="0"/>
              </a:rPr>
              <a:t>It involves the study of methods for gathering, summarizing, and interpreting data to make informed decisions and draw meaningful conclusions.</a:t>
            </a:r>
          </a:p>
          <a:p>
            <a:pPr algn="just" rtl="0" fontAlgn="base">
              <a:spcAft>
                <a:spcPts val="750"/>
              </a:spcAft>
            </a:pPr>
            <a:r>
              <a:rPr lang="en-GB" sz="1800" b="0" i="0" dirty="0">
                <a:solidFill>
                  <a:srgbClr val="273239"/>
                </a:solidFill>
                <a:effectLst/>
                <a:latin typeface="Times New Roman" panose="02020603050405020304" pitchFamily="18" charset="0"/>
                <a:cs typeface="Times New Roman" panose="02020603050405020304" pitchFamily="18" charset="0"/>
              </a:rPr>
              <a:t>Statistics is widely used in various fields such as science, economics, social sciences, business, and engineering to provide insights, make predictions, and guide decision-making processes.</a:t>
            </a:r>
          </a:p>
          <a:p>
            <a:pPr marL="0" indent="0" algn="just" rtl="0" fontAlgn="base">
              <a:spcAft>
                <a:spcPts val="750"/>
              </a:spcAft>
              <a:buNone/>
            </a:pPr>
            <a:r>
              <a:rPr lang="en-GB" sz="1800" b="1" dirty="0">
                <a:solidFill>
                  <a:srgbClr val="273239"/>
                </a:solidFill>
                <a:latin typeface="Times New Roman" panose="02020603050405020304" pitchFamily="18" charset="0"/>
                <a:cs typeface="Times New Roman" panose="02020603050405020304" pitchFamily="18" charset="0"/>
              </a:rPr>
              <a:t>Types of Statistics</a:t>
            </a:r>
          </a:p>
          <a:p>
            <a:pPr marL="0" indent="0" algn="just" rtl="0" fontAlgn="base">
              <a:spcAft>
                <a:spcPts val="750"/>
              </a:spcAft>
              <a:buNone/>
            </a:pPr>
            <a:r>
              <a:rPr lang="en-GB" sz="1800" b="1" dirty="0">
                <a:solidFill>
                  <a:srgbClr val="273239"/>
                </a:solidFill>
                <a:latin typeface="Times New Roman" panose="02020603050405020304" pitchFamily="18" charset="0"/>
                <a:cs typeface="Times New Roman" panose="02020603050405020304" pitchFamily="18" charset="0"/>
              </a:rPr>
              <a:t>There are commonly two types of statistics</a:t>
            </a:r>
          </a:p>
          <a:p>
            <a:pPr marL="0" indent="0" algn="just" rtl="0" fontAlgn="base">
              <a:spcAft>
                <a:spcPts val="750"/>
              </a:spcAft>
              <a:buNone/>
            </a:pPr>
            <a:r>
              <a:rPr lang="en-GB" sz="1800" b="1" dirty="0">
                <a:solidFill>
                  <a:srgbClr val="273239"/>
                </a:solidFill>
                <a:latin typeface="Times New Roman" panose="02020603050405020304" pitchFamily="18" charset="0"/>
                <a:cs typeface="Times New Roman" panose="02020603050405020304" pitchFamily="18" charset="0"/>
              </a:rPr>
              <a:t>Descriptive Statistics: </a:t>
            </a:r>
          </a:p>
          <a:p>
            <a:pPr algn="just" fontAlgn="base">
              <a:spcAft>
                <a:spcPts val="750"/>
              </a:spcAft>
            </a:pPr>
            <a:r>
              <a:rPr lang="en-GB" sz="1800" dirty="0">
                <a:solidFill>
                  <a:srgbClr val="273239"/>
                </a:solidFill>
                <a:latin typeface="Times New Roman" panose="02020603050405020304" pitchFamily="18" charset="0"/>
                <a:cs typeface="Times New Roman" panose="02020603050405020304" pitchFamily="18" charset="0"/>
              </a:rPr>
              <a:t>De­scriptive Statistics helps us simplify and organize big chunks of data. </a:t>
            </a:r>
          </a:p>
          <a:p>
            <a:pPr algn="just" fontAlgn="base">
              <a:spcAft>
                <a:spcPts val="750"/>
              </a:spcAft>
            </a:pPr>
            <a:r>
              <a:rPr lang="en-GB" sz="1800" dirty="0">
                <a:solidFill>
                  <a:srgbClr val="273239"/>
                </a:solidFill>
                <a:latin typeface="Times New Roman" panose="02020603050405020304" pitchFamily="18" charset="0"/>
                <a:cs typeface="Times New Roman" panose="02020603050405020304" pitchFamily="18" charset="0"/>
              </a:rPr>
              <a:t>This makes large amounts of data easier to understand.</a:t>
            </a:r>
          </a:p>
          <a:p>
            <a:pPr marL="0" indent="0" algn="just" rtl="0" fontAlgn="base">
              <a:spcAft>
                <a:spcPts val="750"/>
              </a:spcAft>
              <a:buNone/>
            </a:pPr>
            <a:r>
              <a:rPr lang="en-GB" sz="1800" b="1" dirty="0">
                <a:solidFill>
                  <a:srgbClr val="273239"/>
                </a:solidFill>
                <a:latin typeface="Times New Roman" panose="02020603050405020304" pitchFamily="18" charset="0"/>
                <a:cs typeface="Times New Roman" panose="02020603050405020304" pitchFamily="18" charset="0"/>
              </a:rPr>
              <a:t>Inferential Statistics: </a:t>
            </a:r>
          </a:p>
          <a:p>
            <a:pPr algn="just" fontAlgn="base">
              <a:spcAft>
                <a:spcPts val="750"/>
              </a:spcAft>
            </a:pPr>
            <a:r>
              <a:rPr lang="en-GB" sz="1800" dirty="0">
                <a:solidFill>
                  <a:srgbClr val="273239"/>
                </a:solidFill>
                <a:latin typeface="Times New Roman" panose="02020603050405020304" pitchFamily="18" charset="0"/>
                <a:cs typeface="Times New Roman" panose="02020603050405020304" pitchFamily="18" charset="0"/>
              </a:rPr>
              <a:t>Inferential Statistics is a little different. It uses smaller data to conclude a larger group. </a:t>
            </a:r>
          </a:p>
          <a:p>
            <a:pPr algn="just" fontAlgn="base">
              <a:spcAft>
                <a:spcPts val="750"/>
              </a:spcAft>
            </a:pPr>
            <a:r>
              <a:rPr lang="en-GB" sz="1800" dirty="0">
                <a:solidFill>
                  <a:srgbClr val="273239"/>
                </a:solidFill>
                <a:latin typeface="Times New Roman" panose="02020603050405020304" pitchFamily="18" charset="0"/>
                <a:cs typeface="Times New Roman" panose="02020603050405020304" pitchFamily="18" charset="0"/>
              </a:rPr>
              <a:t>It helps us predict and draw conclusions about a population.</a:t>
            </a:r>
            <a:endParaRPr lang="en-GB" sz="1800" b="0" i="0" dirty="0">
              <a:solidFill>
                <a:srgbClr val="273239"/>
              </a:solidFill>
              <a:effectLst/>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09006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469CA-D932-5281-5461-F58802B468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3BBF5A-3ADF-6E2A-88CF-272710A79C10}"/>
              </a:ext>
            </a:extLst>
          </p:cNvPr>
          <p:cNvSpPr>
            <a:spLocks noGrp="1"/>
          </p:cNvSpPr>
          <p:nvPr>
            <p:ph idx="1"/>
          </p:nvPr>
        </p:nvSpPr>
        <p:spPr>
          <a:xfrm>
            <a:off x="132080" y="152400"/>
            <a:ext cx="11927840" cy="6532880"/>
          </a:xfrm>
        </p:spPr>
        <p:txBody>
          <a:bodyPr>
            <a:noAutofit/>
          </a:bodyPr>
          <a:lstStyle/>
          <a:p>
            <a:pPr marL="0" indent="0" algn="just">
              <a:spcAft>
                <a:spcPts val="1200"/>
              </a:spcAft>
              <a:buNone/>
            </a:pPr>
            <a:r>
              <a:rPr lang="en-GB" sz="1800" b="1" dirty="0">
                <a:solidFill>
                  <a:srgbClr val="262626"/>
                </a:solidFill>
                <a:effectLst/>
                <a:latin typeface="Times New Roman" panose="02020603050405020304" pitchFamily="18" charset="0"/>
                <a:cs typeface="Times New Roman" panose="02020603050405020304" pitchFamily="18" charset="0"/>
              </a:rPr>
              <a:t>What is Data in Statistics</a:t>
            </a:r>
            <a:endParaRPr lang="en-GB" sz="1800" b="1" dirty="0">
              <a:solidFill>
                <a:srgbClr val="262626"/>
              </a:solidFill>
              <a:latin typeface="Times New Roman" panose="02020603050405020304" pitchFamily="18" charset="0"/>
              <a:cs typeface="Times New Roman" panose="02020603050405020304" pitchFamily="18" charset="0"/>
            </a:endParaRPr>
          </a:p>
          <a:p>
            <a:pPr algn="just">
              <a:spcBef>
                <a:spcPts val="600"/>
              </a:spcBef>
              <a:spcAft>
                <a:spcPts val="600"/>
              </a:spcAft>
            </a:pPr>
            <a:r>
              <a:rPr lang="en-GB" sz="1800" dirty="0">
                <a:latin typeface="Times New Roman" panose="02020603050405020304" pitchFamily="18" charset="0"/>
                <a:cs typeface="Times New Roman" panose="02020603050405020304" pitchFamily="18" charset="0"/>
              </a:rPr>
              <a:t>In statistics, </a:t>
            </a:r>
            <a:r>
              <a:rPr lang="en-GB" sz="1800" b="1" dirty="0">
                <a:latin typeface="Times New Roman" panose="02020603050405020304" pitchFamily="18" charset="0"/>
                <a:cs typeface="Times New Roman" panose="02020603050405020304" pitchFamily="18" charset="0"/>
              </a:rPr>
              <a:t>data</a:t>
            </a:r>
            <a:r>
              <a:rPr lang="en-GB" sz="1800" dirty="0">
                <a:latin typeface="Times New Roman" panose="02020603050405020304" pitchFamily="18" charset="0"/>
                <a:cs typeface="Times New Roman" panose="02020603050405020304" pitchFamily="18" charset="0"/>
              </a:rPr>
              <a:t> refers to the collection of facts, numbers, measurements, or observations used for analysis. </a:t>
            </a:r>
          </a:p>
          <a:p>
            <a:pPr algn="just">
              <a:spcBef>
                <a:spcPts val="600"/>
              </a:spcBef>
              <a:spcAft>
                <a:spcPts val="600"/>
              </a:spcAft>
            </a:pPr>
            <a:r>
              <a:rPr lang="en-GB" sz="1800" dirty="0">
                <a:latin typeface="Times New Roman" panose="02020603050405020304" pitchFamily="18" charset="0"/>
                <a:cs typeface="Times New Roman" panose="02020603050405020304" pitchFamily="18" charset="0"/>
              </a:rPr>
              <a:t>Data is the foundation of statistical study and helps in making informed decisions based on trends, patterns, and relationships.</a:t>
            </a:r>
          </a:p>
          <a:p>
            <a:pPr marL="0" indent="0">
              <a:buNone/>
            </a:pPr>
            <a:r>
              <a:rPr lang="en-GB" sz="1800" b="1" dirty="0">
                <a:latin typeface="Times New Roman" panose="02020603050405020304" pitchFamily="18" charset="0"/>
                <a:cs typeface="Times New Roman" panose="02020603050405020304" pitchFamily="18" charset="0"/>
              </a:rPr>
              <a:t>Types of Data in Statistics</a:t>
            </a:r>
          </a:p>
          <a:p>
            <a:r>
              <a:rPr lang="en-GB" sz="1800" dirty="0">
                <a:latin typeface="Times New Roman" panose="02020603050405020304" pitchFamily="18" charset="0"/>
                <a:cs typeface="Times New Roman" panose="02020603050405020304" pitchFamily="18" charset="0"/>
              </a:rPr>
              <a:t>Data can be categorized in various ways:</a:t>
            </a:r>
          </a:p>
          <a:p>
            <a:pPr marL="0" indent="0">
              <a:buNone/>
            </a:pPr>
            <a:r>
              <a:rPr lang="en-GB" sz="1800" b="1" dirty="0">
                <a:latin typeface="Times New Roman" panose="02020603050405020304" pitchFamily="18" charset="0"/>
                <a:cs typeface="Times New Roman" panose="02020603050405020304" pitchFamily="18" charset="0"/>
              </a:rPr>
              <a:t>1. Based on Nature of Data</a:t>
            </a:r>
          </a:p>
          <a:p>
            <a:pPr marL="0" indent="0">
              <a:buNone/>
            </a:pPr>
            <a:r>
              <a:rPr lang="en-GB" sz="1800" b="1" dirty="0">
                <a:latin typeface="Times New Roman" panose="02020603050405020304" pitchFamily="18" charset="0"/>
                <a:cs typeface="Times New Roman" panose="02020603050405020304" pitchFamily="18" charset="0"/>
              </a:rPr>
              <a:t>a) Qualitative (Categorical) Data</a:t>
            </a:r>
          </a:p>
          <a:p>
            <a:pPr>
              <a:buFont typeface="Arial" panose="020B0604020202020204" pitchFamily="34" charset="0"/>
              <a:buChar char="•"/>
            </a:pPr>
            <a:r>
              <a:rPr lang="en-GB" sz="1800" b="1" dirty="0">
                <a:latin typeface="Times New Roman" panose="02020603050405020304" pitchFamily="18" charset="0"/>
                <a:cs typeface="Times New Roman" panose="02020603050405020304" pitchFamily="18" charset="0"/>
              </a:rPr>
              <a:t>Definition</a:t>
            </a:r>
            <a:r>
              <a:rPr lang="en-GB" sz="1800" dirty="0">
                <a:latin typeface="Times New Roman" panose="02020603050405020304" pitchFamily="18" charset="0"/>
                <a:cs typeface="Times New Roman" panose="02020603050405020304" pitchFamily="18" charset="0"/>
              </a:rPr>
              <a:t>: Descriptive data that cannot be measured in numerical terms but can be categorized.</a:t>
            </a:r>
          </a:p>
          <a:p>
            <a:pPr>
              <a:buFont typeface="Arial" panose="020B0604020202020204" pitchFamily="34" charset="0"/>
              <a:buChar char="•"/>
            </a:pPr>
            <a:r>
              <a:rPr lang="en-GB" sz="1800" b="1" dirty="0">
                <a:latin typeface="Times New Roman" panose="02020603050405020304" pitchFamily="18" charset="0"/>
                <a:cs typeface="Times New Roman" panose="02020603050405020304" pitchFamily="18" charset="0"/>
              </a:rPr>
              <a:t>Types</a:t>
            </a:r>
            <a:r>
              <a:rPr lang="en-GB" sz="18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GB" sz="1800" b="1" dirty="0">
                <a:latin typeface="Times New Roman" panose="02020603050405020304" pitchFamily="18" charset="0"/>
                <a:cs typeface="Times New Roman" panose="02020603050405020304" pitchFamily="18" charset="0"/>
              </a:rPr>
              <a:t>Nominal Data</a:t>
            </a:r>
            <a:r>
              <a:rPr lang="en-GB" sz="1800" dirty="0">
                <a:latin typeface="Times New Roman" panose="02020603050405020304" pitchFamily="18" charset="0"/>
                <a:cs typeface="Times New Roman" panose="02020603050405020304" pitchFamily="18" charset="0"/>
              </a:rPr>
              <a:t>: Categories with no specific order (e.g., gender, </a:t>
            </a:r>
            <a:r>
              <a:rPr lang="en-GB" sz="1800" dirty="0" err="1">
                <a:latin typeface="Times New Roman" panose="02020603050405020304" pitchFamily="18" charset="0"/>
                <a:cs typeface="Times New Roman" panose="02020603050405020304" pitchFamily="18" charset="0"/>
              </a:rPr>
              <a:t>colors</a:t>
            </a:r>
            <a:r>
              <a:rPr lang="en-GB" sz="1800" dirty="0">
                <a:latin typeface="Times New Roman" panose="02020603050405020304" pitchFamily="18" charset="0"/>
                <a:cs typeface="Times New Roman" panose="02020603050405020304" pitchFamily="18" charset="0"/>
              </a:rPr>
              <a:t>, types of fruits).</a:t>
            </a:r>
          </a:p>
          <a:p>
            <a:pPr marL="742950" lvl="1" indent="-285750">
              <a:buFont typeface="Arial" panose="020B0604020202020204" pitchFamily="34" charset="0"/>
              <a:buChar char="•"/>
            </a:pPr>
            <a:r>
              <a:rPr lang="en-GB" sz="1800" b="1" dirty="0">
                <a:latin typeface="Times New Roman" panose="02020603050405020304" pitchFamily="18" charset="0"/>
                <a:cs typeface="Times New Roman" panose="02020603050405020304" pitchFamily="18" charset="0"/>
              </a:rPr>
              <a:t>Ordinal Data</a:t>
            </a:r>
            <a:r>
              <a:rPr lang="en-GB" sz="1800" dirty="0">
                <a:latin typeface="Times New Roman" panose="02020603050405020304" pitchFamily="18" charset="0"/>
                <a:cs typeface="Times New Roman" panose="02020603050405020304" pitchFamily="18" charset="0"/>
              </a:rPr>
              <a:t>: Categories with a meaningful order but without a fixed difference (e.g., ranking in a competition: 1st, 2nd, 3rd).</a:t>
            </a:r>
          </a:p>
          <a:p>
            <a:pPr marL="0" indent="0">
              <a:buNone/>
            </a:pPr>
            <a:r>
              <a:rPr lang="en-GB" sz="1800" b="1" dirty="0">
                <a:latin typeface="Times New Roman" panose="02020603050405020304" pitchFamily="18" charset="0"/>
                <a:cs typeface="Times New Roman" panose="02020603050405020304" pitchFamily="18" charset="0"/>
              </a:rPr>
              <a:t>b) Quantitative (Numerical) Data</a:t>
            </a:r>
          </a:p>
          <a:p>
            <a:pPr>
              <a:buFont typeface="Arial" panose="020B0604020202020204" pitchFamily="34" charset="0"/>
              <a:buChar char="•"/>
            </a:pPr>
            <a:r>
              <a:rPr lang="en-GB" sz="1800" b="1" dirty="0">
                <a:latin typeface="Times New Roman" panose="02020603050405020304" pitchFamily="18" charset="0"/>
                <a:cs typeface="Times New Roman" panose="02020603050405020304" pitchFamily="18" charset="0"/>
              </a:rPr>
              <a:t>Definition</a:t>
            </a:r>
            <a:r>
              <a:rPr lang="en-GB" sz="1800" dirty="0">
                <a:latin typeface="Times New Roman" panose="02020603050405020304" pitchFamily="18" charset="0"/>
                <a:cs typeface="Times New Roman" panose="02020603050405020304" pitchFamily="18" charset="0"/>
              </a:rPr>
              <a:t>: Data that consists of numerical values and can be measured.</a:t>
            </a:r>
          </a:p>
          <a:p>
            <a:pPr>
              <a:buFont typeface="Arial" panose="020B0604020202020204" pitchFamily="34" charset="0"/>
              <a:buChar char="•"/>
            </a:pPr>
            <a:r>
              <a:rPr lang="en-GB" sz="1800" b="1" dirty="0">
                <a:latin typeface="Times New Roman" panose="02020603050405020304" pitchFamily="18" charset="0"/>
                <a:cs typeface="Times New Roman" panose="02020603050405020304" pitchFamily="18" charset="0"/>
              </a:rPr>
              <a:t>Types</a:t>
            </a:r>
            <a:r>
              <a:rPr lang="en-GB" sz="18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GB" sz="1800" b="1" dirty="0">
                <a:latin typeface="Times New Roman" panose="02020603050405020304" pitchFamily="18" charset="0"/>
                <a:cs typeface="Times New Roman" panose="02020603050405020304" pitchFamily="18" charset="0"/>
              </a:rPr>
              <a:t>Discrete Data</a:t>
            </a:r>
            <a:r>
              <a:rPr lang="en-GB" sz="1800" dirty="0">
                <a:latin typeface="Times New Roman" panose="02020603050405020304" pitchFamily="18" charset="0"/>
                <a:cs typeface="Times New Roman" panose="02020603050405020304" pitchFamily="18" charset="0"/>
              </a:rPr>
              <a:t>: Countable values (e.g., number of students in a class, number of cars in a parking lot).</a:t>
            </a:r>
          </a:p>
          <a:p>
            <a:pPr marL="742950" lvl="1" indent="-285750">
              <a:buFont typeface="Arial" panose="020B0604020202020204" pitchFamily="34" charset="0"/>
              <a:buChar char="•"/>
            </a:pPr>
            <a:r>
              <a:rPr lang="en-GB" sz="1800" b="1" dirty="0">
                <a:latin typeface="Times New Roman" panose="02020603050405020304" pitchFamily="18" charset="0"/>
                <a:cs typeface="Times New Roman" panose="02020603050405020304" pitchFamily="18" charset="0"/>
              </a:rPr>
              <a:t>Continuous Data</a:t>
            </a:r>
            <a:r>
              <a:rPr lang="en-GB" sz="1800" dirty="0">
                <a:latin typeface="Times New Roman" panose="02020603050405020304" pitchFamily="18" charset="0"/>
                <a:cs typeface="Times New Roman" panose="02020603050405020304" pitchFamily="18" charset="0"/>
              </a:rPr>
              <a:t>: Measured values that can take any value within a range (e.g., height, weight, temperature).</a:t>
            </a:r>
          </a:p>
        </p:txBody>
      </p:sp>
    </p:spTree>
    <p:extLst>
      <p:ext uri="{BB962C8B-B14F-4D97-AF65-F5344CB8AC3E}">
        <p14:creationId xmlns:p14="http://schemas.microsoft.com/office/powerpoint/2010/main" val="10651742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76824-CD3B-14EA-6716-DBFFFC6C4B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496097-7B9B-43A0-B390-9081D1F9D05F}"/>
              </a:ext>
            </a:extLst>
          </p:cNvPr>
          <p:cNvSpPr>
            <a:spLocks noGrp="1"/>
          </p:cNvSpPr>
          <p:nvPr>
            <p:ph idx="1"/>
          </p:nvPr>
        </p:nvSpPr>
        <p:spPr>
          <a:xfrm>
            <a:off x="132080" y="152400"/>
            <a:ext cx="11927840" cy="6532880"/>
          </a:xfrm>
        </p:spPr>
        <p:txBody>
          <a:bodyPr>
            <a:normAutofit/>
          </a:bodyPr>
          <a:lstStyle/>
          <a:p>
            <a:pPr marL="0" indent="0">
              <a:buNone/>
            </a:pPr>
            <a:r>
              <a:rPr lang="en-GB" sz="1800" b="1" dirty="0">
                <a:latin typeface="Times New Roman" panose="02020603050405020304" pitchFamily="18" charset="0"/>
                <a:cs typeface="Times New Roman" panose="02020603050405020304" pitchFamily="18" charset="0"/>
              </a:rPr>
              <a:t>2. Based on Data Collection</a:t>
            </a:r>
          </a:p>
          <a:p>
            <a:pPr marL="0" indent="0">
              <a:buNone/>
            </a:pPr>
            <a:r>
              <a:rPr lang="en-GB" sz="1800" b="1" dirty="0">
                <a:latin typeface="Times New Roman" panose="02020603050405020304" pitchFamily="18" charset="0"/>
                <a:cs typeface="Times New Roman" panose="02020603050405020304" pitchFamily="18" charset="0"/>
              </a:rPr>
              <a:t>a) Primary Data</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Collected directly by the researcher for a specific purpose.</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Example: A survey conducted to </a:t>
            </a:r>
            <a:r>
              <a:rPr lang="en-GB" sz="1800" dirty="0" err="1">
                <a:latin typeface="Times New Roman" panose="02020603050405020304" pitchFamily="18" charset="0"/>
                <a:cs typeface="Times New Roman" panose="02020603050405020304" pitchFamily="18" charset="0"/>
              </a:rPr>
              <a:t>analyze</a:t>
            </a:r>
            <a:r>
              <a:rPr lang="en-GB" sz="1800" dirty="0">
                <a:latin typeface="Times New Roman" panose="02020603050405020304" pitchFamily="18" charset="0"/>
                <a:cs typeface="Times New Roman" panose="02020603050405020304" pitchFamily="18" charset="0"/>
              </a:rPr>
              <a:t> customer preferences.</a:t>
            </a:r>
          </a:p>
          <a:p>
            <a:pPr marL="0" indent="0">
              <a:buNone/>
            </a:pPr>
            <a:r>
              <a:rPr lang="en-GB" sz="1800" b="1" dirty="0">
                <a:latin typeface="Times New Roman" panose="02020603050405020304" pitchFamily="18" charset="0"/>
                <a:cs typeface="Times New Roman" panose="02020603050405020304" pitchFamily="18" charset="0"/>
              </a:rPr>
              <a:t>b) Secondary Data</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Collected from existing sources such as research papers, government reports, and databases.</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Example: Census data, company financial reports.</a:t>
            </a:r>
          </a:p>
          <a:p>
            <a:pPr marL="0" indent="0">
              <a:buNone/>
            </a:pPr>
            <a:r>
              <a:rPr lang="en-US" sz="1800" b="1" dirty="0">
                <a:latin typeface="Times New Roman" panose="02020603050405020304" pitchFamily="18" charset="0"/>
                <a:cs typeface="Times New Roman" panose="02020603050405020304" pitchFamily="18" charset="0"/>
              </a:rPr>
              <a:t>3. Based on Measurement Scales (Stevens' Scale)</a:t>
            </a:r>
          </a:p>
          <a:p>
            <a:pPr lvl="1">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Nominal Scale</a:t>
            </a:r>
            <a:r>
              <a:rPr lang="en-US" sz="1800" dirty="0">
                <a:latin typeface="Times New Roman" panose="02020603050405020304" pitchFamily="18" charset="0"/>
                <a:cs typeface="Times New Roman" panose="02020603050405020304" pitchFamily="18" charset="0"/>
              </a:rPr>
              <a:t>: Labels or names without order (e.g., types of music genres).</a:t>
            </a:r>
          </a:p>
          <a:p>
            <a:pPr lvl="1">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Ordinal Scale</a:t>
            </a:r>
            <a:r>
              <a:rPr lang="en-US" sz="1800" dirty="0">
                <a:latin typeface="Times New Roman" panose="02020603050405020304" pitchFamily="18" charset="0"/>
                <a:cs typeface="Times New Roman" panose="02020603050405020304" pitchFamily="18" charset="0"/>
              </a:rPr>
              <a:t>: Ordered data but without fixed differences (e.g., education levels: primary, secondary, higher).</a:t>
            </a:r>
          </a:p>
          <a:p>
            <a:pPr lvl="1">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Interval Scale</a:t>
            </a:r>
            <a:r>
              <a:rPr lang="en-US" sz="1800" dirty="0">
                <a:latin typeface="Times New Roman" panose="02020603050405020304" pitchFamily="18" charset="0"/>
                <a:cs typeface="Times New Roman" panose="02020603050405020304" pitchFamily="18" charset="0"/>
              </a:rPr>
              <a:t>: Ordered data with equal intervals but no true zero (e.g., temperature in Celsius).</a:t>
            </a:r>
          </a:p>
          <a:p>
            <a:pPr lvl="1">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Ratio Scale</a:t>
            </a:r>
            <a:r>
              <a:rPr lang="en-US" sz="1800" dirty="0">
                <a:latin typeface="Times New Roman" panose="02020603050405020304" pitchFamily="18" charset="0"/>
                <a:cs typeface="Times New Roman" panose="02020603050405020304" pitchFamily="18" charset="0"/>
              </a:rPr>
              <a:t>: Ordered data with a true zero and equal intervals (e.g., weight, height, income).</a:t>
            </a:r>
          </a:p>
          <a:p>
            <a:pPr marL="0" indent="0">
              <a:buNone/>
            </a:pPr>
            <a:r>
              <a:rPr lang="en-GB" sz="1800" b="1" dirty="0">
                <a:latin typeface="Times New Roman" panose="02020603050405020304" pitchFamily="18" charset="0"/>
                <a:cs typeface="Times New Roman" panose="02020603050405020304" pitchFamily="18" charset="0"/>
              </a:rPr>
              <a:t>Data Important in Statistics?</a:t>
            </a:r>
          </a:p>
          <a:p>
            <a:pPr lvl="1">
              <a:buFont typeface="Wingdings" panose="05000000000000000000" pitchFamily="2" charset="2"/>
              <a:buChar char="§"/>
            </a:pPr>
            <a:r>
              <a:rPr lang="en-GB" sz="1800" b="1" dirty="0">
                <a:latin typeface="Times New Roman" panose="02020603050405020304" pitchFamily="18" charset="0"/>
                <a:cs typeface="Times New Roman" panose="02020603050405020304" pitchFamily="18" charset="0"/>
              </a:rPr>
              <a:t>Supports Decision-Making</a:t>
            </a:r>
            <a:r>
              <a:rPr lang="en-GB" sz="1800" dirty="0">
                <a:latin typeface="Times New Roman" panose="02020603050405020304" pitchFamily="18" charset="0"/>
                <a:cs typeface="Times New Roman" panose="02020603050405020304" pitchFamily="18" charset="0"/>
              </a:rPr>
              <a:t> – Used in business, medicine, and science to make data-driven decisions.</a:t>
            </a:r>
          </a:p>
          <a:p>
            <a:pPr lvl="1">
              <a:buFont typeface="Wingdings" panose="05000000000000000000" pitchFamily="2" charset="2"/>
              <a:buChar char="§"/>
            </a:pPr>
            <a:r>
              <a:rPr lang="en-GB" sz="1800" b="1" dirty="0">
                <a:latin typeface="Times New Roman" panose="02020603050405020304" pitchFamily="18" charset="0"/>
                <a:cs typeface="Times New Roman" panose="02020603050405020304" pitchFamily="18" charset="0"/>
              </a:rPr>
              <a:t>Identifies Patterns &amp; Trends</a:t>
            </a:r>
            <a:r>
              <a:rPr lang="en-GB" sz="1800" dirty="0">
                <a:latin typeface="Times New Roman" panose="02020603050405020304" pitchFamily="18" charset="0"/>
                <a:cs typeface="Times New Roman" panose="02020603050405020304" pitchFamily="18" charset="0"/>
              </a:rPr>
              <a:t> – Helps in forecasting future trends based on historical data.</a:t>
            </a:r>
          </a:p>
          <a:p>
            <a:pPr lvl="1">
              <a:buFont typeface="Wingdings" panose="05000000000000000000" pitchFamily="2" charset="2"/>
              <a:buChar char="§"/>
            </a:pPr>
            <a:r>
              <a:rPr lang="en-GB" sz="1800" b="1" dirty="0">
                <a:latin typeface="Times New Roman" panose="02020603050405020304" pitchFamily="18" charset="0"/>
                <a:cs typeface="Times New Roman" panose="02020603050405020304" pitchFamily="18" charset="0"/>
              </a:rPr>
              <a:t>Validates Hypotheses</a:t>
            </a:r>
            <a:r>
              <a:rPr lang="en-GB" sz="1800" dirty="0">
                <a:latin typeface="Times New Roman" panose="02020603050405020304" pitchFamily="18" charset="0"/>
                <a:cs typeface="Times New Roman" panose="02020603050405020304" pitchFamily="18" charset="0"/>
              </a:rPr>
              <a:t> – Used in research to test theories and assumptions.</a:t>
            </a:r>
          </a:p>
          <a:p>
            <a:pPr lvl="1">
              <a:buFont typeface="Wingdings" panose="05000000000000000000" pitchFamily="2" charset="2"/>
              <a:buChar char="§"/>
            </a:pPr>
            <a:r>
              <a:rPr lang="en-GB" sz="1800" b="1" dirty="0">
                <a:latin typeface="Times New Roman" panose="02020603050405020304" pitchFamily="18" charset="0"/>
                <a:cs typeface="Times New Roman" panose="02020603050405020304" pitchFamily="18" charset="0"/>
              </a:rPr>
              <a:t>Improves Accuracy</a:t>
            </a:r>
            <a:r>
              <a:rPr lang="en-GB" sz="1800" dirty="0">
                <a:latin typeface="Times New Roman" panose="02020603050405020304" pitchFamily="18" charset="0"/>
                <a:cs typeface="Times New Roman" panose="02020603050405020304" pitchFamily="18" charset="0"/>
              </a:rPr>
              <a:t> – Reduces uncertainty in decision-making.</a:t>
            </a:r>
          </a:p>
        </p:txBody>
      </p:sp>
    </p:spTree>
    <p:extLst>
      <p:ext uri="{BB962C8B-B14F-4D97-AF65-F5344CB8AC3E}">
        <p14:creationId xmlns:p14="http://schemas.microsoft.com/office/powerpoint/2010/main" val="3902814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F0909-D1A4-D431-946D-8D014F28EC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969637-47A1-26D2-2621-8D524139D85C}"/>
              </a:ext>
            </a:extLst>
          </p:cNvPr>
          <p:cNvSpPr>
            <a:spLocks noGrp="1"/>
          </p:cNvSpPr>
          <p:nvPr>
            <p:ph idx="1"/>
          </p:nvPr>
        </p:nvSpPr>
        <p:spPr>
          <a:xfrm>
            <a:off x="132080" y="152400"/>
            <a:ext cx="11927840" cy="6532880"/>
          </a:xfrm>
        </p:spPr>
        <p:txBody>
          <a:bodyPr>
            <a:normAutofit/>
          </a:bodyPr>
          <a:lstStyle/>
          <a:p>
            <a:pPr marL="0" indent="0">
              <a:buNone/>
            </a:pPr>
            <a:r>
              <a:rPr lang="en-GB" sz="2000" b="1" dirty="0">
                <a:latin typeface="Times New Roman" panose="02020603050405020304" pitchFamily="18" charset="0"/>
                <a:cs typeface="Times New Roman" panose="02020603050405020304" pitchFamily="18" charset="0"/>
              </a:rPr>
              <a:t>Basic Statistical Descriptions of Data</a:t>
            </a:r>
          </a:p>
          <a:p>
            <a:pPr marL="0" indent="0">
              <a:buNone/>
            </a:pPr>
            <a:r>
              <a:rPr lang="en-US" sz="2000" b="1" i="0" dirty="0">
                <a:effectLst/>
                <a:latin typeface="Times New Roman" panose="02020603050405020304" pitchFamily="18" charset="0"/>
                <a:cs typeface="Times New Roman" panose="02020603050405020304" pitchFamily="18" charset="0"/>
              </a:rPr>
              <a:t>Measuring the Central Tendency</a:t>
            </a:r>
          </a:p>
          <a:p>
            <a:r>
              <a:rPr lang="en-GB" sz="2000" b="0" i="0" dirty="0">
                <a:solidFill>
                  <a:srgbClr val="212529"/>
                </a:solidFill>
                <a:effectLst/>
                <a:latin typeface="Times New Roman" panose="02020603050405020304" pitchFamily="18" charset="0"/>
              </a:rPr>
              <a:t>We look at various ways to measure the central tendency of data, include: Mean, Weighted mean, Trimmed mean, Median, Mode and Midrange.</a:t>
            </a:r>
          </a:p>
          <a:p>
            <a:pPr marL="0" indent="0">
              <a:buNone/>
            </a:pPr>
            <a:r>
              <a:rPr lang="en-GB" sz="2000" b="1" dirty="0">
                <a:latin typeface="Times New Roman" panose="02020603050405020304" pitchFamily="18" charset="0"/>
                <a:cs typeface="Times New Roman" panose="02020603050405020304" pitchFamily="18" charset="0"/>
              </a:rPr>
              <a:t> Mean :</a:t>
            </a:r>
          </a:p>
          <a:p>
            <a:r>
              <a:rPr lang="en-GB" sz="2000" dirty="0">
                <a:latin typeface="Times New Roman" panose="02020603050405020304" pitchFamily="18" charset="0"/>
                <a:cs typeface="Times New Roman" panose="02020603050405020304" pitchFamily="18" charset="0"/>
              </a:rPr>
              <a:t>The mean of a data set is the average of all the data values. </a:t>
            </a:r>
          </a:p>
          <a:p>
            <a:r>
              <a:rPr lang="en-GB" sz="2000" dirty="0">
                <a:latin typeface="Times New Roman" panose="02020603050405020304" pitchFamily="18" charset="0"/>
                <a:cs typeface="Times New Roman" panose="02020603050405020304" pitchFamily="18" charset="0"/>
              </a:rPr>
              <a:t>The sample mean x is the point estimator of the population mean μ.</a:t>
            </a:r>
          </a:p>
          <a:p>
            <a:pPr marL="0" indent="0">
              <a:buNone/>
            </a:pPr>
            <a:endParaRPr lang="en-US" sz="2000" b="1" dirty="0">
              <a:latin typeface="Times New Roman" panose="02020603050405020304" pitchFamily="18" charset="0"/>
              <a:cs typeface="Times New Roman" panose="02020603050405020304" pitchFamily="18" charset="0"/>
            </a:endParaRPr>
          </a:p>
        </p:txBody>
      </p:sp>
      <p:pic>
        <p:nvPicPr>
          <p:cNvPr id="1027" name="Picture 3">
            <a:extLst>
              <a:ext uri="{FF2B5EF4-FFF2-40B4-BE49-F238E27FC236}">
                <a16:creationId xmlns:a16="http://schemas.microsoft.com/office/drawing/2014/main" id="{A9DABFBA-A868-747F-0B60-5FDE91E1E2E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7136448" y="1466533"/>
            <a:ext cx="4848225" cy="101917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BDC49A3E-5B02-80EC-6DB3-D4B765DE6657}"/>
              </a:ext>
            </a:extLst>
          </p:cNvPr>
          <p:cNvPicPr>
            <a:picLocks noChangeAspect="1"/>
          </p:cNvPicPr>
          <p:nvPr/>
        </p:nvPicPr>
        <p:blipFill>
          <a:blip r:embed="rId4"/>
          <a:stretch>
            <a:fillRect/>
          </a:stretch>
        </p:blipFill>
        <p:spPr>
          <a:xfrm>
            <a:off x="-1" y="2864304"/>
            <a:ext cx="5110481" cy="3820976"/>
          </a:xfrm>
          <a:prstGeom prst="rect">
            <a:avLst/>
          </a:prstGeom>
        </p:spPr>
      </p:pic>
      <p:pic>
        <p:nvPicPr>
          <p:cNvPr id="15" name="Picture 14">
            <a:extLst>
              <a:ext uri="{FF2B5EF4-FFF2-40B4-BE49-F238E27FC236}">
                <a16:creationId xmlns:a16="http://schemas.microsoft.com/office/drawing/2014/main" id="{899D54E6-820C-6CAD-94F4-C4F91CAE2643}"/>
              </a:ext>
            </a:extLst>
          </p:cNvPr>
          <p:cNvPicPr>
            <a:picLocks noChangeAspect="1"/>
          </p:cNvPicPr>
          <p:nvPr/>
        </p:nvPicPr>
        <p:blipFill>
          <a:blip r:embed="rId5"/>
          <a:stretch>
            <a:fillRect/>
          </a:stretch>
        </p:blipFill>
        <p:spPr>
          <a:xfrm>
            <a:off x="4882906" y="2818043"/>
            <a:ext cx="5616427" cy="2004234"/>
          </a:xfrm>
          <a:prstGeom prst="rect">
            <a:avLst/>
          </a:prstGeom>
        </p:spPr>
      </p:pic>
      <p:pic>
        <p:nvPicPr>
          <p:cNvPr id="17" name="Picture 16">
            <a:extLst>
              <a:ext uri="{FF2B5EF4-FFF2-40B4-BE49-F238E27FC236}">
                <a16:creationId xmlns:a16="http://schemas.microsoft.com/office/drawing/2014/main" id="{D98AC92C-81F4-FB12-0AC0-19A65A20FD78}"/>
              </a:ext>
            </a:extLst>
          </p:cNvPr>
          <p:cNvPicPr>
            <a:picLocks noChangeAspect="1"/>
          </p:cNvPicPr>
          <p:nvPr/>
        </p:nvPicPr>
        <p:blipFill>
          <a:blip r:embed="rId6"/>
          <a:stretch>
            <a:fillRect/>
          </a:stretch>
        </p:blipFill>
        <p:spPr>
          <a:xfrm>
            <a:off x="5070355" y="4920585"/>
            <a:ext cx="5570703" cy="1691787"/>
          </a:xfrm>
          <a:prstGeom prst="rect">
            <a:avLst/>
          </a:prstGeom>
        </p:spPr>
      </p:pic>
    </p:spTree>
    <p:extLst>
      <p:ext uri="{BB962C8B-B14F-4D97-AF65-F5344CB8AC3E}">
        <p14:creationId xmlns:p14="http://schemas.microsoft.com/office/powerpoint/2010/main" val="13547297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E9668-3A07-7040-A657-A3A93D9B7E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41E360-FD59-612F-1EA1-7C57EFD7AD3D}"/>
              </a:ext>
            </a:extLst>
          </p:cNvPr>
          <p:cNvSpPr>
            <a:spLocks noGrp="1"/>
          </p:cNvSpPr>
          <p:nvPr>
            <p:ph idx="1"/>
          </p:nvPr>
        </p:nvSpPr>
        <p:spPr>
          <a:xfrm>
            <a:off x="132080" y="152400"/>
            <a:ext cx="11927840" cy="6532880"/>
          </a:xfrm>
        </p:spPr>
        <p:txBody>
          <a:bodyPr>
            <a:normAutofit/>
          </a:bodyPr>
          <a:lstStyle/>
          <a:p>
            <a:pPr marL="0" indent="0">
              <a:buNone/>
            </a:pPr>
            <a:r>
              <a:rPr lang="en-US" sz="2000" b="1" dirty="0">
                <a:latin typeface="Times New Roman" panose="02020603050405020304" pitchFamily="18" charset="0"/>
                <a:ea typeface="Tahoma" panose="020B0604030504040204" pitchFamily="34" charset="0"/>
                <a:cs typeface="Times New Roman" panose="02020603050405020304" pitchFamily="18" charset="0"/>
              </a:rPr>
              <a:t>Median:</a:t>
            </a:r>
          </a:p>
          <a:p>
            <a:r>
              <a:rPr lang="en-GB" sz="2000" dirty="0">
                <a:latin typeface="Times New Roman" panose="02020603050405020304" pitchFamily="18" charset="0"/>
                <a:ea typeface="Tahoma" panose="020B0604030504040204" pitchFamily="34" charset="0"/>
                <a:cs typeface="Times New Roman" panose="02020603050405020304" pitchFamily="18" charset="0"/>
              </a:rPr>
              <a:t>The median of a data set is the value in the middle when the data items are arranged in ascending order. </a:t>
            </a:r>
          </a:p>
          <a:p>
            <a:r>
              <a:rPr lang="en-GB" sz="2000" dirty="0">
                <a:latin typeface="Times New Roman" panose="02020603050405020304" pitchFamily="18" charset="0"/>
                <a:ea typeface="Tahoma" panose="020B0604030504040204" pitchFamily="34" charset="0"/>
                <a:cs typeface="Times New Roman" panose="02020603050405020304" pitchFamily="18" charset="0"/>
              </a:rPr>
              <a:t>Whenever a data set has extreme values, the median is the preferred measure of central location. </a:t>
            </a:r>
          </a:p>
          <a:p>
            <a:pPr marL="0" indent="0">
              <a:buNone/>
            </a:pPr>
            <a:r>
              <a:rPr lang="en-GB" sz="2000" b="1" dirty="0">
                <a:latin typeface="Times New Roman" panose="02020603050405020304" pitchFamily="18" charset="0"/>
                <a:ea typeface="Tahoma" panose="020B0604030504040204" pitchFamily="34" charset="0"/>
                <a:cs typeface="Times New Roman" panose="02020603050405020304" pitchFamily="18" charset="0"/>
              </a:rPr>
              <a:t>Example</a:t>
            </a:r>
          </a:p>
          <a:p>
            <a:pPr marL="0" indent="0">
              <a:buNone/>
            </a:pPr>
            <a:r>
              <a:rPr lang="en-GB" sz="2000" dirty="0">
                <a:latin typeface="Times New Roman" panose="02020603050405020304" pitchFamily="18" charset="0"/>
                <a:ea typeface="Tahoma" panose="020B0604030504040204" pitchFamily="34" charset="0"/>
                <a:cs typeface="Times New Roman" panose="02020603050405020304" pitchFamily="18" charset="0"/>
              </a:rPr>
              <a:t>For an off number of observations:</a:t>
            </a:r>
          </a:p>
          <a:p>
            <a:r>
              <a:rPr lang="en-GB" sz="2000" dirty="0">
                <a:latin typeface="Times New Roman" panose="02020603050405020304" pitchFamily="18" charset="0"/>
                <a:ea typeface="Tahoma" panose="020B0604030504040204" pitchFamily="34" charset="0"/>
                <a:cs typeface="Times New Roman" panose="02020603050405020304" pitchFamily="18" charset="0"/>
              </a:rPr>
              <a:t>7 observations= 26, 18, 27, 12, 14, 29, 19.</a:t>
            </a:r>
          </a:p>
          <a:p>
            <a:r>
              <a:rPr lang="en-GB" sz="2000" dirty="0">
                <a:latin typeface="Times New Roman" panose="02020603050405020304" pitchFamily="18" charset="0"/>
                <a:ea typeface="Tahoma" panose="020B0604030504040204" pitchFamily="34" charset="0"/>
                <a:cs typeface="Times New Roman" panose="02020603050405020304" pitchFamily="18" charset="0"/>
              </a:rPr>
              <a:t>Numbers in ascending order = 12, 14, 18, 19, 26, 27, 29</a:t>
            </a:r>
          </a:p>
          <a:p>
            <a:r>
              <a:rPr lang="en-GB" sz="2000" dirty="0">
                <a:latin typeface="Times New Roman" panose="02020603050405020304" pitchFamily="18" charset="0"/>
                <a:ea typeface="Tahoma" panose="020B0604030504040204" pitchFamily="34" charset="0"/>
                <a:cs typeface="Times New Roman" panose="02020603050405020304" pitchFamily="18" charset="0"/>
              </a:rPr>
              <a:t>The median is the middle value.</a:t>
            </a:r>
          </a:p>
          <a:p>
            <a:pPr marL="0" indent="0">
              <a:buNone/>
            </a:pPr>
            <a:r>
              <a:rPr lang="en-GB" sz="2000" b="1" dirty="0">
                <a:latin typeface="Times New Roman" panose="02020603050405020304" pitchFamily="18" charset="0"/>
                <a:ea typeface="Tahoma" panose="020B0604030504040204" pitchFamily="34" charset="0"/>
                <a:cs typeface="Times New Roman" panose="02020603050405020304" pitchFamily="18" charset="0"/>
              </a:rPr>
              <a:t>    Median=19</a:t>
            </a:r>
          </a:p>
          <a:p>
            <a:pPr marL="0" indent="0">
              <a:buNone/>
            </a:pPr>
            <a:r>
              <a:rPr lang="en-GB" sz="2000" dirty="0">
                <a:latin typeface="Times New Roman" panose="02020603050405020304" pitchFamily="18" charset="0"/>
                <a:ea typeface="Tahoma" panose="020B0604030504040204" pitchFamily="34" charset="0"/>
                <a:cs typeface="Times New Roman" panose="02020603050405020304" pitchFamily="18" charset="0"/>
              </a:rPr>
              <a:t>For an even number of observations :</a:t>
            </a:r>
          </a:p>
          <a:p>
            <a:r>
              <a:rPr lang="en-GB" sz="2000" dirty="0">
                <a:latin typeface="Times New Roman" panose="02020603050405020304" pitchFamily="18" charset="0"/>
                <a:ea typeface="Tahoma" panose="020B0604030504040204" pitchFamily="34" charset="0"/>
                <a:cs typeface="Times New Roman" panose="02020603050405020304" pitchFamily="18" charset="0"/>
              </a:rPr>
              <a:t>8 observations = 26 18 29 12 14 27 30 19</a:t>
            </a:r>
          </a:p>
          <a:p>
            <a:r>
              <a:rPr lang="en-GB" sz="2000" dirty="0">
                <a:latin typeface="Times New Roman" panose="02020603050405020304" pitchFamily="18" charset="0"/>
                <a:ea typeface="Tahoma" panose="020B0604030504040204" pitchFamily="34" charset="0"/>
                <a:cs typeface="Times New Roman" panose="02020603050405020304" pitchFamily="18" charset="0"/>
              </a:rPr>
              <a:t>Numbers in ascending order =12, 14, 18, 19, 26, 27, 29, 30</a:t>
            </a:r>
          </a:p>
          <a:p>
            <a:r>
              <a:rPr lang="en-GB" sz="2000" dirty="0">
                <a:latin typeface="Times New Roman" panose="02020603050405020304" pitchFamily="18" charset="0"/>
                <a:ea typeface="Tahoma" panose="020B0604030504040204" pitchFamily="34" charset="0"/>
                <a:cs typeface="Times New Roman" panose="02020603050405020304" pitchFamily="18" charset="0"/>
              </a:rPr>
              <a:t>The median is the average of the middle two values.</a:t>
            </a:r>
          </a:p>
          <a:p>
            <a:pPr marL="0" indent="0">
              <a:buNone/>
            </a:pPr>
            <a:r>
              <a:rPr lang="en-GB" sz="2000" b="1" dirty="0">
                <a:latin typeface="Times New Roman" panose="02020603050405020304" pitchFamily="18" charset="0"/>
                <a:ea typeface="Tahoma" panose="020B0604030504040204" pitchFamily="34" charset="0"/>
                <a:cs typeface="Times New Roman" panose="02020603050405020304" pitchFamily="18" charset="0"/>
              </a:rPr>
              <a:t>   Median = 19, 26</a:t>
            </a:r>
            <a:endParaRPr lang="en-US" sz="2000" b="1"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8779810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518EF-8DE5-4E2C-3EF2-D920FC8EBD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15A9AB-AF9B-CC6C-7DA8-8F99FBD3BAF3}"/>
              </a:ext>
            </a:extLst>
          </p:cNvPr>
          <p:cNvSpPr>
            <a:spLocks noGrp="1"/>
          </p:cNvSpPr>
          <p:nvPr>
            <p:ph idx="1"/>
          </p:nvPr>
        </p:nvSpPr>
        <p:spPr>
          <a:xfrm>
            <a:off x="223520" y="2641600"/>
            <a:ext cx="6096000" cy="3921760"/>
          </a:xfrm>
        </p:spPr>
        <p:txBody>
          <a:bodyPr>
            <a:noAutofit/>
          </a:bodyPr>
          <a:lstStyle/>
          <a:p>
            <a:pPr marL="0" indent="0">
              <a:buNone/>
            </a:pPr>
            <a:r>
              <a:rPr lang="en-GB" sz="1800" b="1" dirty="0">
                <a:latin typeface="Times New Roman" panose="02020603050405020304" pitchFamily="18" charset="0"/>
                <a:cs typeface="Times New Roman" panose="02020603050405020304" pitchFamily="18" charset="0"/>
              </a:rPr>
              <a:t>Unimodal Data Set</a:t>
            </a:r>
          </a:p>
          <a:p>
            <a:pPr marL="0" indent="0">
              <a:buNone/>
            </a:pPr>
            <a:r>
              <a:rPr lang="en-GB" sz="1800" dirty="0">
                <a:latin typeface="Times New Roman" panose="02020603050405020304" pitchFamily="18" charset="0"/>
                <a:cs typeface="Times New Roman" panose="02020603050405020304" pitchFamily="18" charset="0"/>
              </a:rPr>
              <a:t>Consider the numbers: 	2,3,4,4,5,6,7 </a:t>
            </a:r>
          </a:p>
          <a:p>
            <a:r>
              <a:rPr lang="en-GB" sz="1800" dirty="0">
                <a:latin typeface="Times New Roman" panose="02020603050405020304" pitchFamily="18" charset="0"/>
                <a:cs typeface="Times New Roman" panose="02020603050405020304" pitchFamily="18" charset="0"/>
              </a:rPr>
              <a:t>The number </a:t>
            </a:r>
            <a:r>
              <a:rPr lang="en-GB" sz="1800" b="1" dirty="0">
                <a:latin typeface="Times New Roman" panose="02020603050405020304" pitchFamily="18" charset="0"/>
                <a:cs typeface="Times New Roman" panose="02020603050405020304" pitchFamily="18" charset="0"/>
              </a:rPr>
              <a:t>4</a:t>
            </a:r>
            <a:r>
              <a:rPr lang="en-GB" sz="1800" dirty="0">
                <a:latin typeface="Times New Roman" panose="02020603050405020304" pitchFamily="18" charset="0"/>
                <a:cs typeface="Times New Roman" panose="02020603050405020304" pitchFamily="18" charset="0"/>
              </a:rPr>
              <a:t> appears </a:t>
            </a:r>
            <a:r>
              <a:rPr lang="en-GB" sz="1800" b="1" dirty="0">
                <a:latin typeface="Times New Roman" panose="02020603050405020304" pitchFamily="18" charset="0"/>
                <a:cs typeface="Times New Roman" panose="02020603050405020304" pitchFamily="18" charset="0"/>
              </a:rPr>
              <a:t>twice</a:t>
            </a:r>
            <a:r>
              <a:rPr lang="en-GB" sz="1800" dirty="0">
                <a:latin typeface="Times New Roman" panose="02020603050405020304" pitchFamily="18" charset="0"/>
                <a:cs typeface="Times New Roman" panose="02020603050405020304" pitchFamily="18" charset="0"/>
              </a:rPr>
              <a:t>, while all others appear once.</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So, the </a:t>
            </a:r>
            <a:r>
              <a:rPr lang="en-GB" sz="1800" b="1" dirty="0">
                <a:latin typeface="Times New Roman" panose="02020603050405020304" pitchFamily="18" charset="0"/>
                <a:cs typeface="Times New Roman" panose="02020603050405020304" pitchFamily="18" charset="0"/>
              </a:rPr>
              <a:t>mode = 4</a:t>
            </a:r>
            <a:r>
              <a:rPr lang="en-GB" sz="1800" dirty="0">
                <a:latin typeface="Times New Roman" panose="02020603050405020304" pitchFamily="18" charset="0"/>
                <a:cs typeface="Times New Roman" panose="02020603050405020304" pitchFamily="18" charset="0"/>
              </a:rPr>
              <a:t>.</a:t>
            </a:r>
          </a:p>
          <a:p>
            <a:pPr marL="0" indent="0">
              <a:buNone/>
            </a:pPr>
            <a:r>
              <a:rPr lang="en-GB" sz="1800" b="1" dirty="0">
                <a:latin typeface="Times New Roman" panose="02020603050405020304" pitchFamily="18" charset="0"/>
                <a:cs typeface="Times New Roman" panose="02020603050405020304" pitchFamily="18" charset="0"/>
              </a:rPr>
              <a:t>Bimodal Data Set</a:t>
            </a:r>
          </a:p>
          <a:p>
            <a:pPr marL="0" indent="0">
              <a:buNone/>
            </a:pPr>
            <a:r>
              <a:rPr lang="en-GB" sz="1800" dirty="0">
                <a:latin typeface="Times New Roman" panose="02020603050405020304" pitchFamily="18" charset="0"/>
                <a:cs typeface="Times New Roman" panose="02020603050405020304" pitchFamily="18" charset="0"/>
              </a:rPr>
              <a:t>Consider the numbers:	1,2,2,3,4,4,5</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The numbers </a:t>
            </a:r>
            <a:r>
              <a:rPr lang="en-GB" sz="1800" b="1" dirty="0">
                <a:latin typeface="Times New Roman" panose="02020603050405020304" pitchFamily="18" charset="0"/>
                <a:cs typeface="Times New Roman" panose="02020603050405020304" pitchFamily="18" charset="0"/>
              </a:rPr>
              <a:t>2 and 4</a:t>
            </a:r>
            <a:r>
              <a:rPr lang="en-GB" sz="1800" dirty="0">
                <a:latin typeface="Times New Roman" panose="02020603050405020304" pitchFamily="18" charset="0"/>
                <a:cs typeface="Times New Roman" panose="02020603050405020304" pitchFamily="18" charset="0"/>
              </a:rPr>
              <a:t> both appear </a:t>
            </a:r>
            <a:r>
              <a:rPr lang="en-GB" sz="1800" b="1" dirty="0">
                <a:latin typeface="Times New Roman" panose="02020603050405020304" pitchFamily="18" charset="0"/>
                <a:cs typeface="Times New Roman" panose="02020603050405020304" pitchFamily="18" charset="0"/>
              </a:rPr>
              <a:t>twice</a:t>
            </a:r>
            <a:r>
              <a:rPr lang="en-GB" sz="1800" dirty="0">
                <a:latin typeface="Times New Roman" panose="02020603050405020304" pitchFamily="18" charset="0"/>
                <a:cs typeface="Times New Roman" panose="02020603050405020304" pitchFamily="18" charset="0"/>
              </a:rPr>
              <a:t>, more than other numbers.</a:t>
            </a:r>
          </a:p>
          <a:p>
            <a:pPr>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So, the </a:t>
            </a:r>
            <a:r>
              <a:rPr lang="en-GB" sz="1800" b="1" dirty="0">
                <a:latin typeface="Times New Roman" panose="02020603050405020304" pitchFamily="18" charset="0"/>
                <a:cs typeface="Times New Roman" panose="02020603050405020304" pitchFamily="18" charset="0"/>
              </a:rPr>
              <a:t>modes = 2 and 4</a:t>
            </a:r>
            <a:r>
              <a:rPr lang="en-GB" sz="1800" dirty="0">
                <a:latin typeface="Times New Roman" panose="02020603050405020304" pitchFamily="18" charset="0"/>
                <a:cs typeface="Times New Roman" panose="02020603050405020304" pitchFamily="18" charset="0"/>
              </a:rPr>
              <a:t> (Bimodal).</a:t>
            </a:r>
          </a:p>
        </p:txBody>
      </p:sp>
      <p:sp>
        <p:nvSpPr>
          <p:cNvPr id="4" name="TextBox 3">
            <a:extLst>
              <a:ext uri="{FF2B5EF4-FFF2-40B4-BE49-F238E27FC236}">
                <a16:creationId xmlns:a16="http://schemas.microsoft.com/office/drawing/2014/main" id="{8D956E7A-E016-2FE4-DD32-5020F05ABAD4}"/>
              </a:ext>
            </a:extLst>
          </p:cNvPr>
          <p:cNvSpPr txBox="1"/>
          <p:nvPr/>
        </p:nvSpPr>
        <p:spPr>
          <a:xfrm>
            <a:off x="6096000" y="2373730"/>
            <a:ext cx="5730240" cy="1754326"/>
          </a:xfrm>
          <a:prstGeom prst="rect">
            <a:avLst/>
          </a:prstGeom>
          <a:noFill/>
        </p:spPr>
        <p:txBody>
          <a:bodyPr wrap="square">
            <a:spAutoFit/>
          </a:bodyPr>
          <a:lstStyle/>
          <a:p>
            <a:pPr marL="0" indent="0">
              <a:buNone/>
            </a:pPr>
            <a:r>
              <a:rPr lang="en-GB" sz="1800" b="1" dirty="0">
                <a:latin typeface="Times New Roman" panose="02020603050405020304" pitchFamily="18" charset="0"/>
                <a:cs typeface="Times New Roman" panose="02020603050405020304" pitchFamily="18" charset="0"/>
              </a:rPr>
              <a:t>No Mode</a:t>
            </a:r>
          </a:p>
          <a:p>
            <a:pPr marL="0" indent="0">
              <a:buNone/>
            </a:pPr>
            <a:r>
              <a:rPr lang="en-GB" b="1" dirty="0">
                <a:latin typeface="Times New Roman" panose="02020603050405020304" pitchFamily="18" charset="0"/>
                <a:cs typeface="Times New Roman" panose="02020603050405020304" pitchFamily="18" charset="0"/>
              </a:rPr>
              <a:t>Example</a:t>
            </a:r>
            <a:endParaRPr lang="en-GB" sz="1800" b="1" dirty="0">
              <a:latin typeface="Times New Roman" panose="02020603050405020304" pitchFamily="18" charset="0"/>
              <a:cs typeface="Times New Roman" panose="02020603050405020304" pitchFamily="18" charset="0"/>
            </a:endParaRPr>
          </a:p>
          <a:p>
            <a:pPr marL="0" indent="0">
              <a:buNone/>
            </a:pPr>
            <a:r>
              <a:rPr lang="en-GB" sz="1800" dirty="0">
                <a:latin typeface="Times New Roman" panose="02020603050405020304" pitchFamily="18" charset="0"/>
                <a:cs typeface="Times New Roman" panose="02020603050405020304" pitchFamily="18" charset="0"/>
              </a:rPr>
              <a:t>Consider the numbers:</a:t>
            </a:r>
          </a:p>
          <a:p>
            <a:pPr marL="0" indent="0">
              <a:buNone/>
            </a:pPr>
            <a:r>
              <a:rPr lang="en-GB" sz="1800" dirty="0">
                <a:latin typeface="Times New Roman" panose="02020603050405020304" pitchFamily="18" charset="0"/>
                <a:cs typeface="Times New Roman" panose="02020603050405020304" pitchFamily="18" charset="0"/>
              </a:rPr>
              <a:t>	10,20,30,40,50</a:t>
            </a:r>
          </a:p>
          <a:p>
            <a:pPr marL="285750" indent="-285750">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Each number appears </a:t>
            </a:r>
            <a:r>
              <a:rPr lang="en-GB" sz="1800" b="1" dirty="0">
                <a:latin typeface="Times New Roman" panose="02020603050405020304" pitchFamily="18" charset="0"/>
                <a:cs typeface="Times New Roman" panose="02020603050405020304" pitchFamily="18" charset="0"/>
              </a:rPr>
              <a:t>only once</a:t>
            </a:r>
            <a:r>
              <a:rPr lang="en-GB" sz="1800" dirty="0">
                <a:latin typeface="Times New Roman" panose="02020603050405020304" pitchFamily="18" charset="0"/>
                <a:cs typeface="Times New Roman" panose="02020603050405020304" pitchFamily="18" charset="0"/>
              </a:rPr>
              <a:t>, so there is </a:t>
            </a:r>
            <a:r>
              <a:rPr lang="en-GB" sz="1800" b="1" dirty="0">
                <a:latin typeface="Times New Roman" panose="02020603050405020304" pitchFamily="18" charset="0"/>
                <a:cs typeface="Times New Roman" panose="02020603050405020304" pitchFamily="18" charset="0"/>
              </a:rPr>
              <a:t>no mode</a:t>
            </a:r>
            <a:r>
              <a:rPr lang="en-GB" sz="1800" dirty="0">
                <a:latin typeface="Times New Roman" panose="02020603050405020304" pitchFamily="18" charset="0"/>
                <a:cs typeface="Times New Roman" panose="02020603050405020304" pitchFamily="18" charset="0"/>
              </a:rPr>
              <a:t>.</a:t>
            </a:r>
          </a:p>
          <a:p>
            <a:pPr marL="0" indent="0">
              <a:buNone/>
            </a:pPr>
            <a:endParaRPr lang="en-GB" sz="1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0CD824D-3065-0528-E84D-223DE5C9390F}"/>
              </a:ext>
            </a:extLst>
          </p:cNvPr>
          <p:cNvSpPr txBox="1"/>
          <p:nvPr/>
        </p:nvSpPr>
        <p:spPr>
          <a:xfrm>
            <a:off x="6096000" y="4484270"/>
            <a:ext cx="5872480" cy="2031325"/>
          </a:xfrm>
          <a:prstGeom prst="rect">
            <a:avLst/>
          </a:prstGeom>
          <a:noFill/>
        </p:spPr>
        <p:txBody>
          <a:bodyPr wrap="square">
            <a:spAutoFit/>
          </a:bodyPr>
          <a:lstStyle/>
          <a:p>
            <a:r>
              <a:rPr lang="en-GB" b="1" dirty="0">
                <a:latin typeface="Times New Roman" panose="02020603050405020304" pitchFamily="18" charset="0"/>
                <a:cs typeface="Times New Roman" panose="02020603050405020304" pitchFamily="18" charset="0"/>
              </a:rPr>
              <a:t>Multimodal Data Set</a:t>
            </a:r>
          </a:p>
          <a:p>
            <a:r>
              <a:rPr lang="en-GB" b="1" dirty="0">
                <a:latin typeface="Times New Roman" panose="02020603050405020304" pitchFamily="18" charset="0"/>
                <a:cs typeface="Times New Roman" panose="02020603050405020304" pitchFamily="18" charset="0"/>
              </a:rPr>
              <a:t>Example:</a:t>
            </a:r>
          </a:p>
          <a:p>
            <a:r>
              <a:rPr lang="en-GB" dirty="0">
                <a:latin typeface="Times New Roman" panose="02020603050405020304" pitchFamily="18" charset="0"/>
                <a:cs typeface="Times New Roman" panose="02020603050405020304" pitchFamily="18" charset="0"/>
              </a:rPr>
              <a:t>Consider the numbers:	1,2,2,3,3,4,4,5,6</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The numbers </a:t>
            </a:r>
            <a:r>
              <a:rPr lang="en-GB" b="1" dirty="0">
                <a:latin typeface="Times New Roman" panose="02020603050405020304" pitchFamily="18" charset="0"/>
                <a:cs typeface="Times New Roman" panose="02020603050405020304" pitchFamily="18" charset="0"/>
              </a:rPr>
              <a:t>2, 3, and 4</a:t>
            </a:r>
            <a:r>
              <a:rPr lang="en-GB" dirty="0">
                <a:latin typeface="Times New Roman" panose="02020603050405020304" pitchFamily="18" charset="0"/>
                <a:cs typeface="Times New Roman" panose="02020603050405020304" pitchFamily="18" charset="0"/>
              </a:rPr>
              <a:t> each appear </a:t>
            </a:r>
            <a:r>
              <a:rPr lang="en-GB" b="1" dirty="0">
                <a:latin typeface="Times New Roman" panose="02020603050405020304" pitchFamily="18" charset="0"/>
                <a:cs typeface="Times New Roman" panose="02020603050405020304" pitchFamily="18" charset="0"/>
              </a:rPr>
              <a:t>twice</a:t>
            </a:r>
            <a:r>
              <a:rPr lang="en-GB" dirty="0">
                <a:latin typeface="Times New Roman" panose="02020603050405020304" pitchFamily="18" charset="0"/>
                <a:cs typeface="Times New Roman" panose="02020603050405020304" pitchFamily="18" charset="0"/>
              </a:rPr>
              <a:t>, while others appear only once.</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Since there are </a:t>
            </a:r>
            <a:r>
              <a:rPr lang="en-GB" b="1" dirty="0">
                <a:latin typeface="Times New Roman" panose="02020603050405020304" pitchFamily="18" charset="0"/>
                <a:cs typeface="Times New Roman" panose="02020603050405020304" pitchFamily="18" charset="0"/>
              </a:rPr>
              <a:t>three modes</a:t>
            </a:r>
            <a:r>
              <a:rPr lang="en-GB" dirty="0">
                <a:latin typeface="Times New Roman" panose="02020603050405020304" pitchFamily="18" charset="0"/>
                <a:cs typeface="Times New Roman" panose="02020603050405020304" pitchFamily="18" charset="0"/>
              </a:rPr>
              <a:t>, this is a </a:t>
            </a:r>
            <a:r>
              <a:rPr lang="en-GB" b="1" dirty="0">
                <a:latin typeface="Times New Roman" panose="02020603050405020304" pitchFamily="18" charset="0"/>
                <a:cs typeface="Times New Roman" panose="02020603050405020304" pitchFamily="18" charset="0"/>
              </a:rPr>
              <a:t>multimodal data set</a:t>
            </a:r>
            <a:r>
              <a:rPr lang="en-GB"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Modes = 2, 3, and 4</a:t>
            </a:r>
            <a:endParaRPr lang="en-GB"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A370426-F05D-5BC5-5B03-15500133F6F7}"/>
              </a:ext>
            </a:extLst>
          </p:cNvPr>
          <p:cNvSpPr txBox="1"/>
          <p:nvPr/>
        </p:nvSpPr>
        <p:spPr>
          <a:xfrm>
            <a:off x="325120" y="294640"/>
            <a:ext cx="10129520" cy="2031325"/>
          </a:xfrm>
          <a:prstGeom prst="rect">
            <a:avLst/>
          </a:prstGeom>
          <a:noFill/>
        </p:spPr>
        <p:txBody>
          <a:bodyPr wrap="square">
            <a:spAutoFit/>
          </a:bodyPr>
          <a:lstStyle/>
          <a:p>
            <a:pPr marL="0" indent="0">
              <a:buNone/>
            </a:pPr>
            <a:r>
              <a:rPr lang="en-US" sz="1800" b="1" dirty="0">
                <a:latin typeface="Times New Roman" panose="02020603050405020304" pitchFamily="18" charset="0"/>
                <a:cs typeface="Times New Roman" panose="02020603050405020304" pitchFamily="18" charset="0"/>
              </a:rPr>
              <a:t>Mode</a:t>
            </a:r>
          </a:p>
          <a:p>
            <a:pPr marL="285750" indent="-285750">
              <a:buFont typeface="Arial" panose="020B0604020202020204" pitchFamily="34" charset="0"/>
              <a:buChar char="•"/>
            </a:pPr>
            <a:r>
              <a:rPr lang="en-GB" sz="1800" dirty="0">
                <a:latin typeface="Times New Roman" panose="02020603050405020304" pitchFamily="18" charset="0"/>
                <a:cs typeface="Times New Roman" panose="02020603050405020304" pitchFamily="18" charset="0"/>
              </a:rPr>
              <a:t>The </a:t>
            </a:r>
            <a:r>
              <a:rPr lang="en-GB" sz="1800" b="1" dirty="0">
                <a:latin typeface="Times New Roman" panose="02020603050405020304" pitchFamily="18" charset="0"/>
                <a:cs typeface="Times New Roman" panose="02020603050405020304" pitchFamily="18" charset="0"/>
              </a:rPr>
              <a:t>mode</a:t>
            </a:r>
            <a:r>
              <a:rPr lang="en-GB" sz="1800" dirty="0">
                <a:latin typeface="Times New Roman" panose="02020603050405020304" pitchFamily="18" charset="0"/>
                <a:cs typeface="Times New Roman" panose="02020603050405020304" pitchFamily="18" charset="0"/>
              </a:rPr>
              <a:t> is the value that appears most frequently in a data set.</a:t>
            </a:r>
          </a:p>
          <a:p>
            <a:pPr marL="0" indent="0">
              <a:buNone/>
            </a:pPr>
            <a:r>
              <a:rPr lang="en-GB" sz="1800" b="1" dirty="0">
                <a:latin typeface="Times New Roman" panose="02020603050405020304" pitchFamily="18" charset="0"/>
                <a:cs typeface="Times New Roman" panose="02020603050405020304" pitchFamily="18" charset="0"/>
              </a:rPr>
              <a:t>Types of Mode:</a:t>
            </a:r>
          </a:p>
          <a:p>
            <a:pPr lvl="1">
              <a:buFont typeface="+mj-lt"/>
              <a:buAutoNum type="arabicPeriod"/>
            </a:pPr>
            <a:r>
              <a:rPr lang="en-GB" sz="1800" b="1" dirty="0">
                <a:latin typeface="Times New Roman" panose="02020603050405020304" pitchFamily="18" charset="0"/>
                <a:cs typeface="Times New Roman" panose="02020603050405020304" pitchFamily="18" charset="0"/>
              </a:rPr>
              <a:t>Unimodal:</a:t>
            </a:r>
            <a:r>
              <a:rPr lang="en-GB" sz="1800" dirty="0">
                <a:latin typeface="Times New Roman" panose="02020603050405020304" pitchFamily="18" charset="0"/>
                <a:cs typeface="Times New Roman" panose="02020603050405020304" pitchFamily="18" charset="0"/>
              </a:rPr>
              <a:t> A data set with </a:t>
            </a:r>
            <a:r>
              <a:rPr lang="en-GB" sz="1800" b="1" dirty="0">
                <a:latin typeface="Times New Roman" panose="02020603050405020304" pitchFamily="18" charset="0"/>
                <a:cs typeface="Times New Roman" panose="02020603050405020304" pitchFamily="18" charset="0"/>
              </a:rPr>
              <a:t>one</a:t>
            </a:r>
            <a:r>
              <a:rPr lang="en-GB" sz="1800" dirty="0">
                <a:latin typeface="Times New Roman" panose="02020603050405020304" pitchFamily="18" charset="0"/>
                <a:cs typeface="Times New Roman" panose="02020603050405020304" pitchFamily="18" charset="0"/>
              </a:rPr>
              <a:t> mode (one most frequent value).</a:t>
            </a:r>
          </a:p>
          <a:p>
            <a:pPr lvl="1">
              <a:buFont typeface="+mj-lt"/>
              <a:buAutoNum type="arabicPeriod"/>
            </a:pPr>
            <a:r>
              <a:rPr lang="en-GB" sz="1800" b="1" dirty="0">
                <a:latin typeface="Times New Roman" panose="02020603050405020304" pitchFamily="18" charset="0"/>
                <a:cs typeface="Times New Roman" panose="02020603050405020304" pitchFamily="18" charset="0"/>
              </a:rPr>
              <a:t>Bimodal:</a:t>
            </a:r>
            <a:r>
              <a:rPr lang="en-GB" sz="1800" dirty="0">
                <a:latin typeface="Times New Roman" panose="02020603050405020304" pitchFamily="18" charset="0"/>
                <a:cs typeface="Times New Roman" panose="02020603050405020304" pitchFamily="18" charset="0"/>
              </a:rPr>
              <a:t> A data set with </a:t>
            </a:r>
            <a:r>
              <a:rPr lang="en-GB" sz="1800" b="1" dirty="0">
                <a:latin typeface="Times New Roman" panose="02020603050405020304" pitchFamily="18" charset="0"/>
                <a:cs typeface="Times New Roman" panose="02020603050405020304" pitchFamily="18" charset="0"/>
              </a:rPr>
              <a:t>two</a:t>
            </a:r>
            <a:r>
              <a:rPr lang="en-GB" sz="1800" dirty="0">
                <a:latin typeface="Times New Roman" panose="02020603050405020304" pitchFamily="18" charset="0"/>
                <a:cs typeface="Times New Roman" panose="02020603050405020304" pitchFamily="18" charset="0"/>
              </a:rPr>
              <a:t> modes (two values that appear most frequently).</a:t>
            </a:r>
          </a:p>
          <a:p>
            <a:pPr lvl="1">
              <a:buFont typeface="+mj-lt"/>
              <a:buAutoNum type="arabicPeriod"/>
            </a:pPr>
            <a:r>
              <a:rPr lang="en-GB" sz="1800" b="1" dirty="0">
                <a:latin typeface="Times New Roman" panose="02020603050405020304" pitchFamily="18" charset="0"/>
                <a:cs typeface="Times New Roman" panose="02020603050405020304" pitchFamily="18" charset="0"/>
              </a:rPr>
              <a:t>Multimodal:</a:t>
            </a:r>
            <a:r>
              <a:rPr lang="en-GB" sz="1800" dirty="0">
                <a:latin typeface="Times New Roman" panose="02020603050405020304" pitchFamily="18" charset="0"/>
                <a:cs typeface="Times New Roman" panose="02020603050405020304" pitchFamily="18" charset="0"/>
              </a:rPr>
              <a:t> A data set with </a:t>
            </a:r>
            <a:r>
              <a:rPr lang="en-GB" sz="1800" b="1" dirty="0">
                <a:latin typeface="Times New Roman" panose="02020603050405020304" pitchFamily="18" charset="0"/>
                <a:cs typeface="Times New Roman" panose="02020603050405020304" pitchFamily="18" charset="0"/>
              </a:rPr>
              <a:t>three or more</a:t>
            </a:r>
            <a:r>
              <a:rPr lang="en-GB" sz="1800" dirty="0">
                <a:latin typeface="Times New Roman" panose="02020603050405020304" pitchFamily="18" charset="0"/>
                <a:cs typeface="Times New Roman" panose="02020603050405020304" pitchFamily="18" charset="0"/>
              </a:rPr>
              <a:t> modes.</a:t>
            </a:r>
          </a:p>
          <a:p>
            <a:pPr lvl="1">
              <a:buFont typeface="+mj-lt"/>
              <a:buAutoNum type="arabicPeriod"/>
            </a:pPr>
            <a:r>
              <a:rPr lang="en-GB" sz="1800" b="1" dirty="0">
                <a:latin typeface="Times New Roman" panose="02020603050405020304" pitchFamily="18" charset="0"/>
                <a:cs typeface="Times New Roman" panose="02020603050405020304" pitchFamily="18" charset="0"/>
              </a:rPr>
              <a:t>No Mode:</a:t>
            </a:r>
            <a:r>
              <a:rPr lang="en-GB" sz="1800" dirty="0">
                <a:latin typeface="Times New Roman" panose="02020603050405020304" pitchFamily="18" charset="0"/>
                <a:cs typeface="Times New Roman" panose="02020603050405020304" pitchFamily="18" charset="0"/>
              </a:rPr>
              <a:t> If all values occur with the same frequency, the data set has </a:t>
            </a:r>
            <a:r>
              <a:rPr lang="en-GB" sz="1800" b="1" dirty="0">
                <a:latin typeface="Times New Roman" panose="02020603050405020304" pitchFamily="18" charset="0"/>
                <a:cs typeface="Times New Roman" panose="02020603050405020304" pitchFamily="18" charset="0"/>
              </a:rPr>
              <a:t>no mode</a:t>
            </a:r>
            <a:r>
              <a:rPr lang="en-GB"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516086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678DE-EB83-88DA-9355-D8AADE6B62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264C68-C019-2BEF-D86D-CE490C7D455E}"/>
              </a:ext>
            </a:extLst>
          </p:cNvPr>
          <p:cNvSpPr>
            <a:spLocks noGrp="1"/>
          </p:cNvSpPr>
          <p:nvPr>
            <p:ph idx="1"/>
          </p:nvPr>
        </p:nvSpPr>
        <p:spPr>
          <a:xfrm>
            <a:off x="132080" y="152400"/>
            <a:ext cx="11927840" cy="6532880"/>
          </a:xfrm>
        </p:spPr>
        <p:txBody>
          <a:bodyPr>
            <a:normAutofit/>
          </a:bodyPr>
          <a:lstStyle/>
          <a:p>
            <a:pPr marL="0" indent="0">
              <a:buNone/>
            </a:pPr>
            <a:r>
              <a:rPr lang="en-GB" sz="2000" b="1" dirty="0">
                <a:latin typeface="Times New Roman" panose="02020603050405020304" pitchFamily="18" charset="0"/>
                <a:cs typeface="Times New Roman" panose="02020603050405020304" pitchFamily="18" charset="0"/>
              </a:rPr>
              <a:t>Measuring the Dispersion of Data: Dispersion</a:t>
            </a:r>
            <a:r>
              <a:rPr lang="en-GB" sz="2000" dirty="0">
                <a:latin typeface="Times New Roman" panose="02020603050405020304" pitchFamily="18" charset="0"/>
                <a:cs typeface="Times New Roman" panose="02020603050405020304" pitchFamily="18" charset="0"/>
              </a:rPr>
              <a:t> refers to the </a:t>
            </a:r>
            <a:r>
              <a:rPr lang="en-GB" sz="2000" b="1" dirty="0">
                <a:latin typeface="Times New Roman" panose="02020603050405020304" pitchFamily="18" charset="0"/>
                <a:cs typeface="Times New Roman" panose="02020603050405020304" pitchFamily="18" charset="0"/>
              </a:rPr>
              <a:t>spread</a:t>
            </a:r>
            <a:r>
              <a:rPr lang="en-GB" sz="2000" dirty="0">
                <a:latin typeface="Times New Roman" panose="02020603050405020304" pitchFamily="18" charset="0"/>
                <a:cs typeface="Times New Roman" panose="02020603050405020304" pitchFamily="18" charset="0"/>
              </a:rPr>
              <a:t> of data points around a central value (mean, median, or mode). It helps us understand how much the data varies.</a:t>
            </a:r>
          </a:p>
          <a:p>
            <a:pPr marL="0" indent="0">
              <a:buNone/>
            </a:pPr>
            <a:r>
              <a:rPr lang="en-GB" sz="2000" b="1" dirty="0">
                <a:solidFill>
                  <a:srgbClr val="FF0000"/>
                </a:solidFill>
                <a:latin typeface="Times New Roman" panose="02020603050405020304" pitchFamily="18" charset="0"/>
                <a:cs typeface="Times New Roman" panose="02020603050405020304" pitchFamily="18" charset="0"/>
              </a:rPr>
              <a:t>Range</a:t>
            </a:r>
            <a:r>
              <a:rPr lang="en-GB" sz="2000" dirty="0">
                <a:latin typeface="Times New Roman" panose="02020603050405020304" pitchFamily="18" charset="0"/>
                <a:cs typeface="Times New Roman" panose="02020603050405020304" pitchFamily="18" charset="0"/>
              </a:rPr>
              <a:t> – Difference between the maximum and minimum values.</a:t>
            </a:r>
          </a:p>
          <a:p>
            <a:pPr marL="0" indent="0">
              <a:buNone/>
            </a:pPr>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Range=Max−Min</a:t>
            </a:r>
          </a:p>
          <a:p>
            <a:pPr marL="0" indent="0">
              <a:buNone/>
            </a:pPr>
            <a:r>
              <a:rPr lang="en-GB" sz="2000" b="1" dirty="0">
                <a:latin typeface="Times New Roman" panose="02020603050405020304" pitchFamily="18" charset="0"/>
                <a:cs typeface="Times New Roman" panose="02020603050405020304" pitchFamily="18" charset="0"/>
              </a:rPr>
              <a:t>Example:</a:t>
            </a:r>
            <a:r>
              <a:rPr lang="en-GB" sz="2000" dirty="0">
                <a:latin typeface="Times New Roman" panose="02020603050405020304" pitchFamily="18" charset="0"/>
                <a:cs typeface="Times New Roman" panose="02020603050405020304" pitchFamily="18" charset="0"/>
              </a:rPr>
              <a:t> If the test scores are </a:t>
            </a:r>
            <a:r>
              <a:rPr lang="en-GB" sz="2000" b="1" dirty="0">
                <a:latin typeface="Times New Roman" panose="02020603050405020304" pitchFamily="18" charset="0"/>
                <a:cs typeface="Times New Roman" panose="02020603050405020304" pitchFamily="18" charset="0"/>
              </a:rPr>
              <a:t>45, 50, 60, 70, 80</a:t>
            </a:r>
            <a:r>
              <a:rPr lang="en-GB" sz="2000" dirty="0">
                <a:latin typeface="Times New Roman" panose="02020603050405020304" pitchFamily="18" charset="0"/>
                <a:cs typeface="Times New Roman" panose="02020603050405020304" pitchFamily="18" charset="0"/>
              </a:rPr>
              <a:t>,</a:t>
            </a:r>
            <a:br>
              <a:rPr lang="en-GB" sz="2000" dirty="0">
                <a:latin typeface="Times New Roman" panose="02020603050405020304" pitchFamily="18" charset="0"/>
                <a:cs typeface="Times New Roman" panose="02020603050405020304" pitchFamily="18" charset="0"/>
              </a:rPr>
            </a:br>
            <a:r>
              <a:rPr lang="en-GB" sz="2000" b="1" dirty="0">
                <a:latin typeface="Times New Roman" panose="02020603050405020304" pitchFamily="18" charset="0"/>
                <a:cs typeface="Times New Roman" panose="02020603050405020304" pitchFamily="18" charset="0"/>
              </a:rPr>
              <a:t>Range = 80 - 45 = 35</a:t>
            </a:r>
            <a:r>
              <a:rPr lang="en-GB" sz="2000" dirty="0">
                <a:latin typeface="Times New Roman" panose="02020603050405020304" pitchFamily="18" charset="0"/>
                <a:cs typeface="Times New Roman" panose="02020603050405020304" pitchFamily="18" charset="0"/>
              </a:rPr>
              <a:t>.</a:t>
            </a:r>
          </a:p>
          <a:p>
            <a:pPr marL="0" indent="0">
              <a:buNone/>
            </a:pPr>
            <a:r>
              <a:rPr lang="en-GB" sz="2000" b="1" dirty="0">
                <a:solidFill>
                  <a:srgbClr val="FF0000"/>
                </a:solidFill>
                <a:latin typeface="Times New Roman" panose="02020603050405020304" pitchFamily="18" charset="0"/>
                <a:cs typeface="Times New Roman" panose="02020603050405020304" pitchFamily="18" charset="0"/>
              </a:rPr>
              <a:t>Variance</a:t>
            </a:r>
            <a:r>
              <a:rPr lang="en-GB" sz="2000" b="1" dirty="0">
                <a:latin typeface="Times New Roman" panose="02020603050405020304" pitchFamily="18" charset="0"/>
                <a:cs typeface="Times New Roman" panose="02020603050405020304" pitchFamily="18" charset="0"/>
              </a:rPr>
              <a:t> (</a:t>
            </a:r>
            <a:r>
              <a:rPr lang="en-GB" sz="2000" b="1" kern="100" dirty="0">
                <a:effectLst/>
                <a:latin typeface="Times New Roman" panose="02020603050405020304" pitchFamily="18" charset="0"/>
                <a:ea typeface="Calibri" panose="020F0502020204030204" pitchFamily="34" charset="0"/>
                <a:cs typeface="Times New Roman" panose="02020603050405020304" pitchFamily="18" charset="0"/>
              </a:rPr>
              <a:t>σ</a:t>
            </a:r>
            <a:r>
              <a:rPr lang="en-GB" sz="2000" b="1" kern="100" baseline="30000" dirty="0">
                <a:effectLst/>
                <a:latin typeface="Times New Roman" panose="02020603050405020304" pitchFamily="18" charset="0"/>
                <a:ea typeface="Calibri" panose="020F0502020204030204" pitchFamily="34" charset="0"/>
                <a:cs typeface="Times New Roman" panose="02020603050405020304" pitchFamily="18" charset="0"/>
              </a:rPr>
              <a:t>2 </a:t>
            </a:r>
            <a:r>
              <a:rPr lang="en-GB" sz="2000" b="1" kern="100" dirty="0">
                <a:effectLst/>
                <a:latin typeface="Times New Roman" panose="02020603050405020304" pitchFamily="18" charset="0"/>
                <a:ea typeface="Calibri" panose="020F0502020204030204" pitchFamily="34" charset="0"/>
                <a:cs typeface="Times New Roman" panose="02020603050405020304" pitchFamily="18" charset="0"/>
              </a:rPr>
              <a:t>or s</a:t>
            </a:r>
            <a:r>
              <a:rPr lang="en-GB" sz="2000" b="1" kern="100"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n-GB" sz="2000" b="1" dirty="0">
                <a:latin typeface="Times New Roman" panose="02020603050405020304" pitchFamily="18" charset="0"/>
                <a:cs typeface="Times New Roman" panose="02020603050405020304" pitchFamily="18" charset="0"/>
              </a:rPr>
              <a:t>):</a:t>
            </a:r>
          </a:p>
          <a:p>
            <a:r>
              <a:rPr lang="en-GB" sz="2000" dirty="0">
                <a:latin typeface="Times New Roman" panose="02020603050405020304" pitchFamily="18" charset="0"/>
                <a:cs typeface="Times New Roman" panose="02020603050405020304" pitchFamily="18" charset="0"/>
              </a:rPr>
              <a:t>The variance is a measure of variability that utilizes all the data. </a:t>
            </a:r>
          </a:p>
          <a:p>
            <a:r>
              <a:rPr lang="en-GB" sz="2000" dirty="0">
                <a:latin typeface="Times New Roman" panose="02020603050405020304" pitchFamily="18" charset="0"/>
                <a:cs typeface="Times New Roman" panose="02020603050405020304" pitchFamily="18" charset="0"/>
              </a:rPr>
              <a:t>It is based on the difference between the value of each observation (x) and the mean (   ) for a sample, </a:t>
            </a:r>
            <a:r>
              <a:rPr lang="el-GR" sz="2000" dirty="0">
                <a:latin typeface="Times New Roman" panose="02020603050405020304" pitchFamily="18" charset="0"/>
                <a:cs typeface="Times New Roman" panose="02020603050405020304" pitchFamily="18" charset="0"/>
              </a:rPr>
              <a:t>μ</a:t>
            </a:r>
            <a:r>
              <a:rPr lang="en-GB" sz="2000" dirty="0">
                <a:latin typeface="Times New Roman" panose="02020603050405020304" pitchFamily="18" charset="0"/>
                <a:cs typeface="Times New Roman" panose="02020603050405020304" pitchFamily="18" charset="0"/>
              </a:rPr>
              <a:t> for a population).</a:t>
            </a:r>
          </a:p>
          <a:p>
            <a:r>
              <a:rPr lang="en-GB" sz="2000" dirty="0">
                <a:latin typeface="Times New Roman" panose="02020603050405020304" pitchFamily="18" charset="0"/>
                <a:cs typeface="Times New Roman" panose="02020603050405020304" pitchFamily="18" charset="0"/>
              </a:rPr>
              <a:t>The variance is the average of the squared between each data value and the mean.</a:t>
            </a:r>
          </a:p>
          <a:p>
            <a:pPr marL="0" indent="0">
              <a:buNone/>
            </a:pPr>
            <a:endParaRPr lang="en-GB"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3E81CD0-5BE4-99D6-8C88-846D8C30C149}"/>
              </a:ext>
            </a:extLst>
          </p:cNvPr>
          <p:cNvPicPr>
            <a:picLocks noChangeAspect="1"/>
          </p:cNvPicPr>
          <p:nvPr/>
        </p:nvPicPr>
        <p:blipFill>
          <a:blip r:embed="rId2"/>
          <a:stretch>
            <a:fillRect/>
          </a:stretch>
        </p:blipFill>
        <p:spPr>
          <a:xfrm>
            <a:off x="9124304" y="2851468"/>
            <a:ext cx="270515" cy="306583"/>
          </a:xfrm>
          <a:prstGeom prst="rect">
            <a:avLst/>
          </a:prstGeom>
        </p:spPr>
      </p:pic>
      <p:grpSp>
        <p:nvGrpSpPr>
          <p:cNvPr id="21" name="Group 20">
            <a:extLst>
              <a:ext uri="{FF2B5EF4-FFF2-40B4-BE49-F238E27FC236}">
                <a16:creationId xmlns:a16="http://schemas.microsoft.com/office/drawing/2014/main" id="{DAA70ACF-F61B-3D2F-60E4-DCACEAB4CE6B}"/>
              </a:ext>
            </a:extLst>
          </p:cNvPr>
          <p:cNvGrpSpPr/>
          <p:nvPr/>
        </p:nvGrpSpPr>
        <p:grpSpPr>
          <a:xfrm>
            <a:off x="241072" y="1344079"/>
            <a:ext cx="11463248" cy="5341201"/>
            <a:chOff x="281712" y="1364399"/>
            <a:chExt cx="10781568" cy="5341201"/>
          </a:xfrm>
        </p:grpSpPr>
        <p:pic>
          <p:nvPicPr>
            <p:cNvPr id="2051" name="Picture 3">
              <a:extLst>
                <a:ext uri="{FF2B5EF4-FFF2-40B4-BE49-F238E27FC236}">
                  <a16:creationId xmlns:a16="http://schemas.microsoft.com/office/drawing/2014/main" id="{39F239A7-71F7-2631-7DE5-8D22AFB3C28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7838116" y="1364399"/>
              <a:ext cx="2619375" cy="101917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7E66088E-B031-0FBD-E205-F4C94D0AE5DD}"/>
                </a:ext>
              </a:extLst>
            </p:cNvPr>
            <p:cNvPicPr>
              <a:picLocks noChangeAspect="1"/>
            </p:cNvPicPr>
            <p:nvPr/>
          </p:nvPicPr>
          <p:blipFill>
            <a:blip r:embed="rId5"/>
            <a:stretch>
              <a:fillRect/>
            </a:stretch>
          </p:blipFill>
          <p:spPr>
            <a:xfrm>
              <a:off x="281712" y="4366057"/>
              <a:ext cx="5227773" cy="2339543"/>
            </a:xfrm>
            <a:prstGeom prst="rect">
              <a:avLst/>
            </a:prstGeom>
          </p:spPr>
        </p:pic>
        <p:pic>
          <p:nvPicPr>
            <p:cNvPr id="18" name="Picture 17">
              <a:extLst>
                <a:ext uri="{FF2B5EF4-FFF2-40B4-BE49-F238E27FC236}">
                  <a16:creationId xmlns:a16="http://schemas.microsoft.com/office/drawing/2014/main" id="{8F7B6EFB-9CA8-A104-B04D-AF0FD86C127A}"/>
                </a:ext>
              </a:extLst>
            </p:cNvPr>
            <p:cNvPicPr>
              <a:picLocks noChangeAspect="1"/>
            </p:cNvPicPr>
            <p:nvPr/>
          </p:nvPicPr>
          <p:blipFill>
            <a:blip r:embed="rId6"/>
            <a:stretch>
              <a:fillRect/>
            </a:stretch>
          </p:blipFill>
          <p:spPr>
            <a:xfrm>
              <a:off x="6506125" y="4366057"/>
              <a:ext cx="4557155" cy="1958510"/>
            </a:xfrm>
            <a:prstGeom prst="rect">
              <a:avLst/>
            </a:prstGeom>
          </p:spPr>
        </p:pic>
      </p:grpSp>
      <p:pic>
        <p:nvPicPr>
          <p:cNvPr id="20" name="Picture 19">
            <a:extLst>
              <a:ext uri="{FF2B5EF4-FFF2-40B4-BE49-F238E27FC236}">
                <a16:creationId xmlns:a16="http://schemas.microsoft.com/office/drawing/2014/main" id="{8263F717-67CC-373A-414A-13C2344B0AB7}"/>
              </a:ext>
            </a:extLst>
          </p:cNvPr>
          <p:cNvPicPr>
            <a:picLocks noChangeAspect="1"/>
          </p:cNvPicPr>
          <p:nvPr/>
        </p:nvPicPr>
        <p:blipFill>
          <a:blip r:embed="rId7"/>
          <a:stretch>
            <a:fillRect/>
          </a:stretch>
        </p:blipFill>
        <p:spPr>
          <a:xfrm>
            <a:off x="2553901" y="1679659"/>
            <a:ext cx="1577477" cy="388654"/>
          </a:xfrm>
          <a:prstGeom prst="rect">
            <a:avLst/>
          </a:prstGeom>
        </p:spPr>
      </p:pic>
    </p:spTree>
    <p:extLst>
      <p:ext uri="{BB962C8B-B14F-4D97-AF65-F5344CB8AC3E}">
        <p14:creationId xmlns:p14="http://schemas.microsoft.com/office/powerpoint/2010/main" val="8511325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BCCEC-2738-E15B-BFFA-1DBD9EE4CA91}"/>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1166B229-4935-FC18-5F40-6E15E8AC2FD9}"/>
              </a:ext>
            </a:extLst>
          </p:cNvPr>
          <p:cNvGrpSpPr/>
          <p:nvPr/>
        </p:nvGrpSpPr>
        <p:grpSpPr>
          <a:xfrm>
            <a:off x="81280" y="106680"/>
            <a:ext cx="11793463" cy="6538239"/>
            <a:chOff x="81280" y="106680"/>
            <a:chExt cx="11793463" cy="6538239"/>
          </a:xfrm>
        </p:grpSpPr>
        <p:pic>
          <p:nvPicPr>
            <p:cNvPr id="10" name="Picture 9">
              <a:extLst>
                <a:ext uri="{FF2B5EF4-FFF2-40B4-BE49-F238E27FC236}">
                  <a16:creationId xmlns:a16="http://schemas.microsoft.com/office/drawing/2014/main" id="{327DCA97-1ECE-EAB0-CFCF-E49CA1770157}"/>
                </a:ext>
              </a:extLst>
            </p:cNvPr>
            <p:cNvPicPr>
              <a:picLocks noChangeAspect="1"/>
            </p:cNvPicPr>
            <p:nvPr/>
          </p:nvPicPr>
          <p:blipFill>
            <a:blip r:embed="rId2"/>
            <a:stretch>
              <a:fillRect/>
            </a:stretch>
          </p:blipFill>
          <p:spPr>
            <a:xfrm>
              <a:off x="193040" y="106680"/>
              <a:ext cx="4816257" cy="1577477"/>
            </a:xfrm>
            <a:prstGeom prst="rect">
              <a:avLst/>
            </a:prstGeom>
          </p:spPr>
        </p:pic>
        <p:pic>
          <p:nvPicPr>
            <p:cNvPr id="12" name="Picture 11">
              <a:extLst>
                <a:ext uri="{FF2B5EF4-FFF2-40B4-BE49-F238E27FC236}">
                  <a16:creationId xmlns:a16="http://schemas.microsoft.com/office/drawing/2014/main" id="{B581383C-1C39-868F-66D3-4EB1939F5D44}"/>
                </a:ext>
              </a:extLst>
            </p:cNvPr>
            <p:cNvPicPr>
              <a:picLocks noChangeAspect="1"/>
            </p:cNvPicPr>
            <p:nvPr/>
          </p:nvPicPr>
          <p:blipFill>
            <a:blip r:embed="rId3"/>
            <a:stretch>
              <a:fillRect/>
            </a:stretch>
          </p:blipFill>
          <p:spPr>
            <a:xfrm>
              <a:off x="193040" y="1976142"/>
              <a:ext cx="5425910" cy="1074513"/>
            </a:xfrm>
            <a:prstGeom prst="rect">
              <a:avLst/>
            </a:prstGeom>
          </p:spPr>
        </p:pic>
        <p:pic>
          <p:nvPicPr>
            <p:cNvPr id="14" name="Picture 13">
              <a:extLst>
                <a:ext uri="{FF2B5EF4-FFF2-40B4-BE49-F238E27FC236}">
                  <a16:creationId xmlns:a16="http://schemas.microsoft.com/office/drawing/2014/main" id="{7A687715-8A6C-7C71-2D4D-0E1EB6136CEB}"/>
                </a:ext>
              </a:extLst>
            </p:cNvPr>
            <p:cNvPicPr>
              <a:picLocks noChangeAspect="1"/>
            </p:cNvPicPr>
            <p:nvPr/>
          </p:nvPicPr>
          <p:blipFill>
            <a:blip r:embed="rId4"/>
            <a:stretch>
              <a:fillRect/>
            </a:stretch>
          </p:blipFill>
          <p:spPr>
            <a:xfrm>
              <a:off x="81280" y="3429000"/>
              <a:ext cx="7323455" cy="3215919"/>
            </a:xfrm>
            <a:prstGeom prst="rect">
              <a:avLst/>
            </a:prstGeom>
          </p:spPr>
        </p:pic>
        <p:pic>
          <p:nvPicPr>
            <p:cNvPr id="4" name="Picture 3">
              <a:extLst>
                <a:ext uri="{FF2B5EF4-FFF2-40B4-BE49-F238E27FC236}">
                  <a16:creationId xmlns:a16="http://schemas.microsoft.com/office/drawing/2014/main" id="{E75B9D87-602F-783B-37D1-B2BD7E83BA38}"/>
                </a:ext>
              </a:extLst>
            </p:cNvPr>
            <p:cNvPicPr>
              <a:picLocks noChangeAspect="1"/>
            </p:cNvPicPr>
            <p:nvPr/>
          </p:nvPicPr>
          <p:blipFill>
            <a:blip r:embed="rId5"/>
            <a:stretch>
              <a:fillRect/>
            </a:stretch>
          </p:blipFill>
          <p:spPr>
            <a:xfrm>
              <a:off x="6250696" y="397412"/>
              <a:ext cx="5624047" cy="2263336"/>
            </a:xfrm>
            <a:prstGeom prst="rect">
              <a:avLst/>
            </a:prstGeom>
          </p:spPr>
        </p:pic>
      </p:grpSp>
      <p:sp>
        <p:nvSpPr>
          <p:cNvPr id="6" name="TextBox 5">
            <a:extLst>
              <a:ext uri="{FF2B5EF4-FFF2-40B4-BE49-F238E27FC236}">
                <a16:creationId xmlns:a16="http://schemas.microsoft.com/office/drawing/2014/main" id="{350FC75A-EE55-96F1-C8AF-970051FB05A7}"/>
              </a:ext>
            </a:extLst>
          </p:cNvPr>
          <p:cNvSpPr txBox="1"/>
          <p:nvPr/>
        </p:nvSpPr>
        <p:spPr>
          <a:xfrm>
            <a:off x="7404735" y="3482260"/>
            <a:ext cx="3639185" cy="1015663"/>
          </a:xfrm>
          <a:prstGeom prst="rect">
            <a:avLst/>
          </a:prstGeom>
          <a:noFill/>
        </p:spPr>
        <p:txBody>
          <a:bodyPr wrap="square">
            <a:spAutoFit/>
          </a:bodyPr>
          <a:lstStyle/>
          <a:p>
            <a:r>
              <a:rPr lang="en-GB" sz="2000" b="1" dirty="0">
                <a:latin typeface="Times New Roman" panose="02020603050405020304" pitchFamily="18" charset="0"/>
                <a:cs typeface="Times New Roman" panose="02020603050405020304" pitchFamily="18" charset="0"/>
              </a:rPr>
              <a:t>Final Answer:</a:t>
            </a:r>
          </a:p>
          <a:p>
            <a:pPr lvl="1"/>
            <a:r>
              <a:rPr lang="en-GB" sz="2000" b="1" dirty="0">
                <a:latin typeface="Times New Roman" panose="02020603050405020304" pitchFamily="18" charset="0"/>
                <a:cs typeface="Times New Roman" panose="02020603050405020304" pitchFamily="18" charset="0"/>
              </a:rPr>
              <a:t>Population Variance</a:t>
            </a:r>
            <a:r>
              <a:rPr lang="en-GB" sz="2000" dirty="0">
                <a:latin typeface="Times New Roman" panose="02020603050405020304" pitchFamily="18" charset="0"/>
                <a:cs typeface="Times New Roman" panose="02020603050405020304" pitchFamily="18" charset="0"/>
              </a:rPr>
              <a:t> = </a:t>
            </a:r>
            <a:r>
              <a:rPr lang="en-GB" sz="2000" b="1" dirty="0">
                <a:latin typeface="Times New Roman" panose="02020603050405020304" pitchFamily="18" charset="0"/>
                <a:cs typeface="Times New Roman" panose="02020603050405020304" pitchFamily="18" charset="0"/>
              </a:rPr>
              <a:t>200</a:t>
            </a:r>
            <a:endParaRPr lang="en-GB" sz="2000" dirty="0">
              <a:latin typeface="Times New Roman" panose="02020603050405020304" pitchFamily="18" charset="0"/>
              <a:cs typeface="Times New Roman" panose="02020603050405020304" pitchFamily="18" charset="0"/>
            </a:endParaRPr>
          </a:p>
          <a:p>
            <a:pPr lvl="1"/>
            <a:r>
              <a:rPr lang="en-GB" sz="2000" b="1" dirty="0">
                <a:latin typeface="Times New Roman" panose="02020603050405020304" pitchFamily="18" charset="0"/>
                <a:cs typeface="Times New Roman" panose="02020603050405020304" pitchFamily="18" charset="0"/>
              </a:rPr>
              <a:t>Sample Variance</a:t>
            </a:r>
            <a:r>
              <a:rPr lang="en-GB" sz="2000" dirty="0">
                <a:latin typeface="Times New Roman" panose="02020603050405020304" pitchFamily="18" charset="0"/>
                <a:cs typeface="Times New Roman" panose="02020603050405020304" pitchFamily="18" charset="0"/>
              </a:rPr>
              <a:t> = </a:t>
            </a:r>
            <a:r>
              <a:rPr lang="en-GB" sz="2000" b="1" dirty="0">
                <a:latin typeface="Times New Roman" panose="02020603050405020304" pitchFamily="18" charset="0"/>
                <a:cs typeface="Times New Roman" panose="02020603050405020304" pitchFamily="18" charset="0"/>
              </a:rPr>
              <a:t>250</a:t>
            </a:r>
            <a:endParaRPr lang="en-GB"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731E224-D9B9-185A-AC69-0F3AB764CECB}"/>
              </a:ext>
            </a:extLst>
          </p:cNvPr>
          <p:cNvPicPr>
            <a:picLocks noChangeAspect="1"/>
          </p:cNvPicPr>
          <p:nvPr/>
        </p:nvPicPr>
        <p:blipFill>
          <a:blip r:embed="rId6"/>
          <a:stretch>
            <a:fillRect/>
          </a:stretch>
        </p:blipFill>
        <p:spPr>
          <a:xfrm>
            <a:off x="3263781" y="2047284"/>
            <a:ext cx="1577477" cy="388654"/>
          </a:xfrm>
          <a:prstGeom prst="rect">
            <a:avLst/>
          </a:prstGeom>
        </p:spPr>
      </p:pic>
    </p:spTree>
    <p:extLst>
      <p:ext uri="{BB962C8B-B14F-4D97-AF65-F5344CB8AC3E}">
        <p14:creationId xmlns:p14="http://schemas.microsoft.com/office/powerpoint/2010/main" val="21420571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5A193-072E-AAEB-2EF1-361CA0A174E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F233590-5E84-93A9-C69C-717299D4454C}"/>
              </a:ext>
            </a:extLst>
          </p:cNvPr>
          <p:cNvPicPr>
            <a:picLocks noGrp="1" noChangeAspect="1"/>
          </p:cNvPicPr>
          <p:nvPr>
            <p:ph idx="1"/>
          </p:nvPr>
        </p:nvPicPr>
        <p:blipFill>
          <a:blip r:embed="rId2"/>
          <a:stretch>
            <a:fillRect/>
          </a:stretch>
        </p:blipFill>
        <p:spPr>
          <a:xfrm>
            <a:off x="272724" y="229522"/>
            <a:ext cx="7521592" cy="4366638"/>
          </a:xfrm>
        </p:spPr>
      </p:pic>
      <p:pic>
        <p:nvPicPr>
          <p:cNvPr id="6" name="Picture 5">
            <a:extLst>
              <a:ext uri="{FF2B5EF4-FFF2-40B4-BE49-F238E27FC236}">
                <a16:creationId xmlns:a16="http://schemas.microsoft.com/office/drawing/2014/main" id="{71375301-C0BE-1847-C78C-6E10A47CF33A}"/>
              </a:ext>
            </a:extLst>
          </p:cNvPr>
          <p:cNvPicPr>
            <a:picLocks noChangeAspect="1"/>
          </p:cNvPicPr>
          <p:nvPr/>
        </p:nvPicPr>
        <p:blipFill>
          <a:blip r:embed="rId3"/>
          <a:stretch>
            <a:fillRect/>
          </a:stretch>
        </p:blipFill>
        <p:spPr>
          <a:xfrm>
            <a:off x="807502" y="5364441"/>
            <a:ext cx="5029636" cy="883997"/>
          </a:xfrm>
          <a:prstGeom prst="rect">
            <a:avLst/>
          </a:prstGeom>
        </p:spPr>
      </p:pic>
    </p:spTree>
    <p:extLst>
      <p:ext uri="{BB962C8B-B14F-4D97-AF65-F5344CB8AC3E}">
        <p14:creationId xmlns:p14="http://schemas.microsoft.com/office/powerpoint/2010/main" val="37320953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CC98E-EF15-B061-F704-E935F5CB1C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E75845-0063-8A7B-A8B3-57B00A7AA3BC}"/>
              </a:ext>
            </a:extLst>
          </p:cNvPr>
          <p:cNvSpPr>
            <a:spLocks noGrp="1"/>
          </p:cNvSpPr>
          <p:nvPr>
            <p:ph idx="1"/>
          </p:nvPr>
        </p:nvSpPr>
        <p:spPr>
          <a:xfrm>
            <a:off x="132080" y="172720"/>
            <a:ext cx="11927840" cy="6532880"/>
          </a:xfrm>
        </p:spPr>
        <p:txBody>
          <a:bodyPr>
            <a:normAutofit/>
          </a:bodyPr>
          <a:lstStyle/>
          <a:p>
            <a:pPr marL="0" indent="0">
              <a:buNone/>
            </a:pPr>
            <a:r>
              <a:rPr lang="en-GB" sz="2000" b="1" dirty="0">
                <a:solidFill>
                  <a:srgbClr val="FF0000"/>
                </a:solidFill>
                <a:latin typeface="Times New Roman" panose="02020603050405020304" pitchFamily="18" charset="0"/>
                <a:cs typeface="Times New Roman" panose="02020603050405020304" pitchFamily="18" charset="0"/>
              </a:rPr>
              <a:t>Deviation</a:t>
            </a:r>
          </a:p>
          <a:p>
            <a:pPr marL="0" indent="0">
              <a:buNone/>
            </a:pPr>
            <a:r>
              <a:rPr lang="en-GB" sz="2000" b="1" dirty="0">
                <a:latin typeface="Times New Roman" panose="02020603050405020304" pitchFamily="18" charset="0"/>
                <a:cs typeface="Times New Roman" panose="02020603050405020304" pitchFamily="18" charset="0"/>
              </a:rPr>
              <a:t>Sample Standard Deviation (s)</a:t>
            </a:r>
          </a:p>
          <a:p>
            <a:r>
              <a:rPr lang="en-GB" sz="2000" dirty="0">
                <a:latin typeface="Times New Roman" panose="02020603050405020304" pitchFamily="18" charset="0"/>
                <a:cs typeface="Times New Roman" panose="02020603050405020304" pitchFamily="18" charset="0"/>
              </a:rPr>
              <a:t>The sample standard deviation (s) measures how much the values in a sample deviate from the mean. It is the </a:t>
            </a:r>
            <a:r>
              <a:rPr lang="en-GB" sz="2000" b="1" dirty="0">
                <a:latin typeface="Times New Roman" panose="02020603050405020304" pitchFamily="18" charset="0"/>
                <a:cs typeface="Times New Roman" panose="02020603050405020304" pitchFamily="18" charset="0"/>
              </a:rPr>
              <a:t>square root </a:t>
            </a:r>
            <a:r>
              <a:rPr lang="en-GB" sz="2000" dirty="0">
                <a:latin typeface="Times New Roman" panose="02020603050405020304" pitchFamily="18" charset="0"/>
                <a:cs typeface="Times New Roman" panose="02020603050405020304" pitchFamily="18" charset="0"/>
              </a:rPr>
              <a:t>of the </a:t>
            </a:r>
            <a:r>
              <a:rPr lang="en-GB" sz="2000" b="1" dirty="0">
                <a:latin typeface="Times New Roman" panose="02020603050405020304" pitchFamily="18" charset="0"/>
                <a:cs typeface="Times New Roman" panose="02020603050405020304" pitchFamily="18" charset="0"/>
              </a:rPr>
              <a:t>sample variance (</a:t>
            </a:r>
            <a:r>
              <a:rPr lang="en-GB" sz="2000" b="1" dirty="0">
                <a:effectLst/>
                <a:latin typeface="Times New Roman" panose="02020603050405020304" pitchFamily="18" charset="0"/>
                <a:ea typeface="Calibri" panose="020F0502020204030204" pitchFamily="34" charset="0"/>
                <a:cs typeface="Times New Roman" panose="02020603050405020304" pitchFamily="18" charset="0"/>
              </a:rPr>
              <a:t>s</a:t>
            </a:r>
            <a:r>
              <a:rPr lang="en-GB" sz="2000" b="1"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n-GB" sz="2000" b="1"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A05B6E88-AA62-6A9C-EEB0-299C3BBD619C}"/>
              </a:ext>
            </a:extLst>
          </p:cNvPr>
          <p:cNvPicPr>
            <a:picLocks noChangeAspect="1"/>
          </p:cNvPicPr>
          <p:nvPr/>
        </p:nvPicPr>
        <p:blipFill>
          <a:blip r:embed="rId2"/>
          <a:srcRect l="4769" t="-3179" b="1"/>
          <a:stretch/>
        </p:blipFill>
        <p:spPr>
          <a:xfrm>
            <a:off x="132080" y="1605280"/>
            <a:ext cx="4666405" cy="2099398"/>
          </a:xfrm>
          <a:prstGeom prst="rect">
            <a:avLst/>
          </a:prstGeom>
        </p:spPr>
      </p:pic>
      <p:pic>
        <p:nvPicPr>
          <p:cNvPr id="7" name="Content Placeholder 3">
            <a:extLst>
              <a:ext uri="{FF2B5EF4-FFF2-40B4-BE49-F238E27FC236}">
                <a16:creationId xmlns:a16="http://schemas.microsoft.com/office/drawing/2014/main" id="{A5AE23E8-621B-ABB8-3005-D6695B5A0905}"/>
              </a:ext>
            </a:extLst>
          </p:cNvPr>
          <p:cNvPicPr>
            <a:picLocks noChangeAspect="1"/>
          </p:cNvPicPr>
          <p:nvPr/>
        </p:nvPicPr>
        <p:blipFill>
          <a:blip r:embed="rId3"/>
          <a:stretch>
            <a:fillRect/>
          </a:stretch>
        </p:blipFill>
        <p:spPr>
          <a:xfrm>
            <a:off x="4798485" y="1376650"/>
            <a:ext cx="7445385" cy="4359018"/>
          </a:xfrm>
          <a:prstGeom prst="rect">
            <a:avLst/>
          </a:prstGeom>
        </p:spPr>
      </p:pic>
      <p:pic>
        <p:nvPicPr>
          <p:cNvPr id="8" name="Picture 7">
            <a:extLst>
              <a:ext uri="{FF2B5EF4-FFF2-40B4-BE49-F238E27FC236}">
                <a16:creationId xmlns:a16="http://schemas.microsoft.com/office/drawing/2014/main" id="{B0029D05-3CBC-B288-6950-36ABB7D1B65B}"/>
              </a:ext>
            </a:extLst>
          </p:cNvPr>
          <p:cNvPicPr>
            <a:picLocks noChangeAspect="1"/>
          </p:cNvPicPr>
          <p:nvPr/>
        </p:nvPicPr>
        <p:blipFill>
          <a:blip r:embed="rId4"/>
          <a:stretch>
            <a:fillRect/>
          </a:stretch>
        </p:blipFill>
        <p:spPr>
          <a:xfrm>
            <a:off x="132080" y="4424710"/>
            <a:ext cx="4666405" cy="1943268"/>
          </a:xfrm>
          <a:prstGeom prst="rect">
            <a:avLst/>
          </a:prstGeom>
        </p:spPr>
      </p:pic>
    </p:spTree>
    <p:extLst>
      <p:ext uri="{BB962C8B-B14F-4D97-AF65-F5344CB8AC3E}">
        <p14:creationId xmlns:p14="http://schemas.microsoft.com/office/powerpoint/2010/main" val="18703539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CE745-994D-9E6E-ADAB-E94EDF0037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A8637-0C8D-47C2-E4C3-EE3DE8898EB6}"/>
              </a:ext>
            </a:extLst>
          </p:cNvPr>
          <p:cNvSpPr>
            <a:spLocks noGrp="1"/>
          </p:cNvSpPr>
          <p:nvPr>
            <p:ph idx="1"/>
          </p:nvPr>
        </p:nvSpPr>
        <p:spPr>
          <a:xfrm>
            <a:off x="132080" y="152400"/>
            <a:ext cx="11927840" cy="6532880"/>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Population Standard Deviation (</a:t>
            </a:r>
            <a:r>
              <a:rPr lang="en-GB" sz="2000" dirty="0">
                <a:effectLst/>
                <a:latin typeface="Times New Roman" panose="02020603050405020304" pitchFamily="18" charset="0"/>
                <a:ea typeface="Calibri" panose="020F0502020204030204" pitchFamily="34" charset="0"/>
                <a:cs typeface="Times New Roman" panose="02020603050405020304" pitchFamily="18" charset="0"/>
              </a:rPr>
              <a:t>σ</a:t>
            </a:r>
            <a:r>
              <a:rPr lang="el-GR"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Calculation</a:t>
            </a:r>
          </a:p>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population standard deviation (</a:t>
            </a:r>
            <a:r>
              <a:rPr lang="el-GR" sz="2000" b="1" dirty="0">
                <a:latin typeface="Times New Roman" panose="02020603050405020304" pitchFamily="18" charset="0"/>
                <a:cs typeface="Times New Roman" panose="02020603050405020304" pitchFamily="18" charset="0"/>
              </a:rPr>
              <a:t>σ)</a:t>
            </a:r>
            <a:r>
              <a:rPr lang="el-GR"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measures how much each data point in a population deviates from the population mean (</a:t>
            </a:r>
            <a:r>
              <a:rPr lang="el-GR" sz="2000" dirty="0">
                <a:latin typeface="Times New Roman" panose="02020603050405020304" pitchFamily="18" charset="0"/>
                <a:cs typeface="Times New Roman" panose="02020603050405020304" pitchFamily="18" charset="0"/>
              </a:rPr>
              <a:t>μ). </a:t>
            </a:r>
            <a:endParaRPr lang="en-GB"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It is the </a:t>
            </a:r>
            <a:r>
              <a:rPr lang="en-US" sz="2000" b="1" dirty="0">
                <a:latin typeface="Times New Roman" panose="02020603050405020304" pitchFamily="18" charset="0"/>
                <a:cs typeface="Times New Roman" panose="02020603050405020304" pitchFamily="18" charset="0"/>
              </a:rPr>
              <a:t>square root</a:t>
            </a:r>
            <a:r>
              <a:rPr lang="en-US" sz="2000" dirty="0">
                <a:latin typeface="Times New Roman" panose="02020603050405020304" pitchFamily="18" charset="0"/>
                <a:cs typeface="Times New Roman" panose="02020603050405020304" pitchFamily="18" charset="0"/>
              </a:rPr>
              <a:t> of the </a:t>
            </a:r>
            <a:r>
              <a:rPr lang="en-US" sz="2000" b="1" dirty="0">
                <a:latin typeface="Times New Roman" panose="02020603050405020304" pitchFamily="18" charset="0"/>
                <a:cs typeface="Times New Roman" panose="02020603050405020304" pitchFamily="18" charset="0"/>
              </a:rPr>
              <a:t>population variance (</a:t>
            </a:r>
            <a:r>
              <a:rPr lang="en-GB" sz="2000" dirty="0">
                <a:effectLst/>
                <a:latin typeface="Times New Roman" panose="02020603050405020304" pitchFamily="18" charset="0"/>
                <a:ea typeface="Calibri" panose="020F0502020204030204" pitchFamily="34" charset="0"/>
                <a:cs typeface="Times New Roman" panose="02020603050405020304" pitchFamily="18" charset="0"/>
              </a:rPr>
              <a:t>σ</a:t>
            </a:r>
            <a:r>
              <a:rPr lang="en-GB" sz="2000"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l-GR" sz="2000" b="1" dirty="0">
                <a:latin typeface="Times New Roman" panose="02020603050405020304" pitchFamily="18" charset="0"/>
                <a:cs typeface="Times New Roman" panose="02020603050405020304" pitchFamily="18" charset="0"/>
              </a:rPr>
              <a:t>)</a:t>
            </a:r>
            <a:r>
              <a:rPr lang="el-GR"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C8EA397-D3F8-1420-C26F-D5D7EDB4891D}"/>
              </a:ext>
            </a:extLst>
          </p:cNvPr>
          <p:cNvPicPr>
            <a:picLocks noChangeAspect="1"/>
          </p:cNvPicPr>
          <p:nvPr/>
        </p:nvPicPr>
        <p:blipFill>
          <a:blip r:embed="rId2"/>
          <a:stretch>
            <a:fillRect/>
          </a:stretch>
        </p:blipFill>
        <p:spPr>
          <a:xfrm>
            <a:off x="132080" y="1657233"/>
            <a:ext cx="5425910" cy="2690093"/>
          </a:xfrm>
          <a:prstGeom prst="rect">
            <a:avLst/>
          </a:prstGeom>
        </p:spPr>
      </p:pic>
      <p:pic>
        <p:nvPicPr>
          <p:cNvPr id="5" name="Picture 4">
            <a:extLst>
              <a:ext uri="{FF2B5EF4-FFF2-40B4-BE49-F238E27FC236}">
                <a16:creationId xmlns:a16="http://schemas.microsoft.com/office/drawing/2014/main" id="{B874B9C7-EDAE-BB43-4F7B-2FA16375F38F}"/>
              </a:ext>
            </a:extLst>
          </p:cNvPr>
          <p:cNvPicPr>
            <a:picLocks noChangeAspect="1"/>
          </p:cNvPicPr>
          <p:nvPr/>
        </p:nvPicPr>
        <p:blipFill>
          <a:blip r:embed="rId3"/>
          <a:stretch>
            <a:fillRect/>
          </a:stretch>
        </p:blipFill>
        <p:spPr>
          <a:xfrm>
            <a:off x="132080" y="5063420"/>
            <a:ext cx="5524979" cy="1577477"/>
          </a:xfrm>
          <a:prstGeom prst="rect">
            <a:avLst/>
          </a:prstGeom>
        </p:spPr>
      </p:pic>
      <p:pic>
        <p:nvPicPr>
          <p:cNvPr id="7" name="Picture 6">
            <a:extLst>
              <a:ext uri="{FF2B5EF4-FFF2-40B4-BE49-F238E27FC236}">
                <a16:creationId xmlns:a16="http://schemas.microsoft.com/office/drawing/2014/main" id="{B8A4F8A6-4119-ED55-BC7A-FC61C058923B}"/>
              </a:ext>
            </a:extLst>
          </p:cNvPr>
          <p:cNvPicPr>
            <a:picLocks noChangeAspect="1"/>
          </p:cNvPicPr>
          <p:nvPr/>
        </p:nvPicPr>
        <p:blipFill>
          <a:blip r:embed="rId4"/>
          <a:stretch>
            <a:fillRect/>
          </a:stretch>
        </p:blipFill>
        <p:spPr>
          <a:xfrm>
            <a:off x="4979354" y="1794580"/>
            <a:ext cx="7212646" cy="4359018"/>
          </a:xfrm>
          <a:prstGeom prst="rect">
            <a:avLst/>
          </a:prstGeom>
        </p:spPr>
      </p:pic>
    </p:spTree>
    <p:extLst>
      <p:ext uri="{BB962C8B-B14F-4D97-AF65-F5344CB8AC3E}">
        <p14:creationId xmlns:p14="http://schemas.microsoft.com/office/powerpoint/2010/main" val="40745282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DDF15-4DB6-48C6-2D76-4087E91C7C7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469E6D-E2DA-3C6B-38B2-1D2D24471638}"/>
              </a:ext>
            </a:extLst>
          </p:cNvPr>
          <p:cNvSpPr>
            <a:spLocks noGrp="1"/>
          </p:cNvSpPr>
          <p:nvPr>
            <p:ph idx="1"/>
          </p:nvPr>
        </p:nvSpPr>
        <p:spPr>
          <a:xfrm>
            <a:off x="132080" y="66336"/>
            <a:ext cx="11927840" cy="6532880"/>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Interquartile Range (IQR)</a:t>
            </a:r>
          </a:p>
          <a:p>
            <a:r>
              <a:rPr lang="en-GB" sz="2000" dirty="0">
                <a:latin typeface="Times New Roman" panose="02020603050405020304" pitchFamily="18" charset="0"/>
                <a:cs typeface="Times New Roman" panose="02020603050405020304" pitchFamily="18" charset="0"/>
              </a:rPr>
              <a:t>The Interquartile Range (IQR) is a measure of statistical dispersion, representing the range within which the middle 50% of a dataset falls.</a:t>
            </a:r>
          </a:p>
          <a:p>
            <a:r>
              <a:rPr lang="en-GB" sz="2000" dirty="0">
                <a:latin typeface="Times New Roman" panose="02020603050405020304" pitchFamily="18" charset="0"/>
                <a:cs typeface="Times New Roman" panose="02020603050405020304" pitchFamily="18" charset="0"/>
              </a:rPr>
              <a:t>An outlier is an observation that lies an abnormal distance from other values in a random sample from a population.</a:t>
            </a:r>
          </a:p>
          <a:p>
            <a:r>
              <a:rPr lang="en-GB" sz="2000" b="1" dirty="0">
                <a:latin typeface="Times New Roman" panose="02020603050405020304" pitchFamily="18" charset="0"/>
                <a:cs typeface="Times New Roman" panose="02020603050405020304" pitchFamily="18" charset="0"/>
              </a:rPr>
              <a:t>First quartile (Q1): </a:t>
            </a:r>
            <a:r>
              <a:rPr lang="en-GB" sz="2000" dirty="0">
                <a:latin typeface="Times New Roman" panose="02020603050405020304" pitchFamily="18" charset="0"/>
                <a:cs typeface="Times New Roman" panose="02020603050405020304" pitchFamily="18" charset="0"/>
              </a:rPr>
              <a:t>The first quartile is the value, where 25% of the values are smaller than Q1 and 75% are larger.</a:t>
            </a:r>
          </a:p>
          <a:p>
            <a:r>
              <a:rPr lang="en-GB" sz="2000" b="1" dirty="0">
                <a:latin typeface="Times New Roman" panose="02020603050405020304" pitchFamily="18" charset="0"/>
                <a:cs typeface="Times New Roman" panose="02020603050405020304" pitchFamily="18" charset="0"/>
              </a:rPr>
              <a:t>Third quartile (Q3): </a:t>
            </a:r>
            <a:r>
              <a:rPr lang="en-GB" sz="2000" dirty="0">
                <a:latin typeface="Times New Roman" panose="02020603050405020304" pitchFamily="18" charset="0"/>
                <a:cs typeface="Times New Roman" panose="02020603050405020304" pitchFamily="18" charset="0"/>
              </a:rPr>
              <a:t>The third quartile is the value, where 75 % of the values are smaller than Q3 and 25% are larger.</a:t>
            </a:r>
          </a:p>
          <a:p>
            <a:r>
              <a:rPr lang="en-GB" sz="2000" dirty="0">
                <a:latin typeface="Times New Roman" panose="02020603050405020304" pitchFamily="18" charset="0"/>
                <a:cs typeface="Times New Roman" panose="02020603050405020304" pitchFamily="18" charset="0"/>
              </a:rPr>
              <a:t>The</a:t>
            </a:r>
            <a:r>
              <a:rPr lang="en-GB" sz="2000" b="1" dirty="0">
                <a:latin typeface="Times New Roman" panose="02020603050405020304" pitchFamily="18" charset="0"/>
                <a:cs typeface="Times New Roman" panose="02020603050405020304" pitchFamily="18" charset="0"/>
              </a:rPr>
              <a:t> box plot </a:t>
            </a:r>
            <a:r>
              <a:rPr lang="en-GB" sz="2000" dirty="0">
                <a:latin typeface="Times New Roman" panose="02020603050405020304" pitchFamily="18" charset="0"/>
                <a:cs typeface="Times New Roman" panose="02020603050405020304" pitchFamily="18" charset="0"/>
              </a:rPr>
              <a:t>is a useful graphical display for describing the behaviour of the data in the middle as well as at the ends of the distributions. </a:t>
            </a:r>
          </a:p>
          <a:p>
            <a:r>
              <a:rPr lang="en-GB" sz="2000" dirty="0">
                <a:latin typeface="Times New Roman" panose="02020603050405020304" pitchFamily="18" charset="0"/>
                <a:cs typeface="Times New Roman" panose="02020603050405020304" pitchFamily="18" charset="0"/>
              </a:rPr>
              <a:t>The box plot uses the median and the lower and upper quartiles. </a:t>
            </a:r>
          </a:p>
          <a:p>
            <a:r>
              <a:rPr lang="en-GB" sz="2000" dirty="0">
                <a:latin typeface="Times New Roman" panose="02020603050405020304" pitchFamily="18" charset="0"/>
                <a:cs typeface="Times New Roman" panose="02020603050405020304" pitchFamily="18" charset="0"/>
              </a:rPr>
              <a:t>If the lower quartile is Q1 and the upper quartile is Q3, then the difference (Q3 - Q1) is called the interquartile range or IQ.</a:t>
            </a:r>
          </a:p>
          <a:p>
            <a:pPr marL="0" indent="0">
              <a:buNone/>
            </a:pPr>
            <a:r>
              <a:rPr lang="en-GB" sz="2000" b="1" dirty="0">
                <a:latin typeface="Times New Roman" panose="02020603050405020304" pitchFamily="18" charset="0"/>
                <a:cs typeface="Times New Roman" panose="02020603050405020304" pitchFamily="18" charset="0"/>
              </a:rPr>
              <a:t>Formula for IQR</a:t>
            </a:r>
          </a:p>
          <a:p>
            <a:pPr marL="0" indent="0">
              <a:buNone/>
            </a:pPr>
            <a:r>
              <a:rPr lang="en-GB" sz="2000" dirty="0">
                <a:latin typeface="Times New Roman" panose="02020603050405020304" pitchFamily="18" charset="0"/>
                <a:cs typeface="Times New Roman" panose="02020603050405020304" pitchFamily="18" charset="0"/>
              </a:rPr>
              <a:t>	IQR=Q3−Q1</a:t>
            </a:r>
          </a:p>
          <a:p>
            <a:pPr marL="0" indent="0">
              <a:buNone/>
            </a:pPr>
            <a:r>
              <a:rPr lang="en-GB" sz="2000" b="1" dirty="0">
                <a:latin typeface="Times New Roman" panose="02020603050405020304" pitchFamily="18" charset="0"/>
                <a:cs typeface="Times New Roman" panose="02020603050405020304" pitchFamily="18" charset="0"/>
              </a:rPr>
              <a:t>where:</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Q1 (First Quartile) = Median of the </a:t>
            </a:r>
            <a:r>
              <a:rPr lang="en-GB" sz="2000" b="1" dirty="0">
                <a:latin typeface="Times New Roman" panose="02020603050405020304" pitchFamily="18" charset="0"/>
                <a:cs typeface="Times New Roman" panose="02020603050405020304" pitchFamily="18" charset="0"/>
              </a:rPr>
              <a:t>lower half</a:t>
            </a:r>
            <a:r>
              <a:rPr lang="en-GB" sz="2000" dirty="0">
                <a:latin typeface="Times New Roman" panose="02020603050405020304" pitchFamily="18" charset="0"/>
                <a:cs typeface="Times New Roman" panose="02020603050405020304" pitchFamily="18" charset="0"/>
              </a:rPr>
              <a:t> of data (25th percentile)</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Q3 (Third Quartile) = Median of the </a:t>
            </a:r>
            <a:r>
              <a:rPr lang="en-GB" sz="2000" b="1" dirty="0">
                <a:latin typeface="Times New Roman" panose="02020603050405020304" pitchFamily="18" charset="0"/>
                <a:cs typeface="Times New Roman" panose="02020603050405020304" pitchFamily="18" charset="0"/>
              </a:rPr>
              <a:t>upper half</a:t>
            </a:r>
            <a:r>
              <a:rPr lang="en-GB" sz="2000" dirty="0">
                <a:latin typeface="Times New Roman" panose="02020603050405020304" pitchFamily="18" charset="0"/>
                <a:cs typeface="Times New Roman" panose="02020603050405020304" pitchFamily="18" charset="0"/>
              </a:rPr>
              <a:t> of data (75th percentile)</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27542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4A31E-5A1C-F555-736E-E5A5B7D5C35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25999D7-CA97-2B61-06F3-6E1B329A9CF8}"/>
              </a:ext>
            </a:extLst>
          </p:cNvPr>
          <p:cNvPicPr>
            <a:picLocks noChangeAspect="1"/>
          </p:cNvPicPr>
          <p:nvPr/>
        </p:nvPicPr>
        <p:blipFill>
          <a:blip r:embed="rId2"/>
          <a:stretch>
            <a:fillRect/>
          </a:stretch>
        </p:blipFill>
        <p:spPr>
          <a:xfrm>
            <a:off x="296677" y="328810"/>
            <a:ext cx="5799323" cy="2766300"/>
          </a:xfrm>
          <a:prstGeom prst="rect">
            <a:avLst/>
          </a:prstGeom>
        </p:spPr>
      </p:pic>
      <p:pic>
        <p:nvPicPr>
          <p:cNvPr id="8" name="Picture 7">
            <a:extLst>
              <a:ext uri="{FF2B5EF4-FFF2-40B4-BE49-F238E27FC236}">
                <a16:creationId xmlns:a16="http://schemas.microsoft.com/office/drawing/2014/main" id="{C8E9FBCE-6B0A-9685-5B9F-1466AEFE89B3}"/>
              </a:ext>
            </a:extLst>
          </p:cNvPr>
          <p:cNvPicPr>
            <a:picLocks noChangeAspect="1"/>
          </p:cNvPicPr>
          <p:nvPr/>
        </p:nvPicPr>
        <p:blipFill>
          <a:blip r:embed="rId3"/>
          <a:stretch>
            <a:fillRect/>
          </a:stretch>
        </p:blipFill>
        <p:spPr>
          <a:xfrm>
            <a:off x="6096000" y="328810"/>
            <a:ext cx="5227773" cy="2712955"/>
          </a:xfrm>
          <a:prstGeom prst="rect">
            <a:avLst/>
          </a:prstGeom>
        </p:spPr>
      </p:pic>
    </p:spTree>
    <p:extLst>
      <p:ext uri="{BB962C8B-B14F-4D97-AF65-F5344CB8AC3E}">
        <p14:creationId xmlns:p14="http://schemas.microsoft.com/office/powerpoint/2010/main" val="414749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A7889-A50A-C8F0-2A91-6C46FCBAE62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14AEDD4-1DB4-4310-5BBF-B9020016DFF4}"/>
              </a:ext>
            </a:extLst>
          </p:cNvPr>
          <p:cNvPicPr>
            <a:picLocks noChangeAspect="1"/>
          </p:cNvPicPr>
          <p:nvPr/>
        </p:nvPicPr>
        <p:blipFill>
          <a:blip r:embed="rId2"/>
          <a:stretch>
            <a:fillRect/>
          </a:stretch>
        </p:blipFill>
        <p:spPr>
          <a:xfrm>
            <a:off x="289323" y="195491"/>
            <a:ext cx="5456393" cy="2057578"/>
          </a:xfrm>
          <a:prstGeom prst="rect">
            <a:avLst/>
          </a:prstGeom>
        </p:spPr>
      </p:pic>
      <p:pic>
        <p:nvPicPr>
          <p:cNvPr id="6" name="Picture 5">
            <a:extLst>
              <a:ext uri="{FF2B5EF4-FFF2-40B4-BE49-F238E27FC236}">
                <a16:creationId xmlns:a16="http://schemas.microsoft.com/office/drawing/2014/main" id="{D2BCE47E-10D8-E1ED-256A-1370CB897626}"/>
              </a:ext>
            </a:extLst>
          </p:cNvPr>
          <p:cNvPicPr>
            <a:picLocks noChangeAspect="1"/>
          </p:cNvPicPr>
          <p:nvPr/>
        </p:nvPicPr>
        <p:blipFill>
          <a:blip r:embed="rId3"/>
          <a:stretch>
            <a:fillRect/>
          </a:stretch>
        </p:blipFill>
        <p:spPr>
          <a:xfrm>
            <a:off x="519180" y="2631277"/>
            <a:ext cx="5768840" cy="3749365"/>
          </a:xfrm>
          <a:prstGeom prst="rect">
            <a:avLst/>
          </a:prstGeom>
        </p:spPr>
      </p:pic>
    </p:spTree>
    <p:extLst>
      <p:ext uri="{BB962C8B-B14F-4D97-AF65-F5344CB8AC3E}">
        <p14:creationId xmlns:p14="http://schemas.microsoft.com/office/powerpoint/2010/main" val="26279904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C8705-CE81-FC11-B0C1-DA77FAF02B7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FDD0647-4525-1C19-BF78-4921C06B9DCC}"/>
              </a:ext>
            </a:extLst>
          </p:cNvPr>
          <p:cNvPicPr>
            <a:picLocks noChangeAspect="1"/>
          </p:cNvPicPr>
          <p:nvPr/>
        </p:nvPicPr>
        <p:blipFill>
          <a:blip r:embed="rId2"/>
          <a:stretch>
            <a:fillRect/>
          </a:stretch>
        </p:blipFill>
        <p:spPr>
          <a:xfrm>
            <a:off x="784542" y="380852"/>
            <a:ext cx="10417832" cy="4851548"/>
          </a:xfrm>
          <a:prstGeom prst="rect">
            <a:avLst/>
          </a:prstGeom>
        </p:spPr>
      </p:pic>
    </p:spTree>
    <p:extLst>
      <p:ext uri="{BB962C8B-B14F-4D97-AF65-F5344CB8AC3E}">
        <p14:creationId xmlns:p14="http://schemas.microsoft.com/office/powerpoint/2010/main" val="3468769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1DFC8-63E7-86FB-F392-67357F772D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3D3C54-301F-936B-E43B-7CF19F1EABD0}"/>
              </a:ext>
            </a:extLst>
          </p:cNvPr>
          <p:cNvSpPr>
            <a:spLocks noGrp="1"/>
          </p:cNvSpPr>
          <p:nvPr>
            <p:ph idx="1"/>
          </p:nvPr>
        </p:nvSpPr>
        <p:spPr>
          <a:xfrm>
            <a:off x="132080" y="152400"/>
            <a:ext cx="11927840" cy="6532880"/>
          </a:xfrm>
        </p:spPr>
        <p:txBody>
          <a:bodyPr>
            <a:normAutofit/>
          </a:bodyPr>
          <a:lstStyle/>
          <a:p>
            <a:pPr marL="0" indent="0" algn="just">
              <a:buNone/>
            </a:pPr>
            <a:r>
              <a:rPr lang="en-GB" sz="2000" b="1" dirty="0">
                <a:latin typeface="Times New Roman" panose="02020603050405020304" pitchFamily="18" charset="0"/>
                <a:cs typeface="Times New Roman" panose="02020603050405020304" pitchFamily="18" charset="0"/>
              </a:rPr>
              <a:t>Graphic Displays of Basic Statistical Descriptions</a:t>
            </a:r>
          </a:p>
          <a:p>
            <a:pPr algn="just"/>
            <a:r>
              <a:rPr lang="en-GB" sz="2000" b="0" i="0" dirty="0">
                <a:solidFill>
                  <a:srgbClr val="273239"/>
                </a:solidFill>
                <a:effectLst/>
                <a:latin typeface="Times New Roman" panose="02020603050405020304" pitchFamily="18" charset="0"/>
                <a:cs typeface="Times New Roman" panose="02020603050405020304" pitchFamily="18" charset="0"/>
              </a:rPr>
              <a:t>Graphs in statistics serve as powerful tools for visually representing data, making it easier to interpret, compare, and </a:t>
            </a:r>
            <a:r>
              <a:rPr lang="en-GB" sz="2000" b="0" i="0" dirty="0" err="1">
                <a:solidFill>
                  <a:srgbClr val="273239"/>
                </a:solidFill>
                <a:effectLst/>
                <a:latin typeface="Times New Roman" panose="02020603050405020304" pitchFamily="18" charset="0"/>
                <a:cs typeface="Times New Roman" panose="02020603050405020304" pitchFamily="18" charset="0"/>
              </a:rPr>
              <a:t>analyze</a:t>
            </a:r>
            <a:r>
              <a:rPr lang="en-GB" sz="2000" b="0" i="0" dirty="0">
                <a:solidFill>
                  <a:srgbClr val="273239"/>
                </a:solidFill>
                <a:effectLst/>
                <a:latin typeface="Times New Roman" panose="02020603050405020304" pitchFamily="18" charset="0"/>
                <a:cs typeface="Times New Roman" panose="02020603050405020304" pitchFamily="18" charset="0"/>
              </a:rPr>
              <a:t> trends. </a:t>
            </a:r>
          </a:p>
          <a:p>
            <a:pPr algn="just"/>
            <a:r>
              <a:rPr lang="en-GB" sz="2000" b="0" i="0" dirty="0">
                <a:solidFill>
                  <a:srgbClr val="273239"/>
                </a:solidFill>
                <a:effectLst/>
                <a:latin typeface="Times New Roman" panose="02020603050405020304" pitchFamily="18" charset="0"/>
                <a:cs typeface="Times New Roman" panose="02020603050405020304" pitchFamily="18" charset="0"/>
              </a:rPr>
              <a:t>These graphical representations help in identifying patterns, relationships, and distributions within datasets.</a:t>
            </a:r>
            <a:endParaRPr lang="en-GB" sz="2000" b="0" i="0" dirty="0">
              <a:solidFill>
                <a:srgbClr val="212529"/>
              </a:solidFill>
              <a:effectLst/>
              <a:latin typeface="Times New Roman" panose="02020603050405020304" pitchFamily="18" charset="0"/>
              <a:cs typeface="Times New Roman" panose="02020603050405020304" pitchFamily="18" charset="0"/>
            </a:endParaRPr>
          </a:p>
          <a:p>
            <a:pPr algn="just"/>
            <a:r>
              <a:rPr lang="en-GB" sz="2000" b="0" i="0" dirty="0">
                <a:solidFill>
                  <a:srgbClr val="212529"/>
                </a:solidFill>
                <a:effectLst/>
                <a:latin typeface="Times New Roman" panose="02020603050405020304" pitchFamily="18" charset="0"/>
                <a:cs typeface="Times New Roman" panose="02020603050405020304" pitchFamily="18" charset="0"/>
              </a:rPr>
              <a:t>There are many types of graphs for the display of data summaries and distributions, such as Bar charts, Pie charts, Line graphs, Boxplot, Histograms, Quantile plots and Scatter plots.</a:t>
            </a:r>
          </a:p>
          <a:p>
            <a:pPr marL="0" indent="0" algn="l" fontAlgn="base">
              <a:buNone/>
            </a:pPr>
            <a:r>
              <a:rPr lang="en-GB" sz="2000" b="1" i="0" dirty="0">
                <a:solidFill>
                  <a:srgbClr val="273239"/>
                </a:solidFill>
                <a:effectLst/>
                <a:latin typeface="Times New Roman" panose="02020603050405020304" pitchFamily="18" charset="0"/>
                <a:cs typeface="Times New Roman" panose="02020603050405020304" pitchFamily="18" charset="0"/>
              </a:rPr>
              <a:t>The Types Of Graphs</a:t>
            </a:r>
          </a:p>
          <a:p>
            <a:pPr marL="0" indent="0" algn="l" rtl="0" fontAlgn="base">
              <a:spcAft>
                <a:spcPts val="750"/>
              </a:spcAft>
              <a:buNone/>
            </a:pPr>
            <a:r>
              <a:rPr lang="en-GB" sz="2000" b="0" i="0" dirty="0">
                <a:solidFill>
                  <a:srgbClr val="273239"/>
                </a:solidFill>
                <a:effectLst/>
                <a:latin typeface="Times New Roman" panose="02020603050405020304" pitchFamily="18" charset="0"/>
                <a:cs typeface="Times New Roman" panose="02020603050405020304" pitchFamily="18" charset="0"/>
              </a:rPr>
              <a:t>The most commonly used types of graphs in statistics include:</a:t>
            </a:r>
          </a:p>
          <a:p>
            <a:pPr lvl="1" fontAlgn="base">
              <a:spcAft>
                <a:spcPts val="1800"/>
              </a:spcAft>
            </a:pPr>
            <a:r>
              <a:rPr lang="en-GB" sz="2000" b="0" i="0" dirty="0">
                <a:solidFill>
                  <a:srgbClr val="273239"/>
                </a:solidFill>
                <a:effectLst/>
                <a:latin typeface="Times New Roman" panose="02020603050405020304" pitchFamily="18" charset="0"/>
                <a:cs typeface="Times New Roman" panose="02020603050405020304" pitchFamily="18" charset="0"/>
              </a:rPr>
              <a:t>Statistical Graphs (e.g., bar graph, pie chart, line graph, etc.)</a:t>
            </a:r>
          </a:p>
          <a:p>
            <a:pPr lvl="1" fontAlgn="base">
              <a:spcAft>
                <a:spcPts val="1800"/>
              </a:spcAft>
            </a:pPr>
            <a:r>
              <a:rPr lang="en-GB" sz="2000" b="0" i="0" dirty="0">
                <a:solidFill>
                  <a:srgbClr val="273239"/>
                </a:solidFill>
                <a:effectLst/>
                <a:latin typeface="Times New Roman" panose="02020603050405020304" pitchFamily="18" charset="0"/>
                <a:cs typeface="Times New Roman" panose="02020603050405020304" pitchFamily="18" charset="0"/>
              </a:rPr>
              <a:t>Exponential Graphs</a:t>
            </a:r>
          </a:p>
          <a:p>
            <a:pPr lvl="1" fontAlgn="base">
              <a:spcAft>
                <a:spcPts val="1800"/>
              </a:spcAft>
            </a:pPr>
            <a:r>
              <a:rPr lang="en-GB" sz="2000" b="0" i="0" dirty="0">
                <a:solidFill>
                  <a:srgbClr val="273239"/>
                </a:solidFill>
                <a:effectLst/>
                <a:latin typeface="Times New Roman" panose="02020603050405020304" pitchFamily="18" charset="0"/>
                <a:cs typeface="Times New Roman" panose="02020603050405020304" pitchFamily="18" charset="0"/>
              </a:rPr>
              <a:t>Logarithmic Graphs</a:t>
            </a:r>
          </a:p>
          <a:p>
            <a:pPr lvl="1" fontAlgn="base">
              <a:spcAft>
                <a:spcPts val="1800"/>
              </a:spcAft>
            </a:pPr>
            <a:r>
              <a:rPr lang="en-GB" sz="2000" b="0" i="0" dirty="0">
                <a:solidFill>
                  <a:srgbClr val="273239"/>
                </a:solidFill>
                <a:effectLst/>
                <a:latin typeface="Times New Roman" panose="02020603050405020304" pitchFamily="18" charset="0"/>
                <a:cs typeface="Times New Roman" panose="02020603050405020304" pitchFamily="18" charset="0"/>
              </a:rPr>
              <a:t>Trigonometric Graphs</a:t>
            </a:r>
          </a:p>
          <a:p>
            <a:pPr lvl="1" fontAlgn="base">
              <a:spcAft>
                <a:spcPts val="1800"/>
              </a:spcAft>
            </a:pPr>
            <a:r>
              <a:rPr lang="en-GB" sz="2000" b="0" i="0" dirty="0">
                <a:solidFill>
                  <a:srgbClr val="273239"/>
                </a:solidFill>
                <a:effectLst/>
                <a:latin typeface="Times New Roman" panose="02020603050405020304" pitchFamily="18" charset="0"/>
                <a:cs typeface="Times New Roman" panose="02020603050405020304" pitchFamily="18" charset="0"/>
              </a:rPr>
              <a:t>Frequency Distribution Graphs</a:t>
            </a:r>
          </a:p>
          <a:p>
            <a:pPr marL="0" indent="0" algn="just">
              <a:buNone/>
            </a:pPr>
            <a:endParaRPr lang="en-US" sz="2000" b="0" i="0" dirty="0">
              <a:solidFill>
                <a:srgbClr val="212529"/>
              </a:solidFill>
              <a:effectLst/>
              <a:latin typeface="Times New Roman" panose="02020603050405020304" pitchFamily="18" charset="0"/>
              <a:cs typeface="Times New Roman" panose="02020603050405020304" pitchFamily="18" charset="0"/>
            </a:endParaRPr>
          </a:p>
          <a:p>
            <a:pPr algn="just"/>
            <a:endParaRPr lang="en-GB" sz="2000" b="0" i="0" dirty="0">
              <a:solidFill>
                <a:srgbClr val="21252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59977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72907-6331-364E-029F-5070EC7B69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C814A2-D564-4D2F-3393-0E091B201551}"/>
              </a:ext>
            </a:extLst>
          </p:cNvPr>
          <p:cNvSpPr>
            <a:spLocks noGrp="1"/>
          </p:cNvSpPr>
          <p:nvPr>
            <p:ph idx="1"/>
          </p:nvPr>
        </p:nvSpPr>
        <p:spPr>
          <a:xfrm>
            <a:off x="30480" y="111760"/>
            <a:ext cx="6654800" cy="6532880"/>
          </a:xfrm>
        </p:spPr>
        <p:txBody>
          <a:bodyPr>
            <a:normAutofit/>
          </a:bodyPr>
          <a:lstStyle/>
          <a:p>
            <a:pPr marL="0" indent="0" algn="just" fontAlgn="base">
              <a:spcBef>
                <a:spcPts val="600"/>
              </a:spcBef>
              <a:buNone/>
            </a:pPr>
            <a:r>
              <a:rPr lang="en-GB" sz="2000" b="1" i="0" dirty="0">
                <a:solidFill>
                  <a:srgbClr val="273239"/>
                </a:solidFill>
                <a:effectLst/>
                <a:latin typeface="Times New Roman" panose="02020603050405020304" pitchFamily="18" charset="0"/>
                <a:cs typeface="Times New Roman" panose="02020603050405020304" pitchFamily="18" charset="0"/>
              </a:rPr>
              <a:t>Statistical Graphs</a:t>
            </a:r>
          </a:p>
          <a:p>
            <a:pPr algn="just" rtl="0" fontAlgn="base">
              <a:spcBef>
                <a:spcPts val="600"/>
              </a:spcBef>
              <a:spcAft>
                <a:spcPts val="750"/>
              </a:spcAft>
            </a:pPr>
            <a:r>
              <a:rPr lang="en-GB" sz="2000" b="0" i="0" dirty="0">
                <a:solidFill>
                  <a:srgbClr val="273239"/>
                </a:solidFill>
                <a:effectLst/>
                <a:latin typeface="Times New Roman" panose="02020603050405020304" pitchFamily="18" charset="0"/>
                <a:cs typeface="Times New Roman" panose="02020603050405020304" pitchFamily="18" charset="0"/>
              </a:rPr>
              <a:t>A statistical graph or chart is a pictorial representation of statistical data in a graphical format. </a:t>
            </a:r>
          </a:p>
          <a:p>
            <a:pPr algn="just" rtl="0" fontAlgn="base">
              <a:spcBef>
                <a:spcPts val="600"/>
              </a:spcBef>
              <a:spcAft>
                <a:spcPts val="750"/>
              </a:spcAft>
            </a:pPr>
            <a:r>
              <a:rPr lang="en-GB" sz="2000" b="0" i="0" dirty="0">
                <a:solidFill>
                  <a:srgbClr val="273239"/>
                </a:solidFill>
                <a:effectLst/>
                <a:latin typeface="Times New Roman" panose="02020603050405020304" pitchFamily="18" charset="0"/>
                <a:cs typeface="Times New Roman" panose="02020603050405020304" pitchFamily="18" charset="0"/>
              </a:rPr>
              <a:t>These graphs help in understanding data trends, patterns, and distributions effectively.</a:t>
            </a:r>
          </a:p>
          <a:p>
            <a:pPr marL="0" indent="0" algn="just" rtl="0" fontAlgn="base">
              <a:spcBef>
                <a:spcPts val="0"/>
              </a:spcBef>
              <a:spcAft>
                <a:spcPts val="600"/>
              </a:spcAft>
              <a:buNone/>
            </a:pPr>
            <a:r>
              <a:rPr lang="en-US" sz="2000" b="1" i="0" dirty="0">
                <a:solidFill>
                  <a:srgbClr val="273239"/>
                </a:solidFill>
                <a:effectLst/>
                <a:latin typeface="Times New Roman" panose="02020603050405020304" pitchFamily="18" charset="0"/>
                <a:cs typeface="Times New Roman" panose="02020603050405020304" pitchFamily="18" charset="0"/>
              </a:rPr>
              <a:t>Types of Statistical Graphs</a:t>
            </a:r>
          </a:p>
          <a:p>
            <a:pPr lvl="1" algn="just" fontAlgn="base">
              <a:spcBef>
                <a:spcPts val="0"/>
              </a:spcBef>
              <a:spcAft>
                <a:spcPts val="600"/>
              </a:spcAft>
            </a:pPr>
            <a:r>
              <a:rPr lang="en-US" sz="2000" i="0" dirty="0">
                <a:solidFill>
                  <a:srgbClr val="273239"/>
                </a:solidFill>
                <a:effectLst/>
                <a:latin typeface="Times New Roman" panose="02020603050405020304" pitchFamily="18" charset="0"/>
                <a:cs typeface="Times New Roman" panose="02020603050405020304" pitchFamily="18" charset="0"/>
              </a:rPr>
              <a:t>Bar Graph</a:t>
            </a:r>
          </a:p>
          <a:p>
            <a:pPr lvl="1" algn="just" fontAlgn="base">
              <a:spcBef>
                <a:spcPts val="0"/>
              </a:spcBef>
              <a:spcAft>
                <a:spcPts val="600"/>
              </a:spcAft>
            </a:pPr>
            <a:r>
              <a:rPr lang="en-US" sz="2000" i="0" dirty="0">
                <a:solidFill>
                  <a:srgbClr val="273239"/>
                </a:solidFill>
                <a:effectLst/>
                <a:latin typeface="Times New Roman" panose="02020603050405020304" pitchFamily="18" charset="0"/>
                <a:cs typeface="Times New Roman" panose="02020603050405020304" pitchFamily="18" charset="0"/>
              </a:rPr>
              <a:t>Line Graph</a:t>
            </a:r>
          </a:p>
          <a:p>
            <a:pPr lvl="1" algn="just" fontAlgn="base">
              <a:spcBef>
                <a:spcPts val="0"/>
              </a:spcBef>
              <a:spcAft>
                <a:spcPts val="600"/>
              </a:spcAft>
            </a:pPr>
            <a:r>
              <a:rPr lang="en-US" sz="2000" i="0" dirty="0">
                <a:solidFill>
                  <a:srgbClr val="273239"/>
                </a:solidFill>
                <a:effectLst/>
                <a:latin typeface="Times New Roman" panose="02020603050405020304" pitchFamily="18" charset="0"/>
                <a:cs typeface="Times New Roman" panose="02020603050405020304" pitchFamily="18" charset="0"/>
              </a:rPr>
              <a:t>Pie Chart</a:t>
            </a:r>
          </a:p>
          <a:p>
            <a:pPr lvl="1" algn="just" fontAlgn="base">
              <a:spcBef>
                <a:spcPts val="0"/>
              </a:spcBef>
              <a:spcAft>
                <a:spcPts val="600"/>
              </a:spcAft>
            </a:pPr>
            <a:r>
              <a:rPr lang="en-US" sz="2000" i="0" dirty="0">
                <a:solidFill>
                  <a:srgbClr val="273239"/>
                </a:solidFill>
                <a:effectLst/>
                <a:latin typeface="Times New Roman" panose="02020603050405020304" pitchFamily="18" charset="0"/>
                <a:cs typeface="Times New Roman" panose="02020603050405020304" pitchFamily="18" charset="0"/>
              </a:rPr>
              <a:t>Histogram</a:t>
            </a:r>
          </a:p>
          <a:p>
            <a:pPr marL="0" lvl="1" indent="0" algn="just" fontAlgn="base">
              <a:spcBef>
                <a:spcPts val="0"/>
              </a:spcBef>
              <a:spcAft>
                <a:spcPts val="600"/>
              </a:spcAft>
              <a:buNone/>
            </a:pPr>
            <a:r>
              <a:rPr lang="en-US" sz="2000" b="1" i="0" dirty="0">
                <a:solidFill>
                  <a:srgbClr val="273239"/>
                </a:solidFill>
                <a:effectLst/>
                <a:latin typeface="Times New Roman" panose="02020603050405020304" pitchFamily="18" charset="0"/>
                <a:cs typeface="Times New Roman" panose="02020603050405020304" pitchFamily="18" charset="0"/>
              </a:rPr>
              <a:t>Bar Graph:</a:t>
            </a:r>
          </a:p>
          <a:p>
            <a:pPr marL="285750" lvl="1" indent="-285750" algn="just" fontAlgn="base">
              <a:spcBef>
                <a:spcPts val="0"/>
              </a:spcBef>
              <a:spcAft>
                <a:spcPts val="600"/>
              </a:spcAft>
            </a:pPr>
            <a:r>
              <a:rPr lang="en-GB" sz="2000" b="0" i="0" dirty="0">
                <a:solidFill>
                  <a:srgbClr val="273239"/>
                </a:solidFill>
                <a:effectLst/>
                <a:latin typeface="Times New Roman" panose="02020603050405020304" pitchFamily="18" charset="0"/>
                <a:cs typeface="Times New Roman" panose="02020603050405020304" pitchFamily="18" charset="0"/>
              </a:rPr>
              <a:t>A bar graph is a visual representation of grouped data using rectangular bars. </a:t>
            </a:r>
          </a:p>
          <a:p>
            <a:pPr marL="285750" lvl="1" indent="-285750" algn="just" fontAlgn="base">
              <a:spcBef>
                <a:spcPts val="0"/>
              </a:spcBef>
              <a:spcAft>
                <a:spcPts val="600"/>
              </a:spcAft>
            </a:pPr>
            <a:r>
              <a:rPr lang="en-GB" sz="2000" b="0" i="0" dirty="0">
                <a:solidFill>
                  <a:srgbClr val="273239"/>
                </a:solidFill>
                <a:effectLst/>
                <a:latin typeface="Times New Roman" panose="02020603050405020304" pitchFamily="18" charset="0"/>
                <a:cs typeface="Times New Roman" panose="02020603050405020304" pitchFamily="18" charset="0"/>
              </a:rPr>
              <a:t>The length of each bar is proportional to the value it represents. </a:t>
            </a:r>
          </a:p>
          <a:p>
            <a:pPr marL="285750" lvl="1" indent="-285750" algn="just" fontAlgn="base">
              <a:spcBef>
                <a:spcPts val="0"/>
              </a:spcBef>
              <a:spcAft>
                <a:spcPts val="600"/>
              </a:spcAft>
            </a:pPr>
            <a:r>
              <a:rPr lang="en-GB" sz="2000" b="0" i="0" dirty="0">
                <a:solidFill>
                  <a:srgbClr val="273239"/>
                </a:solidFill>
                <a:effectLst/>
                <a:latin typeface="Times New Roman" panose="02020603050405020304" pitchFamily="18" charset="0"/>
                <a:cs typeface="Times New Roman" panose="02020603050405020304" pitchFamily="18" charset="0"/>
              </a:rPr>
              <a:t>The horizontal axis represents categorical data, while the vertical axis represents numerical data. </a:t>
            </a:r>
          </a:p>
          <a:p>
            <a:pPr marL="285750" lvl="1" indent="-285750" algn="just" fontAlgn="base">
              <a:spcBef>
                <a:spcPts val="0"/>
              </a:spcBef>
              <a:spcAft>
                <a:spcPts val="600"/>
              </a:spcAft>
            </a:pPr>
            <a:r>
              <a:rPr lang="en-GB" sz="2000" b="0" i="0" dirty="0">
                <a:solidFill>
                  <a:srgbClr val="273239"/>
                </a:solidFill>
                <a:effectLst/>
                <a:latin typeface="Times New Roman" panose="02020603050405020304" pitchFamily="18" charset="0"/>
                <a:cs typeface="Times New Roman" panose="02020603050405020304" pitchFamily="18" charset="0"/>
              </a:rPr>
              <a:t>Bar graphs are commonly used for comparing different categories within a dataset.</a:t>
            </a:r>
            <a:endParaRPr lang="en-US" sz="2000" i="0" dirty="0">
              <a:solidFill>
                <a:srgbClr val="273239"/>
              </a:solidFill>
              <a:effectLst/>
              <a:latin typeface="Times New Roman" panose="02020603050405020304" pitchFamily="18" charset="0"/>
              <a:cs typeface="Times New Roman" panose="02020603050405020304" pitchFamily="18" charset="0"/>
            </a:endParaRPr>
          </a:p>
          <a:p>
            <a:pPr marL="0" indent="0" algn="just" rtl="0" fontAlgn="base">
              <a:spcBef>
                <a:spcPts val="600"/>
              </a:spcBef>
              <a:spcAft>
                <a:spcPts val="750"/>
              </a:spcAft>
              <a:buNone/>
            </a:pPr>
            <a:endParaRPr lang="en-GB" sz="2000" b="0" i="0" dirty="0">
              <a:solidFill>
                <a:srgbClr val="273239"/>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6676729-CFE5-8C11-B2B8-14C9305FA025}"/>
              </a:ext>
            </a:extLst>
          </p:cNvPr>
          <p:cNvPicPr>
            <a:picLocks noChangeAspect="1"/>
          </p:cNvPicPr>
          <p:nvPr/>
        </p:nvPicPr>
        <p:blipFill>
          <a:blip r:embed="rId2"/>
          <a:srcRect l="15466" t="4267" r="13601" b="6666"/>
          <a:stretch/>
        </p:blipFill>
        <p:spPr>
          <a:xfrm>
            <a:off x="6786880" y="2905760"/>
            <a:ext cx="5405120" cy="3495040"/>
          </a:xfrm>
          <a:prstGeom prst="rect">
            <a:avLst/>
          </a:prstGeom>
        </p:spPr>
      </p:pic>
    </p:spTree>
    <p:extLst>
      <p:ext uri="{BB962C8B-B14F-4D97-AF65-F5344CB8AC3E}">
        <p14:creationId xmlns:p14="http://schemas.microsoft.com/office/powerpoint/2010/main" val="12331370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3F64F-8D20-19E3-C5D2-C0136E727D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B9DC20-372F-F6E4-3664-0D1C8BE6A1F7}"/>
              </a:ext>
            </a:extLst>
          </p:cNvPr>
          <p:cNvSpPr>
            <a:spLocks noGrp="1"/>
          </p:cNvSpPr>
          <p:nvPr>
            <p:ph idx="1"/>
          </p:nvPr>
        </p:nvSpPr>
        <p:spPr>
          <a:xfrm>
            <a:off x="132080" y="152400"/>
            <a:ext cx="6949440" cy="6532880"/>
          </a:xfrm>
        </p:spPr>
        <p:txBody>
          <a:bodyPr>
            <a:normAutofit/>
          </a:bodyPr>
          <a:lstStyle/>
          <a:p>
            <a:pPr marL="0" indent="0" algn="just" rtl="0" fontAlgn="base">
              <a:spcBef>
                <a:spcPts val="600"/>
              </a:spcBef>
              <a:spcAft>
                <a:spcPts val="600"/>
              </a:spcAft>
              <a:buNone/>
            </a:pPr>
            <a:r>
              <a:rPr lang="en-GB" sz="2000" b="1" dirty="0">
                <a:latin typeface="Times New Roman" panose="02020603050405020304" pitchFamily="18" charset="0"/>
                <a:cs typeface="Times New Roman" panose="02020603050405020304" pitchFamily="18" charset="0"/>
              </a:rPr>
              <a:t>L</a:t>
            </a:r>
            <a:r>
              <a:rPr lang="en-GB" sz="2000" b="1" i="0" dirty="0">
                <a:effectLst/>
                <a:latin typeface="Times New Roman" panose="02020603050405020304" pitchFamily="18" charset="0"/>
                <a:cs typeface="Times New Roman" panose="02020603050405020304" pitchFamily="18" charset="0"/>
              </a:rPr>
              <a:t>ine Graph</a:t>
            </a:r>
          </a:p>
          <a:p>
            <a:pPr algn="just" rtl="0" fontAlgn="base">
              <a:spcBef>
                <a:spcPts val="600"/>
              </a:spcBef>
              <a:spcAft>
                <a:spcPts val="600"/>
              </a:spcAft>
            </a:pPr>
            <a:r>
              <a:rPr lang="en-GB" sz="2000" b="0" i="0" dirty="0">
                <a:effectLst/>
                <a:latin typeface="Times New Roman" panose="02020603050405020304" pitchFamily="18" charset="0"/>
                <a:cs typeface="Times New Roman" panose="02020603050405020304" pitchFamily="18" charset="0"/>
              </a:rPr>
              <a:t>A line graph is a chart that uses points connected by lines to show changes over time. It is useful for tracking trends and comparing data over continuous intervals. </a:t>
            </a:r>
          </a:p>
          <a:p>
            <a:pPr algn="just" rtl="0" fontAlgn="base">
              <a:spcBef>
                <a:spcPts val="600"/>
              </a:spcBef>
              <a:spcAft>
                <a:spcPts val="600"/>
              </a:spcAft>
            </a:pPr>
            <a:r>
              <a:rPr lang="en-GB" sz="2000" b="0" i="0" dirty="0">
                <a:effectLst/>
                <a:latin typeface="Times New Roman" panose="02020603050405020304" pitchFamily="18" charset="0"/>
                <a:cs typeface="Times New Roman" panose="02020603050405020304" pitchFamily="18" charset="0"/>
              </a:rPr>
              <a:t>The horizontal axis represents the independent variable (e.g., time), while the vertical axis represents the dependent variable (e.g., sales or temperature).</a:t>
            </a:r>
          </a:p>
          <a:p>
            <a:pPr algn="just" rtl="0" fontAlgn="base">
              <a:spcBef>
                <a:spcPts val="600"/>
              </a:spcBef>
              <a:spcAft>
                <a:spcPts val="600"/>
              </a:spcAft>
            </a:pPr>
            <a:r>
              <a:rPr lang="en-GB" sz="2000" b="0" i="0" dirty="0">
                <a:effectLst/>
                <a:latin typeface="Times New Roman" panose="02020603050405020304" pitchFamily="18" charset="0"/>
                <a:cs typeface="Times New Roman" panose="02020603050405020304" pitchFamily="18" charset="0"/>
              </a:rPr>
              <a:t>All data value is represented in points and later they connected by line from one to other i.e. in “dot-to-dot” fashion.</a:t>
            </a:r>
          </a:p>
          <a:p>
            <a:pPr marL="0" indent="0" algn="just" fontAlgn="base">
              <a:spcBef>
                <a:spcPts val="600"/>
              </a:spcBef>
              <a:spcAft>
                <a:spcPts val="600"/>
              </a:spcAft>
              <a:buNone/>
            </a:pPr>
            <a:r>
              <a:rPr lang="en-US" sz="2000" b="1" i="0" dirty="0">
                <a:effectLst/>
                <a:latin typeface="Times New Roman" panose="02020603050405020304" pitchFamily="18" charset="0"/>
                <a:cs typeface="Times New Roman" panose="02020603050405020304" pitchFamily="18" charset="0"/>
              </a:rPr>
              <a:t>Pie Chart</a:t>
            </a:r>
          </a:p>
          <a:p>
            <a:pPr algn="just" fontAlgn="base">
              <a:spcBef>
                <a:spcPts val="600"/>
              </a:spcBef>
              <a:spcAft>
                <a:spcPts val="600"/>
              </a:spcAft>
            </a:pPr>
            <a:r>
              <a:rPr lang="en-GB" sz="2000" b="0" i="0" dirty="0">
                <a:effectLst/>
                <a:latin typeface="Times New Roman" panose="02020603050405020304" pitchFamily="18" charset="0"/>
                <a:cs typeface="Times New Roman" panose="02020603050405020304" pitchFamily="18" charset="0"/>
              </a:rPr>
              <a:t>A pie chart is a </a:t>
            </a:r>
            <a:r>
              <a:rPr lang="en-GB" sz="2000" b="0" i="0" u="sng" dirty="0">
                <a:effectLst/>
                <a:latin typeface="Times New Roman" panose="02020603050405020304" pitchFamily="18" charset="0"/>
                <a:cs typeface="Times New Roman" panose="02020603050405020304" pitchFamily="18" charset="0"/>
              </a:rPr>
              <a:t>circular graph</a:t>
            </a:r>
            <a:r>
              <a:rPr lang="en-GB" sz="2000" b="0" i="0" dirty="0">
                <a:effectLst/>
                <a:latin typeface="Times New Roman" panose="02020603050405020304" pitchFamily="18" charset="0"/>
                <a:cs typeface="Times New Roman" panose="02020603050405020304" pitchFamily="18" charset="0"/>
              </a:rPr>
              <a:t> divided into sectors, where each sector represents a proportion of the whole dataset. </a:t>
            </a:r>
          </a:p>
          <a:p>
            <a:pPr algn="just" fontAlgn="base">
              <a:spcBef>
                <a:spcPts val="600"/>
              </a:spcBef>
              <a:spcAft>
                <a:spcPts val="600"/>
              </a:spcAft>
            </a:pPr>
            <a:r>
              <a:rPr lang="en-GB" sz="2000" b="0" i="0" dirty="0">
                <a:effectLst/>
                <a:latin typeface="Times New Roman" panose="02020603050405020304" pitchFamily="18" charset="0"/>
                <a:cs typeface="Times New Roman" panose="02020603050405020304" pitchFamily="18" charset="0"/>
              </a:rPr>
              <a:t>Pie charts are useful for showing percentage distributions and comparing relative sizes of categories within a dataset.</a:t>
            </a:r>
          </a:p>
        </p:txBody>
      </p:sp>
      <p:pic>
        <p:nvPicPr>
          <p:cNvPr id="4" name="Picture 3">
            <a:extLst>
              <a:ext uri="{FF2B5EF4-FFF2-40B4-BE49-F238E27FC236}">
                <a16:creationId xmlns:a16="http://schemas.microsoft.com/office/drawing/2014/main" id="{7A3033B9-E5DC-AD4D-A0BB-E306ADB77925}"/>
              </a:ext>
            </a:extLst>
          </p:cNvPr>
          <p:cNvPicPr>
            <a:picLocks noChangeAspect="1"/>
          </p:cNvPicPr>
          <p:nvPr/>
        </p:nvPicPr>
        <p:blipFill>
          <a:blip r:embed="rId2"/>
          <a:srcRect l="15334" t="4800" r="15467" b="5067"/>
          <a:stretch/>
        </p:blipFill>
        <p:spPr>
          <a:xfrm>
            <a:off x="7191972" y="172720"/>
            <a:ext cx="5000028" cy="3256280"/>
          </a:xfrm>
          <a:prstGeom prst="rect">
            <a:avLst/>
          </a:prstGeom>
        </p:spPr>
      </p:pic>
      <p:pic>
        <p:nvPicPr>
          <p:cNvPr id="6" name="Picture 5">
            <a:extLst>
              <a:ext uri="{FF2B5EF4-FFF2-40B4-BE49-F238E27FC236}">
                <a16:creationId xmlns:a16="http://schemas.microsoft.com/office/drawing/2014/main" id="{07AB0F80-B3EF-1825-D508-A99F737400EB}"/>
              </a:ext>
            </a:extLst>
          </p:cNvPr>
          <p:cNvPicPr>
            <a:picLocks noChangeAspect="1"/>
          </p:cNvPicPr>
          <p:nvPr/>
        </p:nvPicPr>
        <p:blipFill>
          <a:blip r:embed="rId3"/>
          <a:srcRect l="15200" r="13601" b="5332"/>
          <a:stretch/>
        </p:blipFill>
        <p:spPr>
          <a:xfrm>
            <a:off x="7191972" y="3469640"/>
            <a:ext cx="5012802" cy="3332480"/>
          </a:xfrm>
          <a:prstGeom prst="rect">
            <a:avLst/>
          </a:prstGeom>
        </p:spPr>
      </p:pic>
    </p:spTree>
    <p:extLst>
      <p:ext uri="{BB962C8B-B14F-4D97-AF65-F5344CB8AC3E}">
        <p14:creationId xmlns:p14="http://schemas.microsoft.com/office/powerpoint/2010/main" val="3451167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0E2B8-A68C-DF48-90E9-361415045A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B515D1-814C-B574-20A2-2A60B8F5EE66}"/>
              </a:ext>
            </a:extLst>
          </p:cNvPr>
          <p:cNvSpPr>
            <a:spLocks noGrp="1"/>
          </p:cNvSpPr>
          <p:nvPr>
            <p:ph idx="1"/>
          </p:nvPr>
        </p:nvSpPr>
        <p:spPr>
          <a:xfrm>
            <a:off x="132080" y="152400"/>
            <a:ext cx="11927840" cy="6532880"/>
          </a:xfrm>
        </p:spPr>
        <p:txBody>
          <a:bodyPr>
            <a:normAutofit/>
          </a:bodyPr>
          <a:lstStyle/>
          <a:p>
            <a:pPr marL="0" indent="0">
              <a:buNone/>
            </a:pPr>
            <a:r>
              <a:rPr lang="en-US" sz="2000" b="1" i="0" dirty="0">
                <a:solidFill>
                  <a:srgbClr val="273239"/>
                </a:solidFill>
                <a:effectLst/>
                <a:latin typeface="Times New Roman" panose="02020603050405020304" pitchFamily="18" charset="0"/>
                <a:cs typeface="Times New Roman" panose="02020603050405020304" pitchFamily="18" charset="0"/>
              </a:rPr>
              <a:t>Histogram</a:t>
            </a:r>
          </a:p>
          <a:p>
            <a:r>
              <a:rPr lang="en-GB" sz="2000" b="0" i="0" dirty="0">
                <a:solidFill>
                  <a:srgbClr val="273239"/>
                </a:solidFill>
                <a:effectLst/>
                <a:latin typeface="Times New Roman" panose="02020603050405020304" pitchFamily="18" charset="0"/>
                <a:cs typeface="Times New Roman" panose="02020603050405020304" pitchFamily="18" charset="0"/>
              </a:rPr>
              <a:t>A histogram is a type of bar graph that represents the frequency of numerical data within specific intervals.</a:t>
            </a:r>
          </a:p>
          <a:p>
            <a:r>
              <a:rPr lang="en-GB" sz="2000" b="0" i="0" dirty="0">
                <a:solidFill>
                  <a:srgbClr val="273239"/>
                </a:solidFill>
                <a:effectLst/>
                <a:latin typeface="Times New Roman" panose="02020603050405020304" pitchFamily="18" charset="0"/>
                <a:cs typeface="Times New Roman" panose="02020603050405020304" pitchFamily="18" charset="0"/>
              </a:rPr>
              <a:t>Unlike a standard bar graph, the bars in a histogram are adjacent, representing continuous data distribution.   </a:t>
            </a:r>
          </a:p>
        </p:txBody>
      </p:sp>
      <p:graphicFrame>
        <p:nvGraphicFramePr>
          <p:cNvPr id="2" name="Table 1">
            <a:extLst>
              <a:ext uri="{FF2B5EF4-FFF2-40B4-BE49-F238E27FC236}">
                <a16:creationId xmlns:a16="http://schemas.microsoft.com/office/drawing/2014/main" id="{6E8E93EE-82CD-D49C-DEDC-54698905CE5F}"/>
              </a:ext>
            </a:extLst>
          </p:cNvPr>
          <p:cNvGraphicFramePr>
            <a:graphicFrameLocks noGrp="1"/>
          </p:cNvGraphicFramePr>
          <p:nvPr>
            <p:extLst>
              <p:ext uri="{D42A27DB-BD31-4B8C-83A1-F6EECF244321}">
                <p14:modId xmlns:p14="http://schemas.microsoft.com/office/powerpoint/2010/main" val="919016247"/>
              </p:ext>
            </p:extLst>
          </p:nvPr>
        </p:nvGraphicFramePr>
        <p:xfrm>
          <a:off x="223522" y="1606074"/>
          <a:ext cx="11836398" cy="1158240"/>
        </p:xfrm>
        <a:graphic>
          <a:graphicData uri="http://schemas.openxmlformats.org/drawingml/2006/table">
            <a:tbl>
              <a:tblPr/>
              <a:tblGrid>
                <a:gridCol w="1690914">
                  <a:extLst>
                    <a:ext uri="{9D8B030D-6E8A-4147-A177-3AD203B41FA5}">
                      <a16:colId xmlns:a16="http://schemas.microsoft.com/office/drawing/2014/main" val="643546533"/>
                    </a:ext>
                  </a:extLst>
                </a:gridCol>
                <a:gridCol w="1690914">
                  <a:extLst>
                    <a:ext uri="{9D8B030D-6E8A-4147-A177-3AD203B41FA5}">
                      <a16:colId xmlns:a16="http://schemas.microsoft.com/office/drawing/2014/main" val="2000742275"/>
                    </a:ext>
                  </a:extLst>
                </a:gridCol>
                <a:gridCol w="1690914">
                  <a:extLst>
                    <a:ext uri="{9D8B030D-6E8A-4147-A177-3AD203B41FA5}">
                      <a16:colId xmlns:a16="http://schemas.microsoft.com/office/drawing/2014/main" val="3559274218"/>
                    </a:ext>
                  </a:extLst>
                </a:gridCol>
                <a:gridCol w="1690914">
                  <a:extLst>
                    <a:ext uri="{9D8B030D-6E8A-4147-A177-3AD203B41FA5}">
                      <a16:colId xmlns:a16="http://schemas.microsoft.com/office/drawing/2014/main" val="2493173692"/>
                    </a:ext>
                  </a:extLst>
                </a:gridCol>
                <a:gridCol w="1690914">
                  <a:extLst>
                    <a:ext uri="{9D8B030D-6E8A-4147-A177-3AD203B41FA5}">
                      <a16:colId xmlns:a16="http://schemas.microsoft.com/office/drawing/2014/main" val="412058297"/>
                    </a:ext>
                  </a:extLst>
                </a:gridCol>
                <a:gridCol w="1690914">
                  <a:extLst>
                    <a:ext uri="{9D8B030D-6E8A-4147-A177-3AD203B41FA5}">
                      <a16:colId xmlns:a16="http://schemas.microsoft.com/office/drawing/2014/main" val="2792021623"/>
                    </a:ext>
                  </a:extLst>
                </a:gridCol>
                <a:gridCol w="1690914">
                  <a:extLst>
                    <a:ext uri="{9D8B030D-6E8A-4147-A177-3AD203B41FA5}">
                      <a16:colId xmlns:a16="http://schemas.microsoft.com/office/drawing/2014/main" val="1341698117"/>
                    </a:ext>
                  </a:extLst>
                </a:gridCol>
              </a:tblGrid>
              <a:tr h="348602">
                <a:tc>
                  <a:txBody>
                    <a:bodyPr/>
                    <a:lstStyle/>
                    <a:p>
                      <a:pPr algn="ctr" fontAlgn="ctr"/>
                      <a:r>
                        <a:rPr lang="en-US" sz="1600" b="1" dirty="0">
                          <a:effectLst/>
                          <a:latin typeface="Times New Roman" panose="02020603050405020304" pitchFamily="18" charset="0"/>
                          <a:cs typeface="Times New Roman" panose="02020603050405020304" pitchFamily="18" charset="0"/>
                        </a:rPr>
                        <a:t>Marks obtained</a:t>
                      </a:r>
                      <a:endParaRPr lang="en-US" sz="1600" b="0" dirty="0">
                        <a:effectLst/>
                        <a:latin typeface="Times New Roman" panose="02020603050405020304" pitchFamily="18" charset="0"/>
                        <a:cs typeface="Times New Roman" panose="02020603050405020304" pitchFamily="18"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anose="02020603050405020304" pitchFamily="18" charset="0"/>
                          <a:cs typeface="Times New Roman" panose="02020603050405020304" pitchFamily="18" charset="0"/>
                        </a:rPr>
                        <a:t>40-50</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anose="02020603050405020304" pitchFamily="18" charset="0"/>
                          <a:cs typeface="Times New Roman" panose="02020603050405020304" pitchFamily="18" charset="0"/>
                        </a:rPr>
                        <a:t>50-60</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anose="02020603050405020304" pitchFamily="18" charset="0"/>
                          <a:cs typeface="Times New Roman" panose="02020603050405020304" pitchFamily="18" charset="0"/>
                        </a:rPr>
                        <a:t>60-70</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anose="02020603050405020304" pitchFamily="18" charset="0"/>
                          <a:cs typeface="Times New Roman" panose="02020603050405020304" pitchFamily="18" charset="0"/>
                        </a:rPr>
                        <a:t>70-80</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anose="02020603050405020304" pitchFamily="18" charset="0"/>
                          <a:cs typeface="Times New Roman" panose="02020603050405020304" pitchFamily="18" charset="0"/>
                        </a:rPr>
                        <a:t>80-90</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anose="02020603050405020304" pitchFamily="18" charset="0"/>
                          <a:cs typeface="Times New Roman" panose="02020603050405020304" pitchFamily="18" charset="0"/>
                        </a:rPr>
                        <a:t>90-100</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11719115"/>
                  </a:ext>
                </a:extLst>
              </a:tr>
              <a:tr h="534524">
                <a:tc>
                  <a:txBody>
                    <a:bodyPr/>
                    <a:lstStyle/>
                    <a:p>
                      <a:pPr algn="ctr" fontAlgn="ctr"/>
                      <a:r>
                        <a:rPr lang="en-US" sz="1600" b="1">
                          <a:effectLst/>
                          <a:latin typeface="Times New Roman" panose="02020603050405020304" pitchFamily="18" charset="0"/>
                          <a:cs typeface="Times New Roman" panose="02020603050405020304" pitchFamily="18" charset="0"/>
                        </a:rPr>
                        <a:t>Number of Students</a:t>
                      </a:r>
                      <a:endParaRPr lang="en-US" sz="1600" b="0">
                        <a:effectLst/>
                        <a:latin typeface="Times New Roman" panose="02020603050405020304" pitchFamily="18" charset="0"/>
                        <a:cs typeface="Times New Roman" panose="02020603050405020304" pitchFamily="18"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anose="02020603050405020304" pitchFamily="18" charset="0"/>
                          <a:cs typeface="Times New Roman" panose="02020603050405020304" pitchFamily="18" charset="0"/>
                        </a:rPr>
                        <a:t>7</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anose="02020603050405020304" pitchFamily="18" charset="0"/>
                          <a:cs typeface="Times New Roman" panose="02020603050405020304" pitchFamily="18" charset="0"/>
                        </a:rPr>
                        <a:t>3</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latin typeface="Times New Roman" panose="02020603050405020304" pitchFamily="18" charset="0"/>
                          <a:cs typeface="Times New Roman" panose="02020603050405020304" pitchFamily="18" charset="0"/>
                        </a:rPr>
                        <a:t>4</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anose="02020603050405020304" pitchFamily="18" charset="0"/>
                          <a:cs typeface="Times New Roman" panose="02020603050405020304" pitchFamily="18" charset="0"/>
                        </a:rPr>
                        <a:t>6</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latin typeface="Times New Roman" panose="02020603050405020304" pitchFamily="18" charset="0"/>
                          <a:cs typeface="Times New Roman" panose="02020603050405020304" pitchFamily="18" charset="0"/>
                        </a:rPr>
                        <a:t>5</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latin typeface="Times New Roman" panose="02020603050405020304" pitchFamily="18" charset="0"/>
                          <a:cs typeface="Times New Roman" panose="02020603050405020304" pitchFamily="18" charset="0"/>
                        </a:rPr>
                        <a:t>10</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174371271"/>
                  </a:ext>
                </a:extLst>
              </a:tr>
            </a:tbl>
          </a:graphicData>
        </a:graphic>
      </p:graphicFrame>
      <p:pic>
        <p:nvPicPr>
          <p:cNvPr id="7" name="Picture 6">
            <a:extLst>
              <a:ext uri="{FF2B5EF4-FFF2-40B4-BE49-F238E27FC236}">
                <a16:creationId xmlns:a16="http://schemas.microsoft.com/office/drawing/2014/main" id="{EE93811F-2325-016E-E59C-1B89590B00FB}"/>
              </a:ext>
            </a:extLst>
          </p:cNvPr>
          <p:cNvPicPr>
            <a:picLocks noChangeAspect="1"/>
          </p:cNvPicPr>
          <p:nvPr/>
        </p:nvPicPr>
        <p:blipFill>
          <a:blip r:embed="rId2"/>
          <a:srcRect l="8267" r="6534" b="1600"/>
          <a:stretch/>
        </p:blipFill>
        <p:spPr>
          <a:xfrm>
            <a:off x="1056640" y="3027680"/>
            <a:ext cx="6492240" cy="3749040"/>
          </a:xfrm>
          <a:prstGeom prst="rect">
            <a:avLst/>
          </a:prstGeom>
        </p:spPr>
      </p:pic>
    </p:spTree>
    <p:extLst>
      <p:ext uri="{BB962C8B-B14F-4D97-AF65-F5344CB8AC3E}">
        <p14:creationId xmlns:p14="http://schemas.microsoft.com/office/powerpoint/2010/main" val="38613407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B90C5-8227-F563-2315-D58B206FADA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91E803-0296-CB4E-89BE-C7151B6780CE}"/>
              </a:ext>
            </a:extLst>
          </p:cNvPr>
          <p:cNvSpPr>
            <a:spLocks noGrp="1"/>
          </p:cNvSpPr>
          <p:nvPr>
            <p:ph idx="1"/>
          </p:nvPr>
        </p:nvSpPr>
        <p:spPr>
          <a:xfrm>
            <a:off x="132080" y="152400"/>
            <a:ext cx="11927840" cy="6532880"/>
          </a:xfrm>
        </p:spPr>
        <p:txBody>
          <a:bodyPr>
            <a:normAutofit/>
          </a:bodyPr>
          <a:lstStyle/>
          <a:p>
            <a:pPr marL="0" indent="0">
              <a:buNone/>
            </a:pPr>
            <a:r>
              <a:rPr lang="en-US" sz="2000" b="1" i="0" dirty="0">
                <a:solidFill>
                  <a:srgbClr val="273239"/>
                </a:solidFill>
                <a:effectLst/>
                <a:latin typeface="Times New Roman" panose="02020603050405020304" pitchFamily="18" charset="0"/>
                <a:cs typeface="Times New Roman" panose="02020603050405020304" pitchFamily="18" charset="0"/>
              </a:rPr>
              <a:t>Exponential Graphs</a:t>
            </a:r>
          </a:p>
          <a:p>
            <a:r>
              <a:rPr lang="en-GB" sz="2000" b="1" i="0" dirty="0">
                <a:solidFill>
                  <a:srgbClr val="273239"/>
                </a:solidFill>
                <a:effectLst/>
                <a:latin typeface="Times New Roman" panose="02020603050405020304" pitchFamily="18" charset="0"/>
                <a:cs typeface="Times New Roman" panose="02020603050405020304" pitchFamily="18" charset="0"/>
              </a:rPr>
              <a:t>Exponential graphs are used to represent exponential functions.</a:t>
            </a:r>
          </a:p>
          <a:p>
            <a:pPr algn="l" rtl="0" fontAlgn="base">
              <a:spcBef>
                <a:spcPts val="0"/>
              </a:spcBef>
              <a:spcAft>
                <a:spcPts val="600"/>
              </a:spcAft>
            </a:pPr>
            <a:r>
              <a:rPr lang="en-GB" sz="2000" b="0" i="0" dirty="0">
                <a:solidFill>
                  <a:srgbClr val="273239"/>
                </a:solidFill>
                <a:effectLst/>
                <a:latin typeface="Times New Roman" panose="02020603050405020304" pitchFamily="18" charset="0"/>
                <a:cs typeface="Times New Roman" panose="02020603050405020304" pitchFamily="18" charset="0"/>
              </a:rPr>
              <a:t>Exponential functions are of the form  f(x) = </a:t>
            </a:r>
            <a:r>
              <a:rPr lang="en-GB" sz="2000" b="0" i="0" dirty="0" err="1">
                <a:solidFill>
                  <a:srgbClr val="273239"/>
                </a:solidFill>
                <a:effectLst/>
                <a:latin typeface="Times New Roman" panose="02020603050405020304" pitchFamily="18" charset="0"/>
                <a:cs typeface="Times New Roman" panose="02020603050405020304" pitchFamily="18" charset="0"/>
              </a:rPr>
              <a:t>ka</a:t>
            </a:r>
            <a:r>
              <a:rPr lang="en-GB" sz="2000" b="0" i="0" baseline="30000" dirty="0" err="1">
                <a:solidFill>
                  <a:srgbClr val="273239"/>
                </a:solidFill>
                <a:effectLst/>
                <a:latin typeface="Times New Roman" panose="02020603050405020304" pitchFamily="18" charset="0"/>
                <a:cs typeface="Times New Roman" panose="02020603050405020304" pitchFamily="18" charset="0"/>
              </a:rPr>
              <a:t>x</a:t>
            </a:r>
            <a:endParaRPr lang="en-GB" sz="2000" baseline="30000" dirty="0">
              <a:solidFill>
                <a:srgbClr val="273239"/>
              </a:solidFill>
              <a:latin typeface="Times New Roman" panose="02020603050405020304" pitchFamily="18" charset="0"/>
              <a:cs typeface="Times New Roman" panose="02020603050405020304" pitchFamily="18" charset="0"/>
            </a:endParaRPr>
          </a:p>
          <a:p>
            <a:pPr marL="0" indent="0" algn="l" rtl="0" fontAlgn="base">
              <a:spcBef>
                <a:spcPts val="0"/>
              </a:spcBef>
              <a:spcAft>
                <a:spcPts val="600"/>
              </a:spcAft>
              <a:buNone/>
            </a:pPr>
            <a:r>
              <a:rPr lang="en-GB" sz="2000" b="1" i="0" dirty="0">
                <a:solidFill>
                  <a:srgbClr val="273239"/>
                </a:solidFill>
                <a:effectLst/>
                <a:latin typeface="Times New Roman" panose="02020603050405020304" pitchFamily="18" charset="0"/>
                <a:cs typeface="Times New Roman" panose="02020603050405020304" pitchFamily="18" charset="0"/>
              </a:rPr>
              <a:t>where</a:t>
            </a:r>
            <a:r>
              <a:rPr lang="en-GB" sz="2000" b="0" i="0" dirty="0">
                <a:solidFill>
                  <a:srgbClr val="273239"/>
                </a:solidFill>
                <a:effectLst/>
                <a:latin typeface="Times New Roman" panose="02020603050405020304" pitchFamily="18" charset="0"/>
                <a:cs typeface="Times New Roman" panose="02020603050405020304" pitchFamily="18" charset="0"/>
              </a:rPr>
              <a:t>,</a:t>
            </a:r>
          </a:p>
          <a:p>
            <a:pPr lvl="1" fontAlgn="base">
              <a:spcBef>
                <a:spcPts val="0"/>
              </a:spcBef>
            </a:pPr>
            <a:r>
              <a:rPr lang="en-GB" sz="2000" b="1" i="0" dirty="0">
                <a:solidFill>
                  <a:srgbClr val="273239"/>
                </a:solidFill>
                <a:effectLst/>
                <a:latin typeface="Times New Roman" panose="02020603050405020304" pitchFamily="18" charset="0"/>
                <a:cs typeface="Times New Roman" panose="02020603050405020304" pitchFamily="18" charset="0"/>
              </a:rPr>
              <a:t>x</a:t>
            </a:r>
            <a:r>
              <a:rPr lang="en-GB" sz="2000" b="0" i="0" dirty="0">
                <a:solidFill>
                  <a:srgbClr val="273239"/>
                </a:solidFill>
                <a:effectLst/>
                <a:latin typeface="Times New Roman" panose="02020603050405020304" pitchFamily="18" charset="0"/>
                <a:cs typeface="Times New Roman" panose="02020603050405020304" pitchFamily="18" charset="0"/>
              </a:rPr>
              <a:t> is Independent Variable</a:t>
            </a:r>
          </a:p>
          <a:p>
            <a:pPr lvl="1" fontAlgn="base">
              <a:spcBef>
                <a:spcPts val="0"/>
              </a:spcBef>
            </a:pPr>
            <a:r>
              <a:rPr lang="en-GB" sz="2000" b="1" i="0" dirty="0">
                <a:solidFill>
                  <a:srgbClr val="273239"/>
                </a:solidFill>
                <a:effectLst/>
                <a:latin typeface="Times New Roman" panose="02020603050405020304" pitchFamily="18" charset="0"/>
                <a:cs typeface="Times New Roman" panose="02020603050405020304" pitchFamily="18" charset="0"/>
              </a:rPr>
              <a:t>k</a:t>
            </a:r>
            <a:r>
              <a:rPr lang="en-GB" sz="2000" b="0" i="0" dirty="0">
                <a:solidFill>
                  <a:srgbClr val="273239"/>
                </a:solidFill>
                <a:effectLst/>
                <a:latin typeface="Times New Roman" panose="02020603050405020304" pitchFamily="18" charset="0"/>
                <a:cs typeface="Times New Roman" panose="02020603050405020304" pitchFamily="18" charset="0"/>
              </a:rPr>
              <a:t> is Some Constant</a:t>
            </a:r>
          </a:p>
          <a:p>
            <a:pPr lvl="1" fontAlgn="base">
              <a:spcBef>
                <a:spcPts val="0"/>
              </a:spcBef>
            </a:pPr>
            <a:r>
              <a:rPr lang="en-GB" sz="2000" b="1" i="0" dirty="0">
                <a:solidFill>
                  <a:srgbClr val="273239"/>
                </a:solidFill>
                <a:effectLst/>
                <a:latin typeface="Times New Roman" panose="02020603050405020304" pitchFamily="18" charset="0"/>
                <a:cs typeface="Times New Roman" panose="02020603050405020304" pitchFamily="18" charset="0"/>
              </a:rPr>
              <a:t>a </a:t>
            </a:r>
            <a:r>
              <a:rPr lang="en-GB" sz="2000" b="0" i="0" dirty="0">
                <a:solidFill>
                  <a:srgbClr val="273239"/>
                </a:solidFill>
                <a:effectLst/>
                <a:latin typeface="Times New Roman" panose="02020603050405020304" pitchFamily="18" charset="0"/>
                <a:cs typeface="Times New Roman" panose="02020603050405020304" pitchFamily="18" charset="0"/>
              </a:rPr>
              <a:t>is Base of Exponential Graph</a:t>
            </a:r>
          </a:p>
          <a:p>
            <a:pPr fontAlgn="base">
              <a:spcAft>
                <a:spcPts val="750"/>
              </a:spcAft>
            </a:pPr>
            <a:r>
              <a:rPr lang="en-GB" sz="2000" b="0" i="0" dirty="0">
                <a:solidFill>
                  <a:srgbClr val="273239"/>
                </a:solidFill>
                <a:effectLst/>
                <a:latin typeface="Times New Roman" panose="02020603050405020304" pitchFamily="18" charset="0"/>
                <a:cs typeface="Times New Roman" panose="02020603050405020304" pitchFamily="18" charset="0"/>
              </a:rPr>
              <a:t>These graphs can be either increasing or decreasing, depending on the nature of the function. </a:t>
            </a:r>
          </a:p>
          <a:p>
            <a:pPr fontAlgn="base">
              <a:spcAft>
                <a:spcPts val="750"/>
              </a:spcAft>
            </a:pPr>
            <a:r>
              <a:rPr lang="en-GB" sz="2000" b="0" i="0" dirty="0">
                <a:solidFill>
                  <a:srgbClr val="273239"/>
                </a:solidFill>
                <a:effectLst/>
                <a:latin typeface="Times New Roman" panose="02020603050405020304" pitchFamily="18" charset="0"/>
                <a:cs typeface="Times New Roman" panose="02020603050405020304" pitchFamily="18" charset="0"/>
              </a:rPr>
              <a:t>For example, the graph of y = 3</a:t>
            </a:r>
            <a:r>
              <a:rPr lang="en-GB" sz="2000" b="0" i="0" baseline="30000" dirty="0">
                <a:solidFill>
                  <a:srgbClr val="273239"/>
                </a:solidFill>
                <a:effectLst/>
                <a:latin typeface="Times New Roman" panose="02020603050405020304" pitchFamily="18" charset="0"/>
                <a:cs typeface="Times New Roman" panose="02020603050405020304" pitchFamily="18" charset="0"/>
              </a:rPr>
              <a:t>x</a:t>
            </a:r>
            <a:r>
              <a:rPr lang="en-GB" sz="2000" b="0" i="0" dirty="0">
                <a:solidFill>
                  <a:srgbClr val="273239"/>
                </a:solidFill>
                <a:effectLst/>
                <a:latin typeface="Times New Roman" panose="02020603050405020304" pitchFamily="18" charset="0"/>
                <a:cs typeface="Times New Roman" panose="02020603050405020304" pitchFamily="18" charset="0"/>
              </a:rPr>
              <a:t> is an increasing exponential graph, while the graph of y = 3</a:t>
            </a:r>
            <a:r>
              <a:rPr lang="en-GB" sz="2000" b="0" i="0" baseline="30000" dirty="0">
                <a:solidFill>
                  <a:srgbClr val="273239"/>
                </a:solidFill>
                <a:effectLst/>
                <a:latin typeface="Times New Roman" panose="02020603050405020304" pitchFamily="18" charset="0"/>
                <a:cs typeface="Times New Roman" panose="02020603050405020304" pitchFamily="18" charset="0"/>
              </a:rPr>
              <a:t>(-x)</a:t>
            </a:r>
            <a:r>
              <a:rPr lang="en-GB" sz="2000" b="0" i="0" dirty="0">
                <a:solidFill>
                  <a:srgbClr val="273239"/>
                </a:solidFill>
                <a:effectLst/>
                <a:latin typeface="Times New Roman" panose="02020603050405020304" pitchFamily="18" charset="0"/>
                <a:cs typeface="Times New Roman" panose="02020603050405020304" pitchFamily="18" charset="0"/>
              </a:rPr>
              <a:t> is a decreasing exponential graph.</a:t>
            </a:r>
          </a:p>
          <a:p>
            <a:pPr marL="0" indent="0">
              <a:buNone/>
            </a:pPr>
            <a:endParaRPr lang="en-GB" sz="2000" b="1" i="0" dirty="0">
              <a:solidFill>
                <a:srgbClr val="273239"/>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CC3C270-1C9A-8D12-38C7-97E99B0B5EFB}"/>
              </a:ext>
            </a:extLst>
          </p:cNvPr>
          <p:cNvPicPr>
            <a:picLocks noChangeAspect="1"/>
          </p:cNvPicPr>
          <p:nvPr/>
        </p:nvPicPr>
        <p:blipFill>
          <a:blip r:embed="rId2"/>
          <a:stretch>
            <a:fillRect/>
          </a:stretch>
        </p:blipFill>
        <p:spPr>
          <a:xfrm>
            <a:off x="2694791" y="3766073"/>
            <a:ext cx="5308899" cy="2654450"/>
          </a:xfrm>
          <a:prstGeom prst="rect">
            <a:avLst/>
          </a:prstGeom>
        </p:spPr>
      </p:pic>
    </p:spTree>
    <p:extLst>
      <p:ext uri="{BB962C8B-B14F-4D97-AF65-F5344CB8AC3E}">
        <p14:creationId xmlns:p14="http://schemas.microsoft.com/office/powerpoint/2010/main" val="32721343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75224-8148-48AA-DDA1-096C162BBD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FF89A8-40EF-F170-9335-F2EAEDF9789A}"/>
              </a:ext>
            </a:extLst>
          </p:cNvPr>
          <p:cNvSpPr>
            <a:spLocks noGrp="1"/>
          </p:cNvSpPr>
          <p:nvPr>
            <p:ph idx="1"/>
          </p:nvPr>
        </p:nvSpPr>
        <p:spPr>
          <a:xfrm>
            <a:off x="132080" y="162560"/>
            <a:ext cx="11927840" cy="6532880"/>
          </a:xfrm>
        </p:spPr>
        <p:txBody>
          <a:bodyPr>
            <a:normAutofit/>
          </a:bodyPr>
          <a:lstStyle/>
          <a:p>
            <a:pPr marL="0" indent="0" algn="just" fontAlgn="base">
              <a:buNone/>
            </a:pPr>
            <a:r>
              <a:rPr lang="en-GB" sz="1800" b="1" i="0" dirty="0">
                <a:solidFill>
                  <a:srgbClr val="273239"/>
                </a:solidFill>
                <a:effectLst/>
                <a:latin typeface="Times New Roman" panose="02020603050405020304" pitchFamily="18" charset="0"/>
                <a:cs typeface="Times New Roman" panose="02020603050405020304" pitchFamily="18" charset="0"/>
              </a:rPr>
              <a:t>Logarithmic Graphs</a:t>
            </a:r>
          </a:p>
          <a:p>
            <a:pPr algn="just" rtl="0" fontAlgn="base">
              <a:spcAft>
                <a:spcPts val="750"/>
              </a:spcAft>
            </a:pPr>
            <a:r>
              <a:rPr lang="en-GB" sz="1800" b="0" i="0" dirty="0">
                <a:solidFill>
                  <a:srgbClr val="273239"/>
                </a:solidFill>
                <a:effectLst/>
                <a:latin typeface="Times New Roman" panose="02020603050405020304" pitchFamily="18" charset="0"/>
                <a:cs typeface="Times New Roman" panose="02020603050405020304" pitchFamily="18" charset="0"/>
              </a:rPr>
              <a:t>Logarithmic graphs are the inverse of exponential graphs. </a:t>
            </a:r>
          </a:p>
          <a:p>
            <a:pPr algn="just" rtl="0" fontAlgn="base">
              <a:spcAft>
                <a:spcPts val="750"/>
              </a:spcAft>
            </a:pPr>
            <a:r>
              <a:rPr lang="en-GB" sz="1800" b="0" i="0" dirty="0">
                <a:solidFill>
                  <a:srgbClr val="273239"/>
                </a:solidFill>
                <a:effectLst/>
                <a:latin typeface="Times New Roman" panose="02020603050405020304" pitchFamily="18" charset="0"/>
                <a:cs typeface="Times New Roman" panose="02020603050405020304" pitchFamily="18" charset="0"/>
              </a:rPr>
              <a:t>They are plotted similarly using a table of values and reflect a slow increase as the input variable grows. </a:t>
            </a:r>
          </a:p>
          <a:p>
            <a:pPr algn="just" rtl="0" fontAlgn="base">
              <a:spcAft>
                <a:spcPts val="750"/>
              </a:spcAft>
            </a:pPr>
            <a:r>
              <a:rPr lang="en-GB" sz="1800" b="0" i="0" dirty="0">
                <a:solidFill>
                  <a:srgbClr val="273239"/>
                </a:solidFill>
                <a:effectLst/>
                <a:latin typeface="Times New Roman" panose="02020603050405020304" pitchFamily="18" charset="0"/>
                <a:cs typeface="Times New Roman" panose="02020603050405020304" pitchFamily="18" charset="0"/>
              </a:rPr>
              <a:t>For example, the inverse of </a:t>
            </a:r>
            <a:r>
              <a:rPr lang="en-GB" sz="1800" b="1" i="0" dirty="0">
                <a:solidFill>
                  <a:srgbClr val="273239"/>
                </a:solidFill>
                <a:effectLst/>
                <a:latin typeface="Times New Roman" panose="02020603050405020304" pitchFamily="18" charset="0"/>
                <a:cs typeface="Times New Roman" panose="02020603050405020304" pitchFamily="18" charset="0"/>
              </a:rPr>
              <a:t>y = 3</a:t>
            </a:r>
            <a:r>
              <a:rPr lang="en-GB" sz="1800" b="1" i="0" baseline="30000" dirty="0">
                <a:solidFill>
                  <a:srgbClr val="273239"/>
                </a:solidFill>
                <a:effectLst/>
                <a:latin typeface="Times New Roman" panose="02020603050405020304" pitchFamily="18" charset="0"/>
                <a:cs typeface="Times New Roman" panose="02020603050405020304" pitchFamily="18" charset="0"/>
              </a:rPr>
              <a:t>x</a:t>
            </a:r>
            <a:r>
              <a:rPr lang="en-GB" sz="1800" b="0" i="0" dirty="0">
                <a:solidFill>
                  <a:srgbClr val="273239"/>
                </a:solidFill>
                <a:effectLst/>
                <a:latin typeface="Times New Roman" panose="02020603050405020304" pitchFamily="18" charset="0"/>
                <a:cs typeface="Times New Roman" panose="02020603050405020304" pitchFamily="18" charset="0"/>
              </a:rPr>
              <a:t> is </a:t>
            </a:r>
            <a:r>
              <a:rPr lang="en-GB" sz="1800" b="1" i="0" dirty="0">
                <a:solidFill>
                  <a:srgbClr val="273239"/>
                </a:solidFill>
                <a:effectLst/>
                <a:latin typeface="Times New Roman" panose="02020603050405020304" pitchFamily="18" charset="0"/>
                <a:cs typeface="Times New Roman" panose="02020603050405020304" pitchFamily="18" charset="0"/>
              </a:rPr>
              <a:t>y = log</a:t>
            </a:r>
            <a:r>
              <a:rPr lang="en-GB" sz="1800" b="1" i="0" baseline="-25000" dirty="0">
                <a:solidFill>
                  <a:srgbClr val="273239"/>
                </a:solidFill>
                <a:effectLst/>
                <a:latin typeface="Times New Roman" panose="02020603050405020304" pitchFamily="18" charset="0"/>
                <a:cs typeface="Times New Roman" panose="02020603050405020304" pitchFamily="18" charset="0"/>
              </a:rPr>
              <a:t>3</a:t>
            </a:r>
            <a:r>
              <a:rPr lang="en-GB" sz="1800" b="1" i="0" dirty="0">
                <a:solidFill>
                  <a:srgbClr val="273239"/>
                </a:solidFill>
                <a:effectLst/>
                <a:latin typeface="Times New Roman" panose="02020603050405020304" pitchFamily="18" charset="0"/>
                <a:cs typeface="Times New Roman" panose="02020603050405020304" pitchFamily="18" charset="0"/>
              </a:rPr>
              <a:t>(x)</a:t>
            </a:r>
            <a:r>
              <a:rPr lang="en-GB" sz="1800" b="0" i="0" dirty="0">
                <a:solidFill>
                  <a:srgbClr val="273239"/>
                </a:solidFill>
                <a:effectLst/>
                <a:latin typeface="Times New Roman" panose="02020603050405020304" pitchFamily="18" charset="0"/>
                <a:cs typeface="Times New Roman" panose="02020603050405020304" pitchFamily="18" charset="0"/>
              </a:rPr>
              <a:t>, which represents a logarithmic graph.</a:t>
            </a:r>
          </a:p>
        </p:txBody>
      </p:sp>
      <p:pic>
        <p:nvPicPr>
          <p:cNvPr id="4" name="Picture 3">
            <a:extLst>
              <a:ext uri="{FF2B5EF4-FFF2-40B4-BE49-F238E27FC236}">
                <a16:creationId xmlns:a16="http://schemas.microsoft.com/office/drawing/2014/main" id="{EEC6AAF4-616B-AE04-66C9-B4BA800E2A2B}"/>
              </a:ext>
            </a:extLst>
          </p:cNvPr>
          <p:cNvPicPr>
            <a:picLocks noChangeAspect="1"/>
          </p:cNvPicPr>
          <p:nvPr/>
        </p:nvPicPr>
        <p:blipFill>
          <a:blip r:embed="rId2"/>
          <a:stretch>
            <a:fillRect/>
          </a:stretch>
        </p:blipFill>
        <p:spPr>
          <a:xfrm>
            <a:off x="2529840" y="3398520"/>
            <a:ext cx="6543040" cy="3271520"/>
          </a:xfrm>
          <a:prstGeom prst="rect">
            <a:avLst/>
          </a:prstGeom>
        </p:spPr>
      </p:pic>
    </p:spTree>
    <p:extLst>
      <p:ext uri="{BB962C8B-B14F-4D97-AF65-F5344CB8AC3E}">
        <p14:creationId xmlns:p14="http://schemas.microsoft.com/office/powerpoint/2010/main" val="5643852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A247E-2421-23DA-88DC-92396F27BA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0DD1E-9A12-8C3B-F5A6-009FB31BD86E}"/>
              </a:ext>
            </a:extLst>
          </p:cNvPr>
          <p:cNvSpPr>
            <a:spLocks noGrp="1"/>
          </p:cNvSpPr>
          <p:nvPr>
            <p:ph idx="1"/>
          </p:nvPr>
        </p:nvSpPr>
        <p:spPr>
          <a:xfrm>
            <a:off x="132080" y="152400"/>
            <a:ext cx="11927840" cy="6532880"/>
          </a:xfrm>
        </p:spPr>
        <p:txBody>
          <a:bodyPr>
            <a:normAutofit/>
          </a:bodyPr>
          <a:lstStyle/>
          <a:p>
            <a:pPr marL="0" indent="0">
              <a:buNone/>
            </a:pPr>
            <a:r>
              <a:rPr lang="en-GB" sz="2400" b="1" dirty="0">
                <a:latin typeface="Times New Roman" panose="02020603050405020304" pitchFamily="18" charset="0"/>
                <a:cs typeface="Times New Roman" panose="02020603050405020304" pitchFamily="18" charset="0"/>
              </a:rPr>
              <a:t>Trigonometric Graphs</a:t>
            </a:r>
          </a:p>
          <a:p>
            <a:pPr algn="just"/>
            <a:r>
              <a:rPr lang="en-GB" sz="2000" dirty="0">
                <a:latin typeface="Times New Roman" panose="02020603050405020304" pitchFamily="18" charset="0"/>
                <a:cs typeface="Times New Roman" panose="02020603050405020304" pitchFamily="18" charset="0"/>
              </a:rPr>
              <a:t>Trigonometric graphs represent the functions of sine, cosine, tangent, cotangent, secant, and cosecant. </a:t>
            </a:r>
          </a:p>
          <a:p>
            <a:pPr algn="just"/>
            <a:r>
              <a:rPr lang="en-GB" sz="2000" dirty="0">
                <a:latin typeface="Times New Roman" panose="02020603050405020304" pitchFamily="18" charset="0"/>
                <a:cs typeface="Times New Roman" panose="02020603050405020304" pitchFamily="18" charset="0"/>
              </a:rPr>
              <a:t>These graphs are periodic, meaning they repeat their values at regular intervals, making them essential for understanding cyclic patterns. </a:t>
            </a:r>
          </a:p>
          <a:p>
            <a:pPr algn="just"/>
            <a:r>
              <a:rPr lang="en-GB" sz="2000" dirty="0">
                <a:latin typeface="Times New Roman" panose="02020603050405020304" pitchFamily="18" charset="0"/>
                <a:cs typeface="Times New Roman" panose="02020603050405020304" pitchFamily="18" charset="0"/>
              </a:rPr>
              <a:t>The shape and </a:t>
            </a:r>
            <a:r>
              <a:rPr lang="en-GB" sz="2000" dirty="0" err="1">
                <a:latin typeface="Times New Roman" panose="02020603050405020304" pitchFamily="18" charset="0"/>
                <a:cs typeface="Times New Roman" panose="02020603050405020304" pitchFamily="18" charset="0"/>
              </a:rPr>
              <a:t>behavior</a:t>
            </a:r>
            <a:r>
              <a:rPr lang="en-GB" sz="2000" dirty="0">
                <a:latin typeface="Times New Roman" panose="02020603050405020304" pitchFamily="18" charset="0"/>
                <a:cs typeface="Times New Roman" panose="02020603050405020304" pitchFamily="18" charset="0"/>
              </a:rPr>
              <a:t> of each graph depend on the amplitude, frequency, and phase shift of the trigonometric function.</a:t>
            </a:r>
          </a:p>
          <a:p>
            <a:pPr marL="0" indent="0">
              <a:buNone/>
            </a:pPr>
            <a:r>
              <a:rPr lang="en-GB" sz="2400" b="1" dirty="0">
                <a:latin typeface="Times New Roman" panose="02020603050405020304" pitchFamily="18" charset="0"/>
                <a:cs typeface="Times New Roman" panose="02020603050405020304" pitchFamily="18" charset="0"/>
              </a:rPr>
              <a:t>This is the trigonometric graph of sine:</a:t>
            </a:r>
          </a:p>
          <a:p>
            <a:pPr marL="0" indent="0">
              <a:buNone/>
            </a:pPr>
            <a:endParaRPr lang="en-GB" sz="2400" b="1" dirty="0">
              <a:latin typeface="Times New Roman" panose="02020603050405020304" pitchFamily="18" charset="0"/>
              <a:cs typeface="Times New Roman" panose="02020603050405020304" pitchFamily="18" charset="0"/>
            </a:endParaRPr>
          </a:p>
          <a:p>
            <a:pPr marL="0" indent="0">
              <a:buNone/>
            </a:pPr>
            <a:endParaRPr lang="en-GB" sz="2400" b="1" dirty="0">
              <a:latin typeface="Times New Roman" panose="02020603050405020304" pitchFamily="18" charset="0"/>
              <a:cs typeface="Times New Roman" panose="02020603050405020304" pitchFamily="18" charset="0"/>
            </a:endParaRPr>
          </a:p>
          <a:p>
            <a:pPr marL="0" indent="0">
              <a:buNone/>
            </a:pPr>
            <a:endParaRPr lang="en-GB" sz="2400" b="1" dirty="0">
              <a:latin typeface="Times New Roman" panose="02020603050405020304" pitchFamily="18" charset="0"/>
              <a:cs typeface="Times New Roman" panose="02020603050405020304" pitchFamily="18" charset="0"/>
            </a:endParaRPr>
          </a:p>
          <a:p>
            <a:pPr marL="0" indent="0">
              <a:buNone/>
            </a:pPr>
            <a:endParaRPr lang="en-GB" sz="2400" b="1" dirty="0">
              <a:latin typeface="Times New Roman" panose="02020603050405020304" pitchFamily="18" charset="0"/>
              <a:cs typeface="Times New Roman" panose="02020603050405020304" pitchFamily="18" charset="0"/>
            </a:endParaRPr>
          </a:p>
          <a:p>
            <a:pPr marL="0" indent="0">
              <a:buNone/>
            </a:pPr>
            <a:endParaRPr lang="en-GB" sz="2400" b="1" dirty="0">
              <a:latin typeface="Times New Roman" panose="02020603050405020304" pitchFamily="18" charset="0"/>
              <a:cs typeface="Times New Roman" panose="02020603050405020304" pitchFamily="18" charset="0"/>
            </a:endParaRPr>
          </a:p>
          <a:p>
            <a:pPr marL="0" indent="0">
              <a:buNone/>
            </a:pPr>
            <a:r>
              <a:rPr lang="en-GB" sz="2400" b="1" dirty="0">
                <a:latin typeface="Times New Roman" panose="02020603050405020304" pitchFamily="18" charset="0"/>
                <a:cs typeface="Times New Roman" panose="02020603050405020304" pitchFamily="18" charset="0"/>
              </a:rPr>
              <a:t>This is the trigonometric graph of tangent:</a:t>
            </a:r>
            <a:endParaRPr lang="en-US"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5478CFF-864B-1798-5C4E-CE079A45B965}"/>
              </a:ext>
            </a:extLst>
          </p:cNvPr>
          <p:cNvPicPr>
            <a:picLocks noChangeAspect="1"/>
          </p:cNvPicPr>
          <p:nvPr/>
        </p:nvPicPr>
        <p:blipFill>
          <a:blip r:embed="rId2"/>
          <a:stretch>
            <a:fillRect/>
          </a:stretch>
        </p:blipFill>
        <p:spPr>
          <a:xfrm>
            <a:off x="6228080" y="2143760"/>
            <a:ext cx="4287520" cy="2143760"/>
          </a:xfrm>
          <a:prstGeom prst="rect">
            <a:avLst/>
          </a:prstGeom>
        </p:spPr>
      </p:pic>
      <p:pic>
        <p:nvPicPr>
          <p:cNvPr id="6" name="Picture 5">
            <a:extLst>
              <a:ext uri="{FF2B5EF4-FFF2-40B4-BE49-F238E27FC236}">
                <a16:creationId xmlns:a16="http://schemas.microsoft.com/office/drawing/2014/main" id="{C404FB1F-4AD4-D36E-C4FF-10B6DD4205D2}"/>
              </a:ext>
            </a:extLst>
          </p:cNvPr>
          <p:cNvPicPr>
            <a:picLocks noChangeAspect="1"/>
          </p:cNvPicPr>
          <p:nvPr/>
        </p:nvPicPr>
        <p:blipFill>
          <a:blip r:embed="rId3"/>
          <a:stretch>
            <a:fillRect/>
          </a:stretch>
        </p:blipFill>
        <p:spPr>
          <a:xfrm>
            <a:off x="6228080" y="4414520"/>
            <a:ext cx="4287520" cy="2143760"/>
          </a:xfrm>
          <a:prstGeom prst="rect">
            <a:avLst/>
          </a:prstGeom>
        </p:spPr>
      </p:pic>
    </p:spTree>
    <p:extLst>
      <p:ext uri="{BB962C8B-B14F-4D97-AF65-F5344CB8AC3E}">
        <p14:creationId xmlns:p14="http://schemas.microsoft.com/office/powerpoint/2010/main" val="12580631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433C0-8033-A98E-8F5D-C7FBEB29EB7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2E259D-CD7D-5719-F0EB-77D44F6D3E1E}"/>
              </a:ext>
            </a:extLst>
          </p:cNvPr>
          <p:cNvSpPr>
            <a:spLocks noGrp="1"/>
          </p:cNvSpPr>
          <p:nvPr>
            <p:ph idx="1"/>
          </p:nvPr>
        </p:nvSpPr>
        <p:spPr>
          <a:xfrm>
            <a:off x="132080" y="152400"/>
            <a:ext cx="11927840" cy="6532880"/>
          </a:xfrm>
        </p:spPr>
        <p:txBody>
          <a:bodyPr>
            <a:normAutofit/>
          </a:bodyPr>
          <a:lstStyle/>
          <a:p>
            <a:pPr marL="0" indent="0" algn="just">
              <a:buNone/>
            </a:pPr>
            <a:r>
              <a:rPr lang="en-GB" sz="2400" b="1" dirty="0">
                <a:latin typeface="Times New Roman" panose="02020603050405020304" pitchFamily="18" charset="0"/>
                <a:cs typeface="Times New Roman" panose="02020603050405020304" pitchFamily="18" charset="0"/>
              </a:rPr>
              <a:t>Frequency Distribution Graphs</a:t>
            </a:r>
          </a:p>
          <a:p>
            <a:pPr algn="just"/>
            <a:r>
              <a:rPr lang="en-GB" sz="2000" dirty="0">
                <a:latin typeface="Times New Roman" panose="02020603050405020304" pitchFamily="18" charset="0"/>
                <a:cs typeface="Times New Roman" panose="02020603050405020304" pitchFamily="18" charset="0"/>
              </a:rPr>
              <a:t>A frequency distribution graph shows the number of occurrences of different outcomes in a dataset. </a:t>
            </a:r>
          </a:p>
          <a:p>
            <a:pPr algn="just"/>
            <a:r>
              <a:rPr lang="en-GB" sz="2000" dirty="0">
                <a:latin typeface="Times New Roman" panose="02020603050405020304" pitchFamily="18" charset="0"/>
                <a:cs typeface="Times New Roman" panose="02020603050405020304" pitchFamily="18" charset="0"/>
              </a:rPr>
              <a:t>Typically, frequency distributions are represented using bar graphs or histograms. </a:t>
            </a:r>
          </a:p>
          <a:p>
            <a:pPr algn="just"/>
            <a:r>
              <a:rPr lang="en-GB" sz="2000" dirty="0">
                <a:latin typeface="Times New Roman" panose="02020603050405020304" pitchFamily="18" charset="0"/>
                <a:cs typeface="Times New Roman" panose="02020603050405020304" pitchFamily="18" charset="0"/>
              </a:rPr>
              <a:t>This type of graph is commonly used in statistical analysis to understand data spread and frequency patterns.</a:t>
            </a:r>
          </a:p>
          <a:p>
            <a:pPr algn="just"/>
            <a:r>
              <a:rPr lang="en-GB" sz="2000" dirty="0">
                <a:latin typeface="Times New Roman" panose="02020603050405020304" pitchFamily="18" charset="0"/>
                <a:cs typeface="Times New Roman" panose="02020603050405020304" pitchFamily="18" charset="0"/>
              </a:rPr>
              <a:t>A frequency distribution illustrates how often each value of a variable occurs within a dataset. </a:t>
            </a:r>
          </a:p>
          <a:p>
            <a:pPr algn="just"/>
            <a:r>
              <a:rPr lang="en-GB" sz="2000" dirty="0">
                <a:latin typeface="Times New Roman" panose="02020603050405020304" pitchFamily="18" charset="0"/>
                <a:cs typeface="Times New Roman" panose="02020603050405020304" pitchFamily="18" charset="0"/>
              </a:rPr>
              <a:t>It organizes data into categories or intervals, displaying the number of occurrences for each, making it easier to </a:t>
            </a:r>
            <a:r>
              <a:rPr lang="en-GB" sz="2000" dirty="0" err="1">
                <a:latin typeface="Times New Roman" panose="02020603050405020304" pitchFamily="18" charset="0"/>
                <a:cs typeface="Times New Roman" panose="02020603050405020304" pitchFamily="18" charset="0"/>
              </a:rPr>
              <a:t>analyze</a:t>
            </a:r>
            <a:r>
              <a:rPr lang="en-GB" sz="2000" dirty="0">
                <a:latin typeface="Times New Roman" panose="02020603050405020304" pitchFamily="18" charset="0"/>
                <a:cs typeface="Times New Roman" panose="02020603050405020304" pitchFamily="18" charset="0"/>
              </a:rPr>
              <a:t> patterns and trends.</a:t>
            </a: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6844079-31AE-F7DE-1B14-484C8D33955D}"/>
              </a:ext>
            </a:extLst>
          </p:cNvPr>
          <p:cNvPicPr>
            <a:picLocks noChangeAspect="1"/>
          </p:cNvPicPr>
          <p:nvPr/>
        </p:nvPicPr>
        <p:blipFill>
          <a:blip r:embed="rId2"/>
          <a:stretch>
            <a:fillRect/>
          </a:stretch>
        </p:blipFill>
        <p:spPr>
          <a:xfrm>
            <a:off x="1838960" y="2875280"/>
            <a:ext cx="7620000" cy="3810000"/>
          </a:xfrm>
          <a:prstGeom prst="rect">
            <a:avLst/>
          </a:prstGeom>
        </p:spPr>
      </p:pic>
    </p:spTree>
    <p:extLst>
      <p:ext uri="{BB962C8B-B14F-4D97-AF65-F5344CB8AC3E}">
        <p14:creationId xmlns:p14="http://schemas.microsoft.com/office/powerpoint/2010/main" val="21671005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2C5A0-7FA6-29A5-06DF-72837998C7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4F9C79-A949-D87C-996F-2C2518EF39C4}"/>
              </a:ext>
            </a:extLst>
          </p:cNvPr>
          <p:cNvSpPr>
            <a:spLocks noGrp="1"/>
          </p:cNvSpPr>
          <p:nvPr>
            <p:ph idx="1"/>
          </p:nvPr>
        </p:nvSpPr>
        <p:spPr>
          <a:xfrm>
            <a:off x="132080" y="152400"/>
            <a:ext cx="11927840" cy="6532880"/>
          </a:xfrm>
        </p:spPr>
        <p:txBody>
          <a:bodyPr/>
          <a:lstStyle/>
          <a:p>
            <a:pPr marL="0" indent="0">
              <a:buNone/>
            </a:pPr>
            <a:endParaRPr lang="en-US" dirty="0"/>
          </a:p>
        </p:txBody>
      </p:sp>
    </p:spTree>
    <p:extLst>
      <p:ext uri="{BB962C8B-B14F-4D97-AF65-F5344CB8AC3E}">
        <p14:creationId xmlns:p14="http://schemas.microsoft.com/office/powerpoint/2010/main" val="3634297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1338</TotalTime>
  <Words>8718</Words>
  <Application>Microsoft Office PowerPoint</Application>
  <PresentationFormat>Widescreen</PresentationFormat>
  <Paragraphs>626</Paragraphs>
  <Slides>62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Arial</vt:lpstr>
      <vt:lpstr>Calibri</vt:lpstr>
      <vt:lpstr>Calibri Light</vt:lpstr>
      <vt:lpstr>Times New Roman</vt:lpstr>
      <vt:lpstr>Wingdings</vt:lpstr>
      <vt:lpstr>Office Theme</vt:lpstr>
      <vt:lpstr>UNIT III   INTRODUCTION TO DATA SCIENCE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Najeem Dheen Abdul Majeeth</dc:creator>
  <cp:lastModifiedBy>Najeem Dheen Abdul Majeeth</cp:lastModifiedBy>
  <cp:revision>73</cp:revision>
  <dcterms:created xsi:type="dcterms:W3CDTF">2024-12-18T11:57:17Z</dcterms:created>
  <dcterms:modified xsi:type="dcterms:W3CDTF">2025-02-24T16:09:12Z</dcterms:modified>
</cp:coreProperties>
</file>